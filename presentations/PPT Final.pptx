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6"/>
    <p:sldMasterId id="2147483661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</p:sldIdLst>
  <p:sldSz cy="5143500" cx="9144000"/>
  <p:notesSz cx="6858000" cy="9144000"/>
  <p:embeddedFontLst>
    <p:embeddedFont>
      <p:font typeface="League Spartan"/>
      <p:regular r:id="rId38"/>
      <p:bold r:id="rId39"/>
    </p:embeddedFont>
    <p:embeddedFont>
      <p:font typeface="Montserrat SemiBold"/>
      <p:regular r:id="rId40"/>
      <p:bold r:id="rId41"/>
      <p:italic r:id="rId42"/>
      <p:boldItalic r:id="rId43"/>
    </p:embeddedFont>
    <p:embeddedFont>
      <p:font typeface="Montserrat"/>
      <p:regular r:id="rId44"/>
      <p:bold r:id="rId45"/>
      <p:italic r:id="rId46"/>
      <p:boldItalic r:id="rId47"/>
    </p:embeddedFont>
    <p:embeddedFont>
      <p:font typeface="Lato"/>
      <p:bold r:id="rId48"/>
      <p:boldItalic r:id="rId49"/>
    </p:embeddedFont>
    <p:embeddedFont>
      <p:font typeface="Poppins"/>
      <p:regular r:id="rId50"/>
      <p:bold r:id="rId51"/>
      <p:italic r:id="rId52"/>
      <p:boldItalic r:id="rId53"/>
    </p:embeddedFont>
    <p:embeddedFont>
      <p:font typeface="Montserrat Medium"/>
      <p:regular r:id="rId54"/>
      <p:bold r:id="rId55"/>
      <p:italic r:id="rId56"/>
      <p:boldItalic r:id="rId57"/>
    </p:embeddedFont>
    <p:embeddedFont>
      <p:font typeface="Open Sans"/>
      <p:bold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27">
          <p15:clr>
            <a:srgbClr val="747775"/>
          </p15:clr>
        </p15:guide>
      </p15:sldGuideLst>
    </p:ext>
    <p:ext uri="GoogleSlidesCustomDataVersion2">
      <go:slidesCustomData xmlns:go="http://customooxmlschemas.google.com/" r:id="rId60" roundtripDataSignature="AMtx7mhReDuAEYCs0vTS4kNzf/44aIuUB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Rezki Trianto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CD88BF5-D4C9-4DB2-9CEC-7AD896469333}">
  <a:tblStyle styleId="{ECD88BF5-D4C9-4DB2-9CEC-7AD89646933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22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SemiBold-regular.fntdata"/><Relationship Id="rId42" Type="http://schemas.openxmlformats.org/officeDocument/2006/relationships/font" Target="fonts/MontserratSemiBold-italic.fntdata"/><Relationship Id="rId41" Type="http://schemas.openxmlformats.org/officeDocument/2006/relationships/font" Target="fonts/MontserratSemiBold-bold.fntdata"/><Relationship Id="rId44" Type="http://schemas.openxmlformats.org/officeDocument/2006/relationships/font" Target="fonts/Montserrat-regular.fntdata"/><Relationship Id="rId43" Type="http://schemas.openxmlformats.org/officeDocument/2006/relationships/font" Target="fonts/MontserratSemiBold-boldItalic.fntdata"/><Relationship Id="rId46" Type="http://schemas.openxmlformats.org/officeDocument/2006/relationships/font" Target="fonts/Montserrat-italic.fntdata"/><Relationship Id="rId45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48" Type="http://schemas.openxmlformats.org/officeDocument/2006/relationships/font" Target="fonts/Lato-bold.fntdata"/><Relationship Id="rId47" Type="http://schemas.openxmlformats.org/officeDocument/2006/relationships/font" Target="fonts/Montserrat-boldItalic.fntdata"/><Relationship Id="rId49" Type="http://schemas.openxmlformats.org/officeDocument/2006/relationships/font" Target="fonts/Lato-boldItalic.fntdata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7" Type="http://schemas.openxmlformats.org/officeDocument/2006/relationships/slideMaster" Target="slideMasters/slideMaster2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font" Target="fonts/LeagueSpartan-bold.fntdata"/><Relationship Id="rId38" Type="http://schemas.openxmlformats.org/officeDocument/2006/relationships/font" Target="fonts/LeagueSpartan-regular.fntdata"/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60" Type="http://customschemas.google.com/relationships/presentationmetadata" Target="metadata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font" Target="fonts/Poppins-bold.fntdata"/><Relationship Id="rId50" Type="http://schemas.openxmlformats.org/officeDocument/2006/relationships/font" Target="fonts/Poppins-regular.fntdata"/><Relationship Id="rId53" Type="http://schemas.openxmlformats.org/officeDocument/2006/relationships/font" Target="fonts/Poppins-boldItalic.fntdata"/><Relationship Id="rId52" Type="http://schemas.openxmlformats.org/officeDocument/2006/relationships/font" Target="fonts/Poppins-italic.fntdata"/><Relationship Id="rId11" Type="http://schemas.openxmlformats.org/officeDocument/2006/relationships/slide" Target="slides/slide3.xml"/><Relationship Id="rId55" Type="http://schemas.openxmlformats.org/officeDocument/2006/relationships/font" Target="fonts/MontserratMedium-bold.fntdata"/><Relationship Id="rId10" Type="http://schemas.openxmlformats.org/officeDocument/2006/relationships/slide" Target="slides/slide2.xml"/><Relationship Id="rId54" Type="http://schemas.openxmlformats.org/officeDocument/2006/relationships/font" Target="fonts/MontserratMedium-regular.fntdata"/><Relationship Id="rId13" Type="http://schemas.openxmlformats.org/officeDocument/2006/relationships/slide" Target="slides/slide5.xml"/><Relationship Id="rId57" Type="http://schemas.openxmlformats.org/officeDocument/2006/relationships/font" Target="fonts/MontserratMedium-boldItalic.fntdata"/><Relationship Id="rId12" Type="http://schemas.openxmlformats.org/officeDocument/2006/relationships/slide" Target="slides/slide4.xml"/><Relationship Id="rId56" Type="http://schemas.openxmlformats.org/officeDocument/2006/relationships/font" Target="fonts/MontserratMedium-italic.fntdata"/><Relationship Id="rId15" Type="http://schemas.openxmlformats.org/officeDocument/2006/relationships/slide" Target="slides/slide7.xml"/><Relationship Id="rId59" Type="http://schemas.openxmlformats.org/officeDocument/2006/relationships/font" Target="fonts/OpenSans-boldItalic.fntdata"/><Relationship Id="rId14" Type="http://schemas.openxmlformats.org/officeDocument/2006/relationships/slide" Target="slides/slide6.xml"/><Relationship Id="rId58" Type="http://schemas.openxmlformats.org/officeDocument/2006/relationships/font" Target="fonts/OpenSans-bold.fntdata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3-11-11T01:05:02.285">
    <p:pos x="292" y="54"/>
    <p:text>hindari terlalu banyak angka. gunakan visualisasi jika memungkinkan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ATciwF4"/>
      </p:ext>
    </p:extLst>
  </p:cm>
  <p:cm authorId="0" idx="2" dt="2023-11-11T01:05:02.285">
    <p:pos x="292" y="54"/>
    <p:text>hindari screenshot coding. tidak ada stakeholder yang matters. highlight konten insight yang dipunya</p:text>
    <p:extLst>
      <p:ext uri="{C676402C-5697-4E1C-873F-D02D1690AC5C}">
        <p15:threadingInfo timeZoneBias="0">
          <p15:parentCm authorId="0" idx="1"/>
        </p15:threadingInfo>
      </p:ext>
      <p:ext uri="http://customooxmlschemas.google.com/">
        <go:slidesCustomData xmlns:go="http://customooxmlschemas.google.com/" commentPostId="AAABATciwGE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9c06aa4bf2_18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29c06aa4bf2_18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9c06aa4bf2_18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29c06aa4bf2_18_8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9c06aa4bf2_8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29c06aa4bf2_8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61971a6cc5_1_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261971a6cc5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99e58bb0d9_2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g299e58bb0d9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9" name="Google Shape;239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61852344e8_6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6" name="Google Shape;246;g261852344e8_6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99e58bb0d9_2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2" name="Google Shape;252;g299e58bb0d9_2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5" name="Google Shape;265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99f35306f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g299f35306f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61971a6cc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261971a6cc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8" name="Google Shape;288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6" name="Google Shape;296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99f35306fe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g299f35306fe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99f35306fe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g299f35306fe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6139ef02b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g26139ef02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8" name="Google Shape;338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7" name="Google Shape;347;p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6" name="Google Shape;356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5" name="Google Shape;365;p1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3" name="Google Shape;373;p1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0" name="Google Shape;380;p2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26184856d8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7" name="Google Shape;387;g26184856d88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261971a6cc5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261971a6cc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61971a6cc5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7" name="Google Shape;417;g261971a6cc5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29c06aa4bf2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29c06aa4bf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29c06aa4bf2_9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1" name="Google Shape;451;g29c06aa4bf2_9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/>
          <p:nvPr>
            <p:ph type="ctrTitle"/>
          </p:nvPr>
        </p:nvSpPr>
        <p:spPr>
          <a:xfrm>
            <a:off x="311704" y="744575"/>
            <a:ext cx="4191600" cy="1809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b="1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b="1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b="1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b="1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b="1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b="1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b="1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b="1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b="1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1" name="Google Shape;11;p24"/>
          <p:cNvSpPr txBox="1"/>
          <p:nvPr>
            <p:ph idx="1" type="subTitle"/>
          </p:nvPr>
        </p:nvSpPr>
        <p:spPr>
          <a:xfrm>
            <a:off x="311700" y="2655650"/>
            <a:ext cx="4191600" cy="9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Montserrat"/>
              <a:buNone/>
              <a:defRPr sz="1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Montserrat"/>
              <a:buNone/>
              <a:defRPr sz="1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Montserrat"/>
              <a:buNone/>
              <a:defRPr sz="1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Montserrat"/>
              <a:buNone/>
              <a:defRPr sz="1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Montserrat"/>
              <a:buNone/>
              <a:defRPr sz="1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Montserrat"/>
              <a:buNone/>
              <a:defRPr sz="1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Montserrat"/>
              <a:buNone/>
              <a:defRPr sz="1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Montserrat"/>
              <a:buNone/>
              <a:defRPr sz="1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Montserrat"/>
              <a:buNone/>
              <a:defRPr sz="1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" name="Google Shape;1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5"/>
          <p:cNvSpPr txBox="1"/>
          <p:nvPr>
            <p:ph type="title"/>
          </p:nvPr>
        </p:nvSpPr>
        <p:spPr>
          <a:xfrm>
            <a:off x="439350" y="445025"/>
            <a:ext cx="8393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5" name="Google Shape;1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6" name="Google Shape;1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6"/>
          <p:cNvSpPr txBox="1"/>
          <p:nvPr>
            <p:ph type="title"/>
          </p:nvPr>
        </p:nvSpPr>
        <p:spPr>
          <a:xfrm>
            <a:off x="439350" y="445025"/>
            <a:ext cx="8393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9" name="Google Shape;19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0" name="Google Shape;2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" name="Google Shape;23;p27"/>
          <p:cNvSpPr txBox="1"/>
          <p:nvPr>
            <p:ph idx="1" type="body"/>
          </p:nvPr>
        </p:nvSpPr>
        <p:spPr>
          <a:xfrm>
            <a:off x="311700" y="2017425"/>
            <a:ext cx="3999900" cy="25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7"/>
          <p:cNvSpPr txBox="1"/>
          <p:nvPr>
            <p:ph idx="2" type="body"/>
          </p:nvPr>
        </p:nvSpPr>
        <p:spPr>
          <a:xfrm>
            <a:off x="4832400" y="2162825"/>
            <a:ext cx="3999900" cy="24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" name="Google Shape;29;p2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0"/>
          <p:cNvSpPr txBox="1"/>
          <p:nvPr>
            <p:ph type="title"/>
          </p:nvPr>
        </p:nvSpPr>
        <p:spPr>
          <a:xfrm>
            <a:off x="1388100" y="5263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Montserrat"/>
              <a:buNone/>
              <a:defRPr b="1" sz="41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Montserrat"/>
              <a:buNone/>
              <a:defRPr b="1" sz="41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Montserrat"/>
              <a:buNone/>
              <a:defRPr b="1" sz="41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Montserrat"/>
              <a:buNone/>
              <a:defRPr b="1" sz="41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Montserrat"/>
              <a:buNone/>
              <a:defRPr b="1" sz="41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Montserrat"/>
              <a:buNone/>
              <a:defRPr b="1" sz="41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Montserrat"/>
              <a:buNone/>
              <a:defRPr b="1" sz="41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Montserrat"/>
              <a:buNone/>
              <a:defRPr b="1" sz="41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Montserrat"/>
              <a:buNone/>
              <a:defRPr b="1" sz="41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3" name="Google Shape;33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3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" name="Google Shape;37;p3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" name="Google Shape;38;p3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" name="Google Shape;39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3"/>
          <p:cNvSpPr txBox="1"/>
          <p:nvPr>
            <p:ph hasCustomPrompt="1" type="title"/>
          </p:nvPr>
        </p:nvSpPr>
        <p:spPr>
          <a:xfrm>
            <a:off x="3753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3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 txBox="1"/>
          <p:nvPr>
            <p:ph type="title"/>
          </p:nvPr>
        </p:nvSpPr>
        <p:spPr>
          <a:xfrm>
            <a:off x="181942" y="159973"/>
            <a:ext cx="78867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Google Shape;49;p3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0" name="Google Shape;50;p3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3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3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9c06aa4bf2_18_6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1" name="Google Shape;61;g29c06aa4bf2_18_6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2" name="Google Shape;62;g29c06aa4bf2_18_6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9c06aa4bf2_18_10"/>
          <p:cNvSpPr txBox="1"/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5" name="Google Shape;65;g29c06aa4bf2_18_10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6" name="Google Shape;66;g29c06aa4bf2_18_10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7" name="Google Shape;67;g29c06aa4bf2_18_10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8" name="Google Shape;68;g29c06aa4bf2_18_10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9c06aa4bf2_18_1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1" name="Google Shape;71;g29c06aa4bf2_18_16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72" name="Google Shape;72;g29c06aa4bf2_18_16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3" name="Google Shape;73;g29c06aa4bf2_18_16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4" name="Google Shape;74;g29c06aa4bf2_18_16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9c06aa4bf2_18_22"/>
          <p:cNvSpPr txBox="1"/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7" name="Google Shape;77;g29c06aa4bf2_18_22"/>
          <p:cNvSpPr txBox="1"/>
          <p:nvPr>
            <p:ph idx="1" type="body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8" name="Google Shape;78;g29c06aa4bf2_18_22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9" name="Google Shape;79;g29c06aa4bf2_18_22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0" name="Google Shape;80;g29c06aa4bf2_18_22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9c06aa4bf2_18_28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3" name="Google Shape;83;g29c06aa4bf2_18_28"/>
          <p:cNvSpPr txBox="1"/>
          <p:nvPr>
            <p:ph idx="1" type="body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4" name="Google Shape;84;g29c06aa4bf2_18_28"/>
          <p:cNvSpPr txBox="1"/>
          <p:nvPr>
            <p:ph idx="2" type="body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5" name="Google Shape;85;g29c06aa4bf2_18_28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6" name="Google Shape;86;g29c06aa4bf2_18_28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7" name="Google Shape;87;g29c06aa4bf2_18_28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9c06aa4bf2_18_35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0" name="Google Shape;90;g29c06aa4bf2_18_35"/>
          <p:cNvSpPr txBox="1"/>
          <p:nvPr>
            <p:ph idx="1" type="body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91" name="Google Shape;91;g29c06aa4bf2_18_35"/>
          <p:cNvSpPr txBox="1"/>
          <p:nvPr>
            <p:ph idx="2" type="body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92" name="Google Shape;92;g29c06aa4bf2_18_35"/>
          <p:cNvSpPr txBox="1"/>
          <p:nvPr>
            <p:ph idx="3" type="body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93" name="Google Shape;93;g29c06aa4bf2_18_35"/>
          <p:cNvSpPr txBox="1"/>
          <p:nvPr>
            <p:ph idx="4" type="body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94" name="Google Shape;94;g29c06aa4bf2_18_35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5" name="Google Shape;95;g29c06aa4bf2_18_35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6" name="Google Shape;96;g29c06aa4bf2_18_35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9c06aa4bf2_18_44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9" name="Google Shape;99;g29c06aa4bf2_18_4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0" name="Google Shape;100;g29c06aa4bf2_18_4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1" name="Google Shape;101;g29c06aa4bf2_18_4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9c06aa4bf2_18_49"/>
          <p:cNvSpPr txBox="1"/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4" name="Google Shape;104;g29c06aa4bf2_18_49"/>
          <p:cNvSpPr txBox="1"/>
          <p:nvPr>
            <p:ph idx="1" type="body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05" name="Google Shape;105;g29c06aa4bf2_18_49"/>
          <p:cNvSpPr txBox="1"/>
          <p:nvPr>
            <p:ph idx="2" type="body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06" name="Google Shape;106;g29c06aa4bf2_18_49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7" name="Google Shape;107;g29c06aa4bf2_18_49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8" name="Google Shape;108;g29c06aa4bf2_18_49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9c06aa4bf2_18_56"/>
          <p:cNvSpPr txBox="1"/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1" name="Google Shape;111;g29c06aa4bf2_18_56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g29c06aa4bf2_18_56"/>
          <p:cNvSpPr txBox="1"/>
          <p:nvPr>
            <p:ph idx="1" type="body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13" name="Google Shape;113;g29c06aa4bf2_18_56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4" name="Google Shape;114;g29c06aa4bf2_18_56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5" name="Google Shape;115;g29c06aa4bf2_18_56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9c06aa4bf2_18_6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8" name="Google Shape;118;g29c06aa4bf2_18_63"/>
          <p:cNvSpPr txBox="1"/>
          <p:nvPr>
            <p:ph idx="1" type="body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19" name="Google Shape;119;g29c06aa4bf2_18_6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0" name="Google Shape;120;g29c06aa4bf2_18_6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1" name="Google Shape;121;g29c06aa4bf2_18_6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9c06aa4bf2_18_69"/>
          <p:cNvSpPr txBox="1"/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4" name="Google Shape;124;g29c06aa4bf2_18_69"/>
          <p:cNvSpPr txBox="1"/>
          <p:nvPr>
            <p:ph idx="1" type="body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25" name="Google Shape;125;g29c06aa4bf2_18_69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6" name="Google Shape;126;g29c06aa4bf2_18_69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7" name="Google Shape;127;g29c06aa4bf2_18_69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29c06aa4bf2_18_0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55" name="Google Shape;55;g29c06aa4bf2_18_0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g29c06aa4bf2_18_0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g29c06aa4bf2_18_0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g29c06aa4bf2_18_0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20.png"/><Relationship Id="rId10" Type="http://schemas.openxmlformats.org/officeDocument/2006/relationships/image" Target="../media/image15.jpg"/><Relationship Id="rId12" Type="http://schemas.openxmlformats.org/officeDocument/2006/relationships/image" Target="../media/image14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6.png"/><Relationship Id="rId9" Type="http://schemas.openxmlformats.org/officeDocument/2006/relationships/image" Target="../media/image17.jpg"/><Relationship Id="rId5" Type="http://schemas.openxmlformats.org/officeDocument/2006/relationships/image" Target="../media/image18.jpg"/><Relationship Id="rId6" Type="http://schemas.openxmlformats.org/officeDocument/2006/relationships/image" Target="../media/image12.jpg"/><Relationship Id="rId7" Type="http://schemas.openxmlformats.org/officeDocument/2006/relationships/image" Target="../media/image22.png"/><Relationship Id="rId8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forbes.com/advisor/business/churn-rate/" TargetMode="External"/><Relationship Id="rId4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comments" Target="../comments/comment1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7.png"/><Relationship Id="rId4" Type="http://schemas.openxmlformats.org/officeDocument/2006/relationships/image" Target="../media/image3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://customer-acquisition-ecommerce" TargetMode="External"/><Relationship Id="rId4" Type="http://schemas.openxmlformats.org/officeDocument/2006/relationships/hyperlink" Target="https://www.revuze.it/blog/customer-acquisition-ecommerce-strategies/#how_can_we_calculate_cac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g29c06aa4bf2_18_75"/>
          <p:cNvGrpSpPr/>
          <p:nvPr/>
        </p:nvGrpSpPr>
        <p:grpSpPr>
          <a:xfrm>
            <a:off x="514350" y="4289673"/>
            <a:ext cx="448110" cy="1333044"/>
            <a:chOff x="0" y="-47625"/>
            <a:chExt cx="236041" cy="702179"/>
          </a:xfrm>
        </p:grpSpPr>
        <p:sp>
          <p:nvSpPr>
            <p:cNvPr id="133" name="Google Shape;133;g29c06aa4bf2_18_75"/>
            <p:cNvSpPr/>
            <p:nvPr/>
          </p:nvSpPr>
          <p:spPr>
            <a:xfrm>
              <a:off x="0" y="0"/>
              <a:ext cx="236041" cy="654554"/>
            </a:xfrm>
            <a:custGeom>
              <a:rect b="b" l="l" r="r" t="t"/>
              <a:pathLst>
                <a:path extrusionOk="0" h="654554" w="236041">
                  <a:moveTo>
                    <a:pt x="118021" y="0"/>
                  </a:moveTo>
                  <a:lnTo>
                    <a:pt x="118021" y="0"/>
                  </a:lnTo>
                  <a:cubicBezTo>
                    <a:pt x="149322" y="0"/>
                    <a:pt x="179341" y="12434"/>
                    <a:pt x="201474" y="34567"/>
                  </a:cubicBezTo>
                  <a:cubicBezTo>
                    <a:pt x="223607" y="56701"/>
                    <a:pt x="236041" y="86720"/>
                    <a:pt x="236041" y="118021"/>
                  </a:cubicBezTo>
                  <a:lnTo>
                    <a:pt x="236041" y="536534"/>
                  </a:lnTo>
                  <a:cubicBezTo>
                    <a:pt x="236041" y="567835"/>
                    <a:pt x="223607" y="597854"/>
                    <a:pt x="201474" y="619987"/>
                  </a:cubicBezTo>
                  <a:cubicBezTo>
                    <a:pt x="179341" y="642120"/>
                    <a:pt x="149322" y="654554"/>
                    <a:pt x="118021" y="654554"/>
                  </a:cubicBezTo>
                  <a:lnTo>
                    <a:pt x="118021" y="654554"/>
                  </a:lnTo>
                  <a:cubicBezTo>
                    <a:pt x="86720" y="654554"/>
                    <a:pt x="56701" y="642120"/>
                    <a:pt x="34567" y="619987"/>
                  </a:cubicBezTo>
                  <a:cubicBezTo>
                    <a:pt x="12434" y="597854"/>
                    <a:pt x="0" y="567835"/>
                    <a:pt x="0" y="536534"/>
                  </a:cubicBezTo>
                  <a:lnTo>
                    <a:pt x="0" y="118021"/>
                  </a:lnTo>
                  <a:cubicBezTo>
                    <a:pt x="0" y="86720"/>
                    <a:pt x="12434" y="56701"/>
                    <a:pt x="34567" y="34567"/>
                  </a:cubicBezTo>
                  <a:cubicBezTo>
                    <a:pt x="56701" y="12434"/>
                    <a:pt x="86720" y="0"/>
                    <a:pt x="118021" y="0"/>
                  </a:cubicBezTo>
                  <a:close/>
                </a:path>
              </a:pathLst>
            </a:custGeom>
            <a:solidFill>
              <a:srgbClr val="449DA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g29c06aa4bf2_18_75"/>
            <p:cNvSpPr txBox="1"/>
            <p:nvPr/>
          </p:nvSpPr>
          <p:spPr>
            <a:xfrm>
              <a:off x="0" y="-47625"/>
              <a:ext cx="236041" cy="7021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5" name="Google Shape;135;g29c06aa4bf2_18_75"/>
          <p:cNvSpPr/>
          <p:nvPr/>
        </p:nvSpPr>
        <p:spPr>
          <a:xfrm>
            <a:off x="324832" y="202824"/>
            <a:ext cx="2560812" cy="1067005"/>
          </a:xfrm>
          <a:custGeom>
            <a:rect b="b" l="l" r="r" t="t"/>
            <a:pathLst>
              <a:path extrusionOk="0" h="2134010" w="5121623">
                <a:moveTo>
                  <a:pt x="0" y="0"/>
                </a:moveTo>
                <a:lnTo>
                  <a:pt x="5121623" y="0"/>
                </a:lnTo>
                <a:lnTo>
                  <a:pt x="5121623" y="2134010"/>
                </a:lnTo>
                <a:lnTo>
                  <a:pt x="0" y="21340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g29c06aa4bf2_18_75"/>
          <p:cNvSpPr txBox="1"/>
          <p:nvPr/>
        </p:nvSpPr>
        <p:spPr>
          <a:xfrm>
            <a:off x="514350" y="2149960"/>
            <a:ext cx="42678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d-ID" sz="3200" u="none" cap="none" strike="noStrike">
                <a:solidFill>
                  <a:srgbClr val="FFC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CUSTOMER CHURN PREDICTION</a:t>
            </a:r>
            <a:endParaRPr b="1" sz="700"/>
          </a:p>
        </p:txBody>
      </p:sp>
      <p:sp>
        <p:nvSpPr>
          <p:cNvPr id="137" name="Google Shape;137;g29c06aa4bf2_18_75"/>
          <p:cNvSpPr/>
          <p:nvPr/>
        </p:nvSpPr>
        <p:spPr>
          <a:xfrm>
            <a:off x="4782237" y="1176501"/>
            <a:ext cx="3924596" cy="2654009"/>
          </a:xfrm>
          <a:custGeom>
            <a:rect b="b" l="l" r="r" t="t"/>
            <a:pathLst>
              <a:path extrusionOk="0" h="5308017" w="7849193">
                <a:moveTo>
                  <a:pt x="0" y="0"/>
                </a:moveTo>
                <a:lnTo>
                  <a:pt x="7849193" y="0"/>
                </a:lnTo>
                <a:lnTo>
                  <a:pt x="7849193" y="5308017"/>
                </a:lnTo>
                <a:lnTo>
                  <a:pt x="0" y="53080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8" name="Google Shape;138;g29c06aa4bf2_18_75"/>
          <p:cNvSpPr txBox="1"/>
          <p:nvPr/>
        </p:nvSpPr>
        <p:spPr>
          <a:xfrm>
            <a:off x="514350" y="1686961"/>
            <a:ext cx="2984288" cy="4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d-ID" sz="2400" u="none" cap="none" strike="noStrike">
                <a:solidFill>
                  <a:srgbClr val="282120"/>
                </a:solidFill>
                <a:latin typeface="Lato"/>
                <a:ea typeface="Lato"/>
                <a:cs typeface="Lato"/>
                <a:sym typeface="Lato"/>
              </a:rPr>
              <a:t>E-COMMERCE</a:t>
            </a:r>
            <a:endParaRPr sz="700"/>
          </a:p>
        </p:txBody>
      </p:sp>
      <p:sp>
        <p:nvSpPr>
          <p:cNvPr id="139" name="Google Shape;139;g29c06aa4bf2_18_75"/>
          <p:cNvSpPr txBox="1"/>
          <p:nvPr/>
        </p:nvSpPr>
        <p:spPr>
          <a:xfrm>
            <a:off x="514350" y="3331657"/>
            <a:ext cx="3787663" cy="243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d-ID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By Data Explorers</a:t>
            </a:r>
            <a:endParaRPr sz="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49DA9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g29c06aa4bf2_18_87"/>
          <p:cNvGrpSpPr/>
          <p:nvPr/>
        </p:nvGrpSpPr>
        <p:grpSpPr>
          <a:xfrm>
            <a:off x="5515757" y="1182303"/>
            <a:ext cx="1389447" cy="1389447"/>
            <a:chOff x="0" y="0"/>
            <a:chExt cx="3705192" cy="3705192"/>
          </a:xfrm>
        </p:grpSpPr>
        <p:sp>
          <p:nvSpPr>
            <p:cNvPr id="145" name="Google Shape;145;g29c06aa4bf2_18_87"/>
            <p:cNvSpPr/>
            <p:nvPr/>
          </p:nvSpPr>
          <p:spPr>
            <a:xfrm>
              <a:off x="0" y="0"/>
              <a:ext cx="3705192" cy="3705192"/>
            </a:xfrm>
            <a:custGeom>
              <a:rect b="b" l="l" r="r" t="t"/>
              <a:pathLst>
                <a:path extrusionOk="0" h="3705192" w="3705192">
                  <a:moveTo>
                    <a:pt x="0" y="0"/>
                  </a:moveTo>
                  <a:lnTo>
                    <a:pt x="3705192" y="0"/>
                  </a:lnTo>
                  <a:lnTo>
                    <a:pt x="3705192" y="3705192"/>
                  </a:lnTo>
                  <a:lnTo>
                    <a:pt x="0" y="37051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46" name="Google Shape;146;g29c06aa4bf2_18_87"/>
            <p:cNvSpPr/>
            <p:nvPr/>
          </p:nvSpPr>
          <p:spPr>
            <a:xfrm>
              <a:off x="150244" y="150250"/>
              <a:ext cx="3404705" cy="3404691"/>
            </a:xfrm>
            <a:custGeom>
              <a:rect b="b" l="l" r="r" t="t"/>
              <a:pathLst>
                <a:path extrusionOk="0"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-30255" l="0" r="0" t="-3305"/>
              </a:stretch>
            </a:blip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7" name="Google Shape;147;g29c06aa4bf2_18_87"/>
          <p:cNvGrpSpPr/>
          <p:nvPr/>
        </p:nvGrpSpPr>
        <p:grpSpPr>
          <a:xfrm>
            <a:off x="2055954" y="1194493"/>
            <a:ext cx="1362342" cy="1362343"/>
            <a:chOff x="0" y="0"/>
            <a:chExt cx="3632913" cy="3632913"/>
          </a:xfrm>
        </p:grpSpPr>
        <p:sp>
          <p:nvSpPr>
            <p:cNvPr id="148" name="Google Shape;148;g29c06aa4bf2_18_87"/>
            <p:cNvSpPr/>
            <p:nvPr/>
          </p:nvSpPr>
          <p:spPr>
            <a:xfrm>
              <a:off x="0" y="0"/>
              <a:ext cx="3632913" cy="3632913"/>
            </a:xfrm>
            <a:custGeom>
              <a:rect b="b" l="l" r="r" t="t"/>
              <a:pathLst>
                <a:path extrusionOk="0" h="3632913" w="3632913">
                  <a:moveTo>
                    <a:pt x="0" y="0"/>
                  </a:moveTo>
                  <a:lnTo>
                    <a:pt x="3632913" y="0"/>
                  </a:lnTo>
                  <a:lnTo>
                    <a:pt x="3632913" y="3632913"/>
                  </a:lnTo>
                  <a:lnTo>
                    <a:pt x="0" y="363291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49" name="Google Shape;149;g29c06aa4bf2_18_87"/>
            <p:cNvSpPr/>
            <p:nvPr/>
          </p:nvSpPr>
          <p:spPr>
            <a:xfrm>
              <a:off x="180080" y="180086"/>
              <a:ext cx="3272753" cy="3272739"/>
            </a:xfrm>
            <a:custGeom>
              <a:rect b="b" l="l" r="r" t="t"/>
              <a:pathLst>
                <a:path extrusionOk="0"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-29873" l="-16245" r="-12576" t="0"/>
              </a:stretch>
            </a:blip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0" name="Google Shape;150;g29c06aa4bf2_18_87"/>
          <p:cNvGrpSpPr/>
          <p:nvPr/>
        </p:nvGrpSpPr>
        <p:grpSpPr>
          <a:xfrm>
            <a:off x="970125" y="2986953"/>
            <a:ext cx="1362343" cy="1362342"/>
            <a:chOff x="0" y="0"/>
            <a:chExt cx="3632913" cy="3632913"/>
          </a:xfrm>
        </p:grpSpPr>
        <p:sp>
          <p:nvSpPr>
            <p:cNvPr id="151" name="Google Shape;151;g29c06aa4bf2_18_87"/>
            <p:cNvSpPr/>
            <p:nvPr/>
          </p:nvSpPr>
          <p:spPr>
            <a:xfrm>
              <a:off x="0" y="0"/>
              <a:ext cx="3632913" cy="3632913"/>
            </a:xfrm>
            <a:custGeom>
              <a:rect b="b" l="l" r="r" t="t"/>
              <a:pathLst>
                <a:path extrusionOk="0" h="3632913" w="3632913">
                  <a:moveTo>
                    <a:pt x="0" y="0"/>
                  </a:moveTo>
                  <a:lnTo>
                    <a:pt x="3632913" y="0"/>
                  </a:lnTo>
                  <a:lnTo>
                    <a:pt x="3632913" y="3632913"/>
                  </a:lnTo>
                  <a:lnTo>
                    <a:pt x="0" y="363291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52" name="Google Shape;152;g29c06aa4bf2_18_87"/>
            <p:cNvSpPr/>
            <p:nvPr/>
          </p:nvSpPr>
          <p:spPr>
            <a:xfrm>
              <a:off x="178522" y="178529"/>
              <a:ext cx="3275868" cy="3275854"/>
            </a:xfrm>
            <a:custGeom>
              <a:rect b="b" l="l" r="r" t="t"/>
              <a:pathLst>
                <a:path extrusionOk="0"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-42045" l="-4289" r="-7288" t="-8456"/>
              </a:stretch>
            </a:blip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3" name="Google Shape;153;g29c06aa4bf2_18_87"/>
          <p:cNvGrpSpPr/>
          <p:nvPr/>
        </p:nvGrpSpPr>
        <p:grpSpPr>
          <a:xfrm>
            <a:off x="341187" y="1194493"/>
            <a:ext cx="1362343" cy="1362343"/>
            <a:chOff x="0" y="0"/>
            <a:chExt cx="3632913" cy="3632913"/>
          </a:xfrm>
        </p:grpSpPr>
        <p:sp>
          <p:nvSpPr>
            <p:cNvPr id="154" name="Google Shape;154;g29c06aa4bf2_18_87"/>
            <p:cNvSpPr/>
            <p:nvPr/>
          </p:nvSpPr>
          <p:spPr>
            <a:xfrm>
              <a:off x="0" y="0"/>
              <a:ext cx="3632913" cy="3632913"/>
            </a:xfrm>
            <a:custGeom>
              <a:rect b="b" l="l" r="r" t="t"/>
              <a:pathLst>
                <a:path extrusionOk="0" h="3632913" w="3632913">
                  <a:moveTo>
                    <a:pt x="0" y="0"/>
                  </a:moveTo>
                  <a:lnTo>
                    <a:pt x="3632913" y="0"/>
                  </a:lnTo>
                  <a:lnTo>
                    <a:pt x="3632913" y="3632913"/>
                  </a:lnTo>
                  <a:lnTo>
                    <a:pt x="0" y="363291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55" name="Google Shape;155;g29c06aa4bf2_18_87"/>
            <p:cNvSpPr/>
            <p:nvPr/>
          </p:nvSpPr>
          <p:spPr>
            <a:xfrm>
              <a:off x="180080" y="180086"/>
              <a:ext cx="3272753" cy="3272739"/>
            </a:xfrm>
            <a:custGeom>
              <a:rect b="b" l="l" r="r" t="t"/>
              <a:pathLst>
                <a:path extrusionOk="0"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-50450" l="0" r="0" t="0"/>
              </a:stretch>
            </a:blip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6" name="Google Shape;156;g29c06aa4bf2_18_87"/>
          <p:cNvGrpSpPr/>
          <p:nvPr/>
        </p:nvGrpSpPr>
        <p:grpSpPr>
          <a:xfrm>
            <a:off x="4504126" y="2953109"/>
            <a:ext cx="1362342" cy="1362342"/>
            <a:chOff x="0" y="0"/>
            <a:chExt cx="3632913" cy="3632913"/>
          </a:xfrm>
        </p:grpSpPr>
        <p:sp>
          <p:nvSpPr>
            <p:cNvPr id="157" name="Google Shape;157;g29c06aa4bf2_18_87"/>
            <p:cNvSpPr/>
            <p:nvPr/>
          </p:nvSpPr>
          <p:spPr>
            <a:xfrm>
              <a:off x="0" y="0"/>
              <a:ext cx="3632913" cy="3632913"/>
            </a:xfrm>
            <a:custGeom>
              <a:rect b="b" l="l" r="r" t="t"/>
              <a:pathLst>
                <a:path extrusionOk="0" h="3632913" w="3632913">
                  <a:moveTo>
                    <a:pt x="0" y="0"/>
                  </a:moveTo>
                  <a:lnTo>
                    <a:pt x="3632913" y="0"/>
                  </a:lnTo>
                  <a:lnTo>
                    <a:pt x="3632913" y="3632913"/>
                  </a:lnTo>
                  <a:lnTo>
                    <a:pt x="0" y="363291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58" name="Google Shape;158;g29c06aa4bf2_18_87"/>
            <p:cNvSpPr/>
            <p:nvPr/>
          </p:nvSpPr>
          <p:spPr>
            <a:xfrm>
              <a:off x="180080" y="180086"/>
              <a:ext cx="3272753" cy="3272739"/>
            </a:xfrm>
            <a:custGeom>
              <a:rect b="b" l="l" r="r" t="t"/>
              <a:pathLst>
                <a:path extrusionOk="0"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-17379" l="0" r="0" t="-17379"/>
              </a:stretch>
            </a:blip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9" name="Google Shape;159;g29c06aa4bf2_18_87"/>
          <p:cNvGrpSpPr/>
          <p:nvPr/>
        </p:nvGrpSpPr>
        <p:grpSpPr>
          <a:xfrm>
            <a:off x="3770722" y="1194493"/>
            <a:ext cx="1362343" cy="1362343"/>
            <a:chOff x="0" y="0"/>
            <a:chExt cx="3632913" cy="3632913"/>
          </a:xfrm>
        </p:grpSpPr>
        <p:sp>
          <p:nvSpPr>
            <p:cNvPr id="160" name="Google Shape;160;g29c06aa4bf2_18_87"/>
            <p:cNvSpPr/>
            <p:nvPr/>
          </p:nvSpPr>
          <p:spPr>
            <a:xfrm>
              <a:off x="0" y="0"/>
              <a:ext cx="3632913" cy="3632913"/>
            </a:xfrm>
            <a:custGeom>
              <a:rect b="b" l="l" r="r" t="t"/>
              <a:pathLst>
                <a:path extrusionOk="0" h="3632913" w="3632913">
                  <a:moveTo>
                    <a:pt x="0" y="0"/>
                  </a:moveTo>
                  <a:lnTo>
                    <a:pt x="3632913" y="0"/>
                  </a:lnTo>
                  <a:lnTo>
                    <a:pt x="3632913" y="3632913"/>
                  </a:lnTo>
                  <a:lnTo>
                    <a:pt x="0" y="363291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61" name="Google Shape;161;g29c06aa4bf2_18_87"/>
            <p:cNvSpPr/>
            <p:nvPr/>
          </p:nvSpPr>
          <p:spPr>
            <a:xfrm>
              <a:off x="180080" y="173505"/>
              <a:ext cx="3272753" cy="3272739"/>
            </a:xfrm>
            <a:custGeom>
              <a:rect b="b" l="l" r="r" t="t"/>
              <a:pathLst>
                <a:path extrusionOk="0"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-17224" l="0" r="0" t="-17225"/>
              </a:stretch>
            </a:blip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2" name="Google Shape;162;g29c06aa4bf2_18_87"/>
          <p:cNvGrpSpPr/>
          <p:nvPr/>
        </p:nvGrpSpPr>
        <p:grpSpPr>
          <a:xfrm>
            <a:off x="2737125" y="2953109"/>
            <a:ext cx="1362343" cy="1362342"/>
            <a:chOff x="0" y="0"/>
            <a:chExt cx="3632913" cy="3632913"/>
          </a:xfrm>
        </p:grpSpPr>
        <p:sp>
          <p:nvSpPr>
            <p:cNvPr id="163" name="Google Shape;163;g29c06aa4bf2_18_87"/>
            <p:cNvSpPr/>
            <p:nvPr/>
          </p:nvSpPr>
          <p:spPr>
            <a:xfrm>
              <a:off x="0" y="0"/>
              <a:ext cx="3632913" cy="3632913"/>
            </a:xfrm>
            <a:custGeom>
              <a:rect b="b" l="l" r="r" t="t"/>
              <a:pathLst>
                <a:path extrusionOk="0" h="3632913" w="3632913">
                  <a:moveTo>
                    <a:pt x="0" y="0"/>
                  </a:moveTo>
                  <a:lnTo>
                    <a:pt x="3632913" y="0"/>
                  </a:lnTo>
                  <a:lnTo>
                    <a:pt x="3632913" y="3632913"/>
                  </a:lnTo>
                  <a:lnTo>
                    <a:pt x="0" y="363291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64" name="Google Shape;164;g29c06aa4bf2_18_87"/>
            <p:cNvSpPr/>
            <p:nvPr/>
          </p:nvSpPr>
          <p:spPr>
            <a:xfrm>
              <a:off x="141123" y="141130"/>
              <a:ext cx="3350667" cy="3350652"/>
            </a:xfrm>
            <a:custGeom>
              <a:rect b="b" l="l" r="r" t="t"/>
              <a:pathLst>
                <a:path extrusionOk="0"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 rotWithShape="1">
              <a:blip r:embed="rId10">
                <a:alphaModFix/>
              </a:blip>
              <a:stretch>
                <a:fillRect b="-19192" l="0" r="0" t="-3881"/>
              </a:stretch>
            </a:blip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5" name="Google Shape;165;g29c06aa4bf2_18_87"/>
          <p:cNvGrpSpPr/>
          <p:nvPr/>
        </p:nvGrpSpPr>
        <p:grpSpPr>
          <a:xfrm>
            <a:off x="6841405" y="2617553"/>
            <a:ext cx="2923800" cy="2923800"/>
            <a:chOff x="0" y="0"/>
            <a:chExt cx="7796799" cy="7796799"/>
          </a:xfrm>
        </p:grpSpPr>
        <p:sp>
          <p:nvSpPr>
            <p:cNvPr id="166" name="Google Shape;166;g29c06aa4bf2_18_87"/>
            <p:cNvSpPr/>
            <p:nvPr/>
          </p:nvSpPr>
          <p:spPr>
            <a:xfrm>
              <a:off x="0" y="0"/>
              <a:ext cx="7796799" cy="7796799"/>
            </a:xfrm>
            <a:custGeom>
              <a:rect b="b" l="l" r="r" t="t"/>
              <a:pathLst>
                <a:path extrusionOk="0" h="7796799" w="7796799">
                  <a:moveTo>
                    <a:pt x="0" y="0"/>
                  </a:moveTo>
                  <a:lnTo>
                    <a:pt x="7796799" y="0"/>
                  </a:lnTo>
                  <a:lnTo>
                    <a:pt x="7796799" y="7796799"/>
                  </a:lnTo>
                  <a:lnTo>
                    <a:pt x="0" y="779679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67" name="Google Shape;167;g29c06aa4bf2_18_87"/>
            <p:cNvSpPr/>
            <p:nvPr/>
          </p:nvSpPr>
          <p:spPr>
            <a:xfrm>
              <a:off x="300998" y="301013"/>
              <a:ext cx="7194803" cy="7194773"/>
            </a:xfrm>
            <a:custGeom>
              <a:rect b="b" l="l" r="r" t="t"/>
              <a:pathLst>
                <a:path extrusionOk="0"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 rotWithShape="1">
              <a:blip r:embed="rId12">
                <a:alphaModFix/>
              </a:blip>
              <a:stretch>
                <a:fillRect b="0" l="-623" r="-623" t="0"/>
              </a:stretch>
            </a:blip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8" name="Google Shape;168;g29c06aa4bf2_18_87"/>
          <p:cNvSpPr txBox="1"/>
          <p:nvPr/>
        </p:nvSpPr>
        <p:spPr>
          <a:xfrm>
            <a:off x="514350" y="488370"/>
            <a:ext cx="2601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d-ID" sz="3500" u="none" cap="none" strike="noStrike">
                <a:solidFill>
                  <a:srgbClr val="FFC000"/>
                </a:solidFill>
                <a:latin typeface="Montserrat"/>
                <a:ea typeface="Montserrat"/>
                <a:cs typeface="Montserrat"/>
                <a:sym typeface="Montserrat"/>
              </a:rPr>
              <a:t>OUR TEAM</a:t>
            </a:r>
            <a:endParaRPr b="1" sz="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" name="Google Shape;169;g29c06aa4bf2_18_87"/>
          <p:cNvSpPr txBox="1"/>
          <p:nvPr/>
        </p:nvSpPr>
        <p:spPr>
          <a:xfrm>
            <a:off x="742048" y="2633668"/>
            <a:ext cx="8745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d-ID" sz="1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Hafizd</a:t>
            </a:r>
            <a:endParaRPr sz="700"/>
          </a:p>
        </p:txBody>
      </p:sp>
      <p:sp>
        <p:nvSpPr>
          <p:cNvPr id="170" name="Google Shape;170;g29c06aa4bf2_18_87"/>
          <p:cNvSpPr txBox="1"/>
          <p:nvPr/>
        </p:nvSpPr>
        <p:spPr>
          <a:xfrm>
            <a:off x="2450828" y="2633675"/>
            <a:ext cx="8043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d-ID" sz="1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Luthfi</a:t>
            </a:r>
            <a:endParaRPr sz="700"/>
          </a:p>
        </p:txBody>
      </p:sp>
      <p:sp>
        <p:nvSpPr>
          <p:cNvPr id="171" name="Google Shape;171;g29c06aa4bf2_18_87"/>
          <p:cNvSpPr txBox="1"/>
          <p:nvPr/>
        </p:nvSpPr>
        <p:spPr>
          <a:xfrm>
            <a:off x="4132272" y="2633675"/>
            <a:ext cx="8745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d-ID" sz="1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Fathur</a:t>
            </a:r>
            <a:endParaRPr sz="700"/>
          </a:p>
        </p:txBody>
      </p:sp>
      <p:sp>
        <p:nvSpPr>
          <p:cNvPr id="172" name="Google Shape;172;g29c06aa4bf2_18_87"/>
          <p:cNvSpPr txBox="1"/>
          <p:nvPr/>
        </p:nvSpPr>
        <p:spPr>
          <a:xfrm>
            <a:off x="5780628" y="2646913"/>
            <a:ext cx="989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d-ID" sz="1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Wesly</a:t>
            </a:r>
            <a:endParaRPr sz="700"/>
          </a:p>
        </p:txBody>
      </p:sp>
      <p:grpSp>
        <p:nvGrpSpPr>
          <p:cNvPr id="173" name="Google Shape;173;g29c06aa4bf2_18_87"/>
          <p:cNvGrpSpPr/>
          <p:nvPr/>
        </p:nvGrpSpPr>
        <p:grpSpPr>
          <a:xfrm>
            <a:off x="514350" y="-893553"/>
            <a:ext cx="448110" cy="1333044"/>
            <a:chOff x="0" y="-47625"/>
            <a:chExt cx="236041" cy="702179"/>
          </a:xfrm>
        </p:grpSpPr>
        <p:sp>
          <p:nvSpPr>
            <p:cNvPr id="174" name="Google Shape;174;g29c06aa4bf2_18_87"/>
            <p:cNvSpPr/>
            <p:nvPr/>
          </p:nvSpPr>
          <p:spPr>
            <a:xfrm>
              <a:off x="0" y="0"/>
              <a:ext cx="236041" cy="654554"/>
            </a:xfrm>
            <a:custGeom>
              <a:rect b="b" l="l" r="r" t="t"/>
              <a:pathLst>
                <a:path extrusionOk="0" h="654554" w="236041">
                  <a:moveTo>
                    <a:pt x="118021" y="0"/>
                  </a:moveTo>
                  <a:lnTo>
                    <a:pt x="118021" y="0"/>
                  </a:lnTo>
                  <a:cubicBezTo>
                    <a:pt x="149322" y="0"/>
                    <a:pt x="179341" y="12434"/>
                    <a:pt x="201474" y="34567"/>
                  </a:cubicBezTo>
                  <a:cubicBezTo>
                    <a:pt x="223607" y="56701"/>
                    <a:pt x="236041" y="86720"/>
                    <a:pt x="236041" y="118021"/>
                  </a:cubicBezTo>
                  <a:lnTo>
                    <a:pt x="236041" y="536534"/>
                  </a:lnTo>
                  <a:cubicBezTo>
                    <a:pt x="236041" y="567835"/>
                    <a:pt x="223607" y="597854"/>
                    <a:pt x="201474" y="619987"/>
                  </a:cubicBezTo>
                  <a:cubicBezTo>
                    <a:pt x="179341" y="642120"/>
                    <a:pt x="149322" y="654554"/>
                    <a:pt x="118021" y="654554"/>
                  </a:cubicBezTo>
                  <a:lnTo>
                    <a:pt x="118021" y="654554"/>
                  </a:lnTo>
                  <a:cubicBezTo>
                    <a:pt x="86720" y="654554"/>
                    <a:pt x="56701" y="642120"/>
                    <a:pt x="34567" y="619987"/>
                  </a:cubicBezTo>
                  <a:cubicBezTo>
                    <a:pt x="12434" y="597854"/>
                    <a:pt x="0" y="567835"/>
                    <a:pt x="0" y="536534"/>
                  </a:cubicBezTo>
                  <a:lnTo>
                    <a:pt x="0" y="118021"/>
                  </a:lnTo>
                  <a:cubicBezTo>
                    <a:pt x="0" y="86720"/>
                    <a:pt x="12434" y="56701"/>
                    <a:pt x="34567" y="34567"/>
                  </a:cubicBezTo>
                  <a:cubicBezTo>
                    <a:pt x="56701" y="12434"/>
                    <a:pt x="86720" y="0"/>
                    <a:pt x="1180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g29c06aa4bf2_18_87"/>
            <p:cNvSpPr txBox="1"/>
            <p:nvPr/>
          </p:nvSpPr>
          <p:spPr>
            <a:xfrm>
              <a:off x="0" y="-47625"/>
              <a:ext cx="236041" cy="7021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" name="Google Shape;176;g29c06aa4bf2_18_87"/>
          <p:cNvSpPr txBox="1"/>
          <p:nvPr/>
        </p:nvSpPr>
        <p:spPr>
          <a:xfrm>
            <a:off x="3155900" y="4371975"/>
            <a:ext cx="6147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d-ID" sz="1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Dwi</a:t>
            </a:r>
            <a:endParaRPr sz="700"/>
          </a:p>
        </p:txBody>
      </p:sp>
      <p:sp>
        <p:nvSpPr>
          <p:cNvPr id="177" name="Google Shape;177;g29c06aa4bf2_18_87"/>
          <p:cNvSpPr txBox="1"/>
          <p:nvPr/>
        </p:nvSpPr>
        <p:spPr>
          <a:xfrm>
            <a:off x="4824500" y="4371975"/>
            <a:ext cx="804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d-ID" sz="1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Lintang</a:t>
            </a:r>
            <a:endParaRPr sz="700"/>
          </a:p>
        </p:txBody>
      </p:sp>
      <p:sp>
        <p:nvSpPr>
          <p:cNvPr id="178" name="Google Shape;178;g29c06aa4bf2_18_87"/>
          <p:cNvSpPr txBox="1"/>
          <p:nvPr/>
        </p:nvSpPr>
        <p:spPr>
          <a:xfrm>
            <a:off x="1074225" y="4371975"/>
            <a:ext cx="948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d-ID" sz="1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Chellcia</a:t>
            </a:r>
            <a:endParaRPr sz="700"/>
          </a:p>
        </p:txBody>
      </p:sp>
      <p:sp>
        <p:nvSpPr>
          <p:cNvPr id="179" name="Google Shape;179;g29c06aa4bf2_18_87"/>
          <p:cNvSpPr txBox="1"/>
          <p:nvPr/>
        </p:nvSpPr>
        <p:spPr>
          <a:xfrm>
            <a:off x="7056301" y="1992625"/>
            <a:ext cx="2087700" cy="6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d-ID" sz="1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Mentor</a:t>
            </a:r>
            <a:endParaRPr sz="7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d-ID" sz="1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Kak Rezki Trianto </a:t>
            </a:r>
            <a:endParaRPr sz="700"/>
          </a:p>
        </p:txBody>
      </p:sp>
      <p:sp>
        <p:nvSpPr>
          <p:cNvPr id="180" name="Google Shape;180;g29c06aa4bf2_18_87"/>
          <p:cNvSpPr/>
          <p:nvPr/>
        </p:nvSpPr>
        <p:spPr>
          <a:xfrm>
            <a:off x="8124187" y="-680700"/>
            <a:ext cx="1555200" cy="1555200"/>
          </a:xfrm>
          <a:prstGeom prst="donut">
            <a:avLst>
              <a:gd fmla="val 1076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29c06aa4bf2_18_87"/>
          <p:cNvSpPr/>
          <p:nvPr/>
        </p:nvSpPr>
        <p:spPr>
          <a:xfrm>
            <a:off x="8432300" y="-554200"/>
            <a:ext cx="1114800" cy="1114800"/>
          </a:xfrm>
          <a:prstGeom prst="donut">
            <a:avLst>
              <a:gd fmla="val 697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"/>
          <p:cNvSpPr txBox="1"/>
          <p:nvPr/>
        </p:nvSpPr>
        <p:spPr>
          <a:xfrm>
            <a:off x="791994" y="506875"/>
            <a:ext cx="3780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72"/>
              <a:buFont typeface="Montserrat"/>
              <a:buNone/>
            </a:pPr>
            <a:r>
              <a:rPr b="1" lang="id-ID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Table of Content</a:t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2"/>
          <p:cNvSpPr/>
          <p:nvPr/>
        </p:nvSpPr>
        <p:spPr>
          <a:xfrm>
            <a:off x="931025" y="1449625"/>
            <a:ext cx="1935900" cy="985200"/>
          </a:xfrm>
          <a:prstGeom prst="roundRect">
            <a:avLst>
              <a:gd fmla="val 16667" name="adj"/>
            </a:avLst>
          </a:prstGeom>
          <a:solidFill>
            <a:srgbClr val="449D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-ID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Background</a:t>
            </a:r>
            <a:endParaRPr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8" name="Google Shape;188;p2"/>
          <p:cNvSpPr/>
          <p:nvPr/>
        </p:nvSpPr>
        <p:spPr>
          <a:xfrm>
            <a:off x="3779688" y="1449625"/>
            <a:ext cx="1935900" cy="985200"/>
          </a:xfrm>
          <a:prstGeom prst="roundRect">
            <a:avLst>
              <a:gd fmla="val 16667" name="adj"/>
            </a:avLst>
          </a:prstGeom>
          <a:solidFill>
            <a:srgbClr val="449D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-ID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Exploratory Data Analysis</a:t>
            </a:r>
            <a:endParaRPr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9" name="Google Shape;189;p2"/>
          <p:cNvSpPr/>
          <p:nvPr/>
        </p:nvSpPr>
        <p:spPr>
          <a:xfrm>
            <a:off x="6628375" y="1449625"/>
            <a:ext cx="1935900" cy="985200"/>
          </a:xfrm>
          <a:prstGeom prst="roundRect">
            <a:avLst>
              <a:gd fmla="val 16667" name="adj"/>
            </a:avLst>
          </a:prstGeom>
          <a:solidFill>
            <a:srgbClr val="449D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-ID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Business Insight</a:t>
            </a:r>
            <a:endParaRPr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90" name="Google Shape;190;p2"/>
          <p:cNvSpPr/>
          <p:nvPr/>
        </p:nvSpPr>
        <p:spPr>
          <a:xfrm>
            <a:off x="3779700" y="3135325"/>
            <a:ext cx="1935900" cy="985200"/>
          </a:xfrm>
          <a:prstGeom prst="roundRect">
            <a:avLst>
              <a:gd fmla="val 16667" name="adj"/>
            </a:avLst>
          </a:prstGeom>
          <a:solidFill>
            <a:srgbClr val="449D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-ID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Modelling</a:t>
            </a:r>
            <a:endParaRPr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91" name="Google Shape;191;p2"/>
          <p:cNvSpPr/>
          <p:nvPr/>
        </p:nvSpPr>
        <p:spPr>
          <a:xfrm>
            <a:off x="6628375" y="3135325"/>
            <a:ext cx="1935900" cy="985200"/>
          </a:xfrm>
          <a:prstGeom prst="roundRect">
            <a:avLst>
              <a:gd fmla="val 16667" name="adj"/>
            </a:avLst>
          </a:prstGeom>
          <a:solidFill>
            <a:srgbClr val="449D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-ID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Pre-Processing</a:t>
            </a:r>
            <a:endParaRPr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92" name="Google Shape;192;p2"/>
          <p:cNvSpPr/>
          <p:nvPr/>
        </p:nvSpPr>
        <p:spPr>
          <a:xfrm>
            <a:off x="931025" y="3135325"/>
            <a:ext cx="1935900" cy="985200"/>
          </a:xfrm>
          <a:prstGeom prst="roundRect">
            <a:avLst>
              <a:gd fmla="val 16667" name="adj"/>
            </a:avLst>
          </a:prstGeom>
          <a:solidFill>
            <a:srgbClr val="449D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3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Conclusion</a:t>
            </a:r>
            <a:r>
              <a:rPr lang="id-ID" sz="13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&amp; </a:t>
            </a:r>
            <a:r>
              <a:rPr lang="id-ID" sz="13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Recommendation</a:t>
            </a:r>
            <a:endParaRPr sz="13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193" name="Google Shape;193;p2"/>
          <p:cNvCxnSpPr>
            <a:stCxn id="188" idx="3"/>
            <a:endCxn id="189" idx="1"/>
          </p:cNvCxnSpPr>
          <p:nvPr/>
        </p:nvCxnSpPr>
        <p:spPr>
          <a:xfrm>
            <a:off x="5715588" y="1942225"/>
            <a:ext cx="912900" cy="0"/>
          </a:xfrm>
          <a:prstGeom prst="straightConnector1">
            <a:avLst/>
          </a:prstGeom>
          <a:noFill/>
          <a:ln cap="flat" cmpd="sng" w="28575">
            <a:solidFill>
              <a:srgbClr val="449DA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" name="Google Shape;194;p2"/>
          <p:cNvCxnSpPr>
            <a:stCxn id="187" idx="3"/>
            <a:endCxn id="188" idx="1"/>
          </p:cNvCxnSpPr>
          <p:nvPr/>
        </p:nvCxnSpPr>
        <p:spPr>
          <a:xfrm>
            <a:off x="2866925" y="1942225"/>
            <a:ext cx="912900" cy="0"/>
          </a:xfrm>
          <a:prstGeom prst="straightConnector1">
            <a:avLst/>
          </a:prstGeom>
          <a:noFill/>
          <a:ln cap="flat" cmpd="sng" w="28575">
            <a:solidFill>
              <a:srgbClr val="449DA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5" name="Google Shape;195;p2"/>
          <p:cNvCxnSpPr>
            <a:stCxn id="189" idx="2"/>
            <a:endCxn id="191" idx="0"/>
          </p:cNvCxnSpPr>
          <p:nvPr/>
        </p:nvCxnSpPr>
        <p:spPr>
          <a:xfrm>
            <a:off x="7596325" y="2434825"/>
            <a:ext cx="0" cy="700500"/>
          </a:xfrm>
          <a:prstGeom prst="straightConnector1">
            <a:avLst/>
          </a:prstGeom>
          <a:noFill/>
          <a:ln cap="flat" cmpd="sng" w="28575">
            <a:solidFill>
              <a:srgbClr val="449DA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" name="Google Shape;196;p2"/>
          <p:cNvCxnSpPr>
            <a:stCxn id="191" idx="1"/>
            <a:endCxn id="190" idx="3"/>
          </p:cNvCxnSpPr>
          <p:nvPr/>
        </p:nvCxnSpPr>
        <p:spPr>
          <a:xfrm rot="10800000">
            <a:off x="5715475" y="3627925"/>
            <a:ext cx="912900" cy="0"/>
          </a:xfrm>
          <a:prstGeom prst="straightConnector1">
            <a:avLst/>
          </a:prstGeom>
          <a:noFill/>
          <a:ln cap="flat" cmpd="sng" w="28575">
            <a:solidFill>
              <a:srgbClr val="449DA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" name="Google Shape;197;p2"/>
          <p:cNvCxnSpPr>
            <a:stCxn id="190" idx="1"/>
            <a:endCxn id="192" idx="3"/>
          </p:cNvCxnSpPr>
          <p:nvPr/>
        </p:nvCxnSpPr>
        <p:spPr>
          <a:xfrm rot="10800000">
            <a:off x="2866800" y="3627925"/>
            <a:ext cx="912900" cy="0"/>
          </a:xfrm>
          <a:prstGeom prst="straightConnector1">
            <a:avLst/>
          </a:prstGeom>
          <a:noFill/>
          <a:ln cap="flat" cmpd="sng" w="28575">
            <a:solidFill>
              <a:srgbClr val="449DA9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g29c06aa4bf2_8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4119" y="672750"/>
            <a:ext cx="4579807" cy="4252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g29c06aa4bf2_8_7"/>
          <p:cNvSpPr txBox="1"/>
          <p:nvPr>
            <p:ph type="title"/>
          </p:nvPr>
        </p:nvSpPr>
        <p:spPr>
          <a:xfrm>
            <a:off x="448692" y="736840"/>
            <a:ext cx="32082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</a:pPr>
            <a:r>
              <a:rPr b="0" lang="id-ID" sz="1800">
                <a:latin typeface="Montserrat SemiBold"/>
                <a:ea typeface="Montserrat SemiBold"/>
                <a:cs typeface="Montserrat SemiBold"/>
                <a:sym typeface="Montserrat SemiBold"/>
              </a:rPr>
              <a:t>Business Understanding</a:t>
            </a:r>
            <a:endParaRPr b="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04" name="Google Shape;204;g29c06aa4bf2_8_7"/>
          <p:cNvSpPr txBox="1"/>
          <p:nvPr>
            <p:ph idx="1" type="body"/>
          </p:nvPr>
        </p:nvSpPr>
        <p:spPr>
          <a:xfrm>
            <a:off x="285450" y="1174850"/>
            <a:ext cx="3371400" cy="22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152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78570"/>
              <a:buNone/>
            </a:pPr>
            <a:r>
              <a:rPr lang="id-ID">
                <a:latin typeface="Montserrat Medium"/>
                <a:ea typeface="Montserrat Medium"/>
                <a:cs typeface="Montserrat Medium"/>
                <a:sym typeface="Montserrat Medium"/>
              </a:rPr>
              <a:t>Sebuah perusahaan toktok memiliki bisnis di bidang </a:t>
            </a:r>
            <a:r>
              <a:rPr b="1" lang="id-ID" sz="1800"/>
              <a:t>E-Commerce</a:t>
            </a:r>
            <a:r>
              <a:rPr lang="id-ID">
                <a:latin typeface="Montserrat Medium"/>
                <a:ea typeface="Montserrat Medium"/>
                <a:cs typeface="Montserrat Medium"/>
                <a:sym typeface="Montserrat Medium"/>
              </a:rPr>
              <a:t> dimana pembeli dan penjual bisa bertransaksi (melakukan penjualan/pembelian) melalui website tersebut. Transaksi pembelian dari website E-Commerce bisa datang dari berbagai kategori barang/jasa. 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5" name="Google Shape;205;g29c06aa4bf2_8_7"/>
          <p:cNvSpPr txBox="1"/>
          <p:nvPr/>
        </p:nvSpPr>
        <p:spPr>
          <a:xfrm>
            <a:off x="375439" y="100054"/>
            <a:ext cx="8393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72"/>
              <a:buFont typeface="Montserrat"/>
              <a:buNone/>
            </a:pPr>
            <a:r>
              <a:rPr b="1" i="0" lang="id-ID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Background                          </a:t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g29c06aa4bf2_8_7"/>
          <p:cNvSpPr txBox="1"/>
          <p:nvPr/>
        </p:nvSpPr>
        <p:spPr>
          <a:xfrm>
            <a:off x="0" y="5342525"/>
            <a:ext cx="8140800" cy="9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id-ID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Background</a:t>
            </a:r>
            <a:endParaRPr b="1" i="0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id-ID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terdiri dari 5630 baris dengan total 20 kolom,</a:t>
            </a:r>
            <a:endParaRPr b="0" i="0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id-ID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kemudian berisi tentang beberapa atribut seperti Customer ID,Tenure, PreferredloginDevice, CityTier, Warehouse Home, PreferredPaymentMod, Gender, HourSpendOnApp, Number of Device Registerd, PreferedOrderCat, SatisfactionScore, MaritalStatus,</a:t>
            </a:r>
            <a:endParaRPr b="0" i="0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id-ID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NumberOfAddress, Complain, OrderAmountHikeFromlastYear, CouponUsed, OrderCount, DaySinceLastOrder, CashbackAmount, Churn</a:t>
            </a:r>
            <a:endParaRPr b="0" i="0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29c06aa4bf2_8_7"/>
          <p:cNvSpPr/>
          <p:nvPr/>
        </p:nvSpPr>
        <p:spPr>
          <a:xfrm>
            <a:off x="4010825" y="4642000"/>
            <a:ext cx="4526400" cy="192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"/>
          <p:cNvSpPr txBox="1"/>
          <p:nvPr/>
        </p:nvSpPr>
        <p:spPr>
          <a:xfrm>
            <a:off x="400893" y="859734"/>
            <a:ext cx="28080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2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33332"/>
              <a:buFont typeface="Arial"/>
              <a:buNone/>
            </a:pPr>
            <a:r>
              <a:rPr i="0" lang="id-ID" sz="2000" u="none" cap="none" strike="noStrik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Problem Statement</a:t>
            </a:r>
            <a:endParaRPr i="0" sz="1400" u="none" cap="none" strike="noStrike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13" name="Google Shape;213;p3"/>
          <p:cNvSpPr txBox="1"/>
          <p:nvPr/>
        </p:nvSpPr>
        <p:spPr>
          <a:xfrm>
            <a:off x="375450" y="1398274"/>
            <a:ext cx="3910500" cy="15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i="0" lang="id-ID" sz="11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Bisnis E-Commerce perusahaan toktok terdapat </a:t>
            </a:r>
            <a:r>
              <a:rPr b="1" i="0" lang="id-ID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16,84%</a:t>
            </a:r>
            <a:r>
              <a:rPr i="0" lang="id-ID" sz="11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pelanggan yang melakukan churn.</a:t>
            </a:r>
            <a:r>
              <a:rPr lang="id-ID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i="0" lang="id-ID" sz="11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Hal ini menandakan bahwa churn rate yang dimiliki perusahaan toktok terbilang cukup tinggi karena berdasarkan hasil riset kami mengenai </a:t>
            </a:r>
            <a:r>
              <a:rPr i="0" lang="id-ID" sz="11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rata-rata churn rate normal pada </a:t>
            </a:r>
            <a:r>
              <a:rPr b="1" i="0" lang="id-ID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textRoundtripDataId="2"/>
                  </a:ext>
                </a:extLst>
              </a:rPr>
              <a:t>E-Commerce normalnya pada sekitar 15%.</a:t>
            </a: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id-ID"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Sumber :  </a:t>
            </a:r>
            <a:r>
              <a:rPr lang="id-ID" sz="900" u="sng">
                <a:solidFill>
                  <a:schemeClr val="hlink"/>
                </a:solidFill>
                <a:latin typeface="Montserrat Medium"/>
                <a:ea typeface="Montserrat Medium"/>
                <a:cs typeface="Montserrat Medium"/>
                <a:sym typeface="Montserrat Medium"/>
                <a:hlinkClick r:id="rId3"/>
              </a:rPr>
              <a:t>forbes.com</a:t>
            </a:r>
            <a:endParaRPr sz="9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4" name="Google Shape;214;p3"/>
          <p:cNvSpPr txBox="1"/>
          <p:nvPr/>
        </p:nvSpPr>
        <p:spPr>
          <a:xfrm>
            <a:off x="375439" y="74029"/>
            <a:ext cx="8393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72"/>
              <a:buFont typeface="Montserrat"/>
              <a:buNone/>
            </a:pPr>
            <a:r>
              <a:rPr b="1" i="0" lang="id-ID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Background                          </a:t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5" name="Google Shape;215;p3" title="Points scor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1125" y="967579"/>
            <a:ext cx="4499250" cy="2782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61971a6cc5_1_32"/>
          <p:cNvSpPr txBox="1"/>
          <p:nvPr/>
        </p:nvSpPr>
        <p:spPr>
          <a:xfrm>
            <a:off x="375439" y="74029"/>
            <a:ext cx="8393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72"/>
              <a:buFont typeface="Montserrat"/>
              <a:buNone/>
            </a:pPr>
            <a:r>
              <a:rPr b="1" i="0" lang="id-ID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Background                          </a:t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21" name="Google Shape;221;g261971a6cc5_1_32"/>
          <p:cNvGrpSpPr/>
          <p:nvPr/>
        </p:nvGrpSpPr>
        <p:grpSpPr>
          <a:xfrm>
            <a:off x="621725" y="1162759"/>
            <a:ext cx="3425100" cy="1145489"/>
            <a:chOff x="621725" y="1454685"/>
            <a:chExt cx="3425100" cy="1431325"/>
          </a:xfrm>
        </p:grpSpPr>
        <p:sp>
          <p:nvSpPr>
            <p:cNvPr id="222" name="Google Shape;222;g261971a6cc5_1_32"/>
            <p:cNvSpPr/>
            <p:nvPr/>
          </p:nvSpPr>
          <p:spPr>
            <a:xfrm>
              <a:off x="621725" y="1454685"/>
              <a:ext cx="3425100" cy="1431300"/>
            </a:xfrm>
            <a:prstGeom prst="roundRect">
              <a:avLst>
                <a:gd fmla="val 16667" name="adj"/>
              </a:avLst>
            </a:prstGeom>
            <a:solidFill>
              <a:srgbClr val="449DA9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-ID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Goals</a:t>
              </a:r>
              <a:endParaRPr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3" name="Google Shape;223;g261971a6cc5_1_32"/>
            <p:cNvSpPr/>
            <p:nvPr/>
          </p:nvSpPr>
          <p:spPr>
            <a:xfrm>
              <a:off x="621725" y="1958710"/>
              <a:ext cx="3425100" cy="9273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just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lang="id-ID" sz="1135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Menurunkan Churn Rate dengan strategi bisnis yang tepat.</a:t>
              </a:r>
              <a:endParaRPr sz="1135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224" name="Google Shape;224;g261971a6cc5_1_32"/>
          <p:cNvGrpSpPr/>
          <p:nvPr/>
        </p:nvGrpSpPr>
        <p:grpSpPr>
          <a:xfrm>
            <a:off x="4789650" y="1374312"/>
            <a:ext cx="3425100" cy="2394868"/>
            <a:chOff x="621725" y="1140348"/>
            <a:chExt cx="3425100" cy="1542091"/>
          </a:xfrm>
        </p:grpSpPr>
        <p:sp>
          <p:nvSpPr>
            <p:cNvPr id="225" name="Google Shape;225;g261971a6cc5_1_32"/>
            <p:cNvSpPr/>
            <p:nvPr/>
          </p:nvSpPr>
          <p:spPr>
            <a:xfrm>
              <a:off x="621725" y="1140348"/>
              <a:ext cx="3425100" cy="1542000"/>
            </a:xfrm>
            <a:prstGeom prst="roundRect">
              <a:avLst>
                <a:gd fmla="val 16667" name="adj"/>
              </a:avLst>
            </a:prstGeom>
            <a:solidFill>
              <a:srgbClr val="449DA9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-ID" sz="16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Objective</a:t>
              </a:r>
              <a:endParaRPr b="1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6" name="Google Shape;226;g261971a6cc5_1_32"/>
            <p:cNvSpPr/>
            <p:nvPr/>
          </p:nvSpPr>
          <p:spPr>
            <a:xfrm>
              <a:off x="621725" y="1531639"/>
              <a:ext cx="3425100" cy="11508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203200" lvl="0" marL="285750" rtl="0" algn="just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Montserrat Medium"/>
                <a:buChar char="•"/>
              </a:pPr>
              <a:r>
                <a:rPr lang="id-ID" sz="11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Menentukan faktor yang membuat pelanggan churn</a:t>
              </a:r>
              <a:endParaRPr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203200" lvl="0" marL="285750" rtl="0" algn="just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Montserrat Medium"/>
                <a:buChar char="•"/>
              </a:pPr>
              <a:r>
                <a:rPr lang="id-ID" sz="11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Membangun model machine learning untuk melakukan prediksi pelanggan yang churn</a:t>
              </a:r>
              <a:endParaRPr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203200" lvl="0" marL="285750" rtl="0" algn="just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Montserrat Medium"/>
                <a:buChar char="•"/>
              </a:pPr>
              <a:r>
                <a:rPr lang="id-ID" sz="11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Memberikan rekomendasi bisnis sehingga Perusahaan dapat meningkatkan loyalitas dan menurunkan churn rate</a:t>
              </a:r>
              <a:endParaRPr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0" rtl="0" algn="just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35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227" name="Google Shape;227;g261971a6cc5_1_32"/>
          <p:cNvGrpSpPr/>
          <p:nvPr/>
        </p:nvGrpSpPr>
        <p:grpSpPr>
          <a:xfrm>
            <a:off x="621725" y="2824272"/>
            <a:ext cx="3425100" cy="1548852"/>
            <a:chOff x="621725" y="854051"/>
            <a:chExt cx="3425100" cy="1935339"/>
          </a:xfrm>
        </p:grpSpPr>
        <p:sp>
          <p:nvSpPr>
            <p:cNvPr id="228" name="Google Shape;228;g261971a6cc5_1_32"/>
            <p:cNvSpPr/>
            <p:nvPr/>
          </p:nvSpPr>
          <p:spPr>
            <a:xfrm>
              <a:off x="621725" y="854051"/>
              <a:ext cx="3425100" cy="1431300"/>
            </a:xfrm>
            <a:prstGeom prst="roundRect">
              <a:avLst>
                <a:gd fmla="val 16667" name="adj"/>
              </a:avLst>
            </a:prstGeom>
            <a:solidFill>
              <a:srgbClr val="449DA9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-ID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Business Metric</a:t>
              </a:r>
              <a:endParaRPr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9" name="Google Shape;229;g261971a6cc5_1_32"/>
            <p:cNvSpPr/>
            <p:nvPr/>
          </p:nvSpPr>
          <p:spPr>
            <a:xfrm>
              <a:off x="621725" y="1358090"/>
              <a:ext cx="3425100" cy="14313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304800" lvl="0" marL="457200" rtl="0" algn="just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 Medium"/>
                <a:buChar char="•"/>
              </a:pPr>
              <a:r>
                <a:rPr lang="id-ID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Turunya Churn rate yang dimiliki perusahaan E-commerce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304800" lvl="0" marL="457200" rtl="0" algn="just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 Medium"/>
                <a:buChar char="•"/>
              </a:pPr>
              <a:r>
                <a:rPr lang="id-ID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Cost yang dikeluarkan oleh perusahaan E-Commerce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0" rtl="0" algn="just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35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99e58bb0d9_2_0"/>
          <p:cNvSpPr txBox="1"/>
          <p:nvPr>
            <p:ph type="title"/>
          </p:nvPr>
        </p:nvSpPr>
        <p:spPr>
          <a:xfrm>
            <a:off x="463650" y="86050"/>
            <a:ext cx="7532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Font typeface="Montserrat"/>
              <a:buNone/>
            </a:pPr>
            <a:r>
              <a:rPr lang="id-ID">
                <a:extLst>
                  <a:ext uri="http://customooxmlschemas.google.com/">
                    <go:slidesCustomData xmlns:go="http://customooxmlschemas.google.com/" textRoundtripDataId="3"/>
                  </a:ext>
                </a:extLst>
              </a:rPr>
              <a:t>E</a:t>
            </a:r>
            <a:r>
              <a:rPr lang="id-ID"/>
              <a:t>xploratory Data Analysis (EDA)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g299e58bb0d9_2_0"/>
          <p:cNvSpPr/>
          <p:nvPr/>
        </p:nvSpPr>
        <p:spPr>
          <a:xfrm>
            <a:off x="551375" y="695225"/>
            <a:ext cx="2109000" cy="333000"/>
          </a:xfrm>
          <a:prstGeom prst="roundRect">
            <a:avLst>
              <a:gd fmla="val 16667" name="adj"/>
            </a:avLst>
          </a:prstGeom>
          <a:solidFill>
            <a:srgbClr val="0097A7"/>
          </a:solidFill>
          <a:ln>
            <a:noFill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0" lang="id-ID" sz="12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Descriptive Statistics </a:t>
            </a:r>
            <a:endParaRPr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aphicFrame>
        <p:nvGraphicFramePr>
          <p:cNvPr id="236" name="Google Shape;236;g299e58bb0d9_2_0"/>
          <p:cNvGraphicFramePr/>
          <p:nvPr/>
        </p:nvGraphicFramePr>
        <p:xfrm>
          <a:off x="551375" y="1140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{ECD88BF5-D4C9-4DB2-9CEC-7AD896469333}</a:tableStyleId>
              </a:tblPr>
              <a:tblGrid>
                <a:gridCol w="1750800"/>
                <a:gridCol w="4340775"/>
                <a:gridCol w="1825725"/>
              </a:tblGrid>
              <a:tr h="246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d-ID" sz="1100" u="none" cap="none" strike="noStrike">
                          <a:solidFill>
                            <a:schemeClr val="lt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Pengecekan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d-ID" sz="1100" u="none" cap="none" strike="noStrike">
                          <a:solidFill>
                            <a:schemeClr val="lt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Kondisi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d-ID" sz="1100" u="none" cap="none" strike="noStrike">
                          <a:solidFill>
                            <a:schemeClr val="lt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Solusi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295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d-ID" sz="11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Kolom dan Tipe Data</a:t>
                      </a:r>
                      <a:endParaRPr sz="11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d-ID" sz="11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Telah sesuai</a:t>
                      </a:r>
                      <a:endParaRPr sz="11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d-ID" sz="11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-</a:t>
                      </a:r>
                      <a:endParaRPr sz="11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318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d-ID" sz="11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Data Duplikat</a:t>
                      </a:r>
                      <a:endParaRPr sz="11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d-ID" sz="11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Tidak Ada</a:t>
                      </a:r>
                      <a:endParaRPr sz="11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d-ID" sz="11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-</a:t>
                      </a:r>
                      <a:endParaRPr sz="11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342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d-ID" sz="11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Missing Value</a:t>
                      </a:r>
                      <a:endParaRPr sz="11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id-ID" sz="11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 dari 20</a:t>
                      </a:r>
                      <a:r>
                        <a:rPr lang="id-ID" sz="11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kolom terdapat missing value dengan persentase </a:t>
                      </a:r>
                      <a:r>
                        <a:rPr b="1" lang="id-ID" sz="11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&lt; 5%</a:t>
                      </a:r>
                      <a:endParaRPr b="1"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id-ID" sz="1100" u="none" cap="none" strike="noStrik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Handling Missing Value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d-ID" sz="1100" u="none" cap="none" strike="noStrik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Imputation berdasarkan sebaran/distribusi datanya (Median)</a:t>
                      </a:r>
                      <a:endParaRPr sz="11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342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d-ID" sz="11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Statistical Summary</a:t>
                      </a:r>
                      <a:endParaRPr sz="11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d-ID" sz="11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Data Numerical</a:t>
                      </a:r>
                      <a:endParaRPr sz="11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d-ID" sz="1100" u="none" cap="none" strike="noStrik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Beberapa kolom/feature sudah cukup simetrik distribusinya (mean dan median tidak terlalu jauh), namun ada beberapa kolom yang dengan sebaran skew.</a:t>
                      </a:r>
                      <a:endParaRPr sz="1100" u="none" cap="none" strike="noStrik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-ID" sz="1100" u="none" cap="none" strike="noStrike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Data Categorical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-ID" sz="1100" u="none" cap="none" strike="noStrike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Terdapat beberapa kategori yang sebenarnya 1 pengertian, Tetapi dibuat dalam 2 definisi.</a:t>
                      </a:r>
                      <a:endParaRPr sz="1100" u="none" cap="none" strike="noStrik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id-ID" sz="1100" u="none" cap="none" strike="noStrik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Handling Outlier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d-ID" sz="1100" u="none" cap="none" strike="noStrik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Menggunakan Z-Score</a:t>
                      </a:r>
                      <a:endParaRPr sz="1100" u="none" cap="none" strike="noStrik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id-ID" sz="1100" u="none" cap="none" strike="noStrike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Handling </a:t>
                      </a:r>
                      <a:r>
                        <a:rPr lang="id-ID" sz="1100" u="none" cap="none" strike="noStrike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dengan cara menggabungkannya menjadi satu kategori</a:t>
                      </a:r>
                      <a:endParaRPr sz="1100" u="none" cap="none" strike="noStrik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097" y="1315786"/>
            <a:ext cx="7878550" cy="3453939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5"/>
          <p:cNvSpPr/>
          <p:nvPr/>
        </p:nvSpPr>
        <p:spPr>
          <a:xfrm>
            <a:off x="593100" y="554725"/>
            <a:ext cx="2109000" cy="333000"/>
          </a:xfrm>
          <a:prstGeom prst="roundRect">
            <a:avLst>
              <a:gd fmla="val 16667" name="adj"/>
            </a:avLst>
          </a:prstGeom>
          <a:solidFill>
            <a:srgbClr val="0097A7"/>
          </a:solidFill>
          <a:ln>
            <a:noFill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-ID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Univariate Analysis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5"/>
          <p:cNvSpPr txBox="1"/>
          <p:nvPr/>
        </p:nvSpPr>
        <p:spPr>
          <a:xfrm>
            <a:off x="593102" y="1067600"/>
            <a:ext cx="2109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id-ID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Numerik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61852344e8_6_3"/>
          <p:cNvSpPr txBox="1"/>
          <p:nvPr/>
        </p:nvSpPr>
        <p:spPr>
          <a:xfrm>
            <a:off x="6373075" y="857325"/>
            <a:ext cx="24480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id-ID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Solusi:</a:t>
            </a:r>
            <a:endParaRPr b="1" i="0" sz="1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id-ID" sz="11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Handling Outlier</a:t>
            </a:r>
            <a:endParaRPr i="0" sz="11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id-ID" sz="11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Opsi yang kami pilih yaitu menggunakan </a:t>
            </a:r>
            <a:r>
              <a:rPr b="1" i="0" lang="id-ID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Z-Score</a:t>
            </a:r>
            <a:r>
              <a:rPr i="0" lang="id-ID" sz="11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karena lebih smooth, menimbang bahwa jumlah data yang dimiliki tidak terlalu banyak karena penggunaan metode lain seperti IQR tidaklah cocok karena terlalu ekstrim.</a:t>
            </a:r>
            <a:endParaRPr i="0" sz="11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9" name="Google Shape;249;g261852344e8_6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4437" y="857313"/>
            <a:ext cx="5768626" cy="3844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g299e58bb0d9_2_50"/>
          <p:cNvPicPr preferRelativeResize="0"/>
          <p:nvPr/>
        </p:nvPicPr>
        <p:blipFill rotWithShape="1">
          <a:blip r:embed="rId3">
            <a:alphaModFix/>
          </a:blip>
          <a:srcRect b="51397" l="0" r="33297" t="0"/>
          <a:stretch/>
        </p:blipFill>
        <p:spPr>
          <a:xfrm>
            <a:off x="679075" y="831975"/>
            <a:ext cx="7754525" cy="246855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g299e58bb0d9_2_50"/>
          <p:cNvSpPr txBox="1"/>
          <p:nvPr/>
        </p:nvSpPr>
        <p:spPr>
          <a:xfrm>
            <a:off x="679077" y="440075"/>
            <a:ext cx="2109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id-ID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Kategorik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g299e58bb0d9_2_50"/>
          <p:cNvSpPr txBox="1"/>
          <p:nvPr/>
        </p:nvSpPr>
        <p:spPr>
          <a:xfrm>
            <a:off x="5904898" y="3300525"/>
            <a:ext cx="2448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id-ID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Solusi:</a:t>
            </a:r>
            <a:endParaRPr b="1" i="0" sz="1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0" lang="id-ID" sz="11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Menggabungkannya ke dalam satu kategori</a:t>
            </a:r>
            <a:endParaRPr i="0" sz="11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57" name="Google Shape;257;g299e58bb0d9_2_50"/>
          <p:cNvSpPr txBox="1"/>
          <p:nvPr/>
        </p:nvSpPr>
        <p:spPr>
          <a:xfrm>
            <a:off x="1572303" y="601999"/>
            <a:ext cx="46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d-ID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⬇️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g299e58bb0d9_2_50"/>
          <p:cNvSpPr txBox="1"/>
          <p:nvPr/>
        </p:nvSpPr>
        <p:spPr>
          <a:xfrm>
            <a:off x="2589928" y="1450499"/>
            <a:ext cx="46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d-ID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⬇️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g299e58bb0d9_2_50"/>
          <p:cNvSpPr txBox="1"/>
          <p:nvPr/>
        </p:nvSpPr>
        <p:spPr>
          <a:xfrm>
            <a:off x="6074728" y="1926899"/>
            <a:ext cx="46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d-ID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⬇️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g299e58bb0d9_2_50"/>
          <p:cNvSpPr txBox="1"/>
          <p:nvPr/>
        </p:nvSpPr>
        <p:spPr>
          <a:xfrm>
            <a:off x="7887303" y="1109299"/>
            <a:ext cx="46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d-ID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⬇️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299e58bb0d9_2_50"/>
          <p:cNvSpPr txBox="1"/>
          <p:nvPr/>
        </p:nvSpPr>
        <p:spPr>
          <a:xfrm>
            <a:off x="6540328" y="2003099"/>
            <a:ext cx="46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d-ID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⬇️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299e58bb0d9_2_50"/>
          <p:cNvSpPr txBox="1"/>
          <p:nvPr/>
        </p:nvSpPr>
        <p:spPr>
          <a:xfrm>
            <a:off x="7421703" y="1853799"/>
            <a:ext cx="46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d-ID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⬇️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6"/>
          <p:cNvSpPr/>
          <p:nvPr/>
        </p:nvSpPr>
        <p:spPr>
          <a:xfrm>
            <a:off x="593100" y="554725"/>
            <a:ext cx="2109000" cy="333000"/>
          </a:xfrm>
          <a:prstGeom prst="roundRect">
            <a:avLst>
              <a:gd fmla="val 16667" name="adj"/>
            </a:avLst>
          </a:prstGeom>
          <a:solidFill>
            <a:srgbClr val="449DA9"/>
          </a:solidFill>
          <a:ln>
            <a:noFill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-ID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Multivariate Analysis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6"/>
          <p:cNvSpPr txBox="1"/>
          <p:nvPr/>
        </p:nvSpPr>
        <p:spPr>
          <a:xfrm>
            <a:off x="593100" y="1147900"/>
            <a:ext cx="7450800" cy="11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id-ID" sz="18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b="1" i="0" lang="id-ID" sz="185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hurn</a:t>
            </a:r>
            <a:r>
              <a:rPr b="1" i="0" lang="id-ID" sz="185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i="0" lang="id-ID" sz="185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memiliki korelasi positif dengan </a:t>
            </a:r>
            <a:r>
              <a:rPr b="1" i="0" lang="id-ID" sz="185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complain</a:t>
            </a:r>
            <a:r>
              <a:rPr i="0" lang="id-ID" sz="185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b="1" i="0" lang="id-ID" sz="185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SatisfactionScore</a:t>
            </a:r>
            <a:r>
              <a:rPr i="0" lang="id-ID" sz="185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b="1" i="0" lang="id-ID" sz="185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NumberOfDeviceRegistered </a:t>
            </a:r>
            <a:r>
              <a:rPr i="0" lang="id-ID" sz="185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dan </a:t>
            </a:r>
            <a:r>
              <a:rPr b="1" i="0" lang="id-ID" sz="185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CityTier </a:t>
            </a:r>
            <a:r>
              <a:rPr i="0" lang="id-ID" sz="185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(decent potential feature).</a:t>
            </a:r>
            <a:endParaRPr i="0" sz="1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9" name="Google Shape;269;p6"/>
          <p:cNvSpPr txBox="1"/>
          <p:nvPr/>
        </p:nvSpPr>
        <p:spPr>
          <a:xfrm>
            <a:off x="593100" y="2769425"/>
            <a:ext cx="6816600" cy="12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id-ID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Korelasi positif kuat:</a:t>
            </a:r>
            <a:endParaRPr b="1" sz="11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id-ID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Tenure </a:t>
            </a:r>
            <a:r>
              <a:rPr lang="id-ID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memiliki korelasi positif cukup kuat dengan </a:t>
            </a:r>
            <a:r>
              <a:rPr b="1" lang="id-ID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CashbackAmount</a:t>
            </a:r>
            <a:r>
              <a:rPr lang="id-ID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(0.48); </a:t>
            </a:r>
            <a:r>
              <a:rPr b="1" lang="id-ID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CustomerID </a:t>
            </a:r>
            <a:r>
              <a:rPr lang="id-ID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dengan </a:t>
            </a:r>
            <a:r>
              <a:rPr b="1" lang="id-ID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HourSpendOnApp </a:t>
            </a:r>
            <a:r>
              <a:rPr lang="id-ID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(0.6) ; </a:t>
            </a:r>
            <a:r>
              <a:rPr b="1" lang="id-ID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CouponUsed </a:t>
            </a:r>
            <a:r>
              <a:rPr lang="id-ID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dengan </a:t>
            </a:r>
            <a:r>
              <a:rPr b="1" lang="id-ID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OrderCount</a:t>
            </a:r>
            <a:r>
              <a:rPr lang="id-ID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(0.75), </a:t>
            </a:r>
            <a:r>
              <a:rPr b="1" lang="id-ID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OrderCount </a:t>
            </a:r>
            <a:r>
              <a:rPr lang="id-ID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dengan </a:t>
            </a:r>
            <a:r>
              <a:rPr b="1" lang="id-ID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DaySinceLastOrder </a:t>
            </a:r>
            <a:r>
              <a:rPr lang="id-ID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(0.5), Ada kemungkinan </a:t>
            </a:r>
            <a:r>
              <a:rPr i="1" lang="id-ID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feature</a:t>
            </a:r>
            <a:r>
              <a:rPr lang="id-ID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ini redundan (dipilih salah satunya saja untuk training data)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99f35306fe_0_1"/>
          <p:cNvSpPr/>
          <p:nvPr/>
        </p:nvSpPr>
        <p:spPr>
          <a:xfrm>
            <a:off x="5586050" y="1665275"/>
            <a:ext cx="3279000" cy="1137300"/>
          </a:xfrm>
          <a:prstGeom prst="roundRect">
            <a:avLst>
              <a:gd fmla="val 16667" name="adj"/>
            </a:avLst>
          </a:prstGeom>
          <a:solidFill>
            <a:srgbClr val="449D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id-ID" sz="16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Churn</a:t>
            </a:r>
            <a:r>
              <a:rPr b="1" lang="id-ID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id-ID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cenderung terjadi pada customer dengan </a:t>
            </a:r>
            <a:r>
              <a:rPr b="1" lang="id-ID" sz="17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loyalitas yang rendah</a:t>
            </a:r>
            <a:r>
              <a:rPr lang="id-ID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atau belum terlalu lama menggunakan layanan. </a:t>
            </a: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75" name="Google Shape;275;g299f35306fe_0_1"/>
          <p:cNvSpPr txBox="1"/>
          <p:nvPr>
            <p:ph type="title"/>
          </p:nvPr>
        </p:nvSpPr>
        <p:spPr>
          <a:xfrm>
            <a:off x="375438" y="160338"/>
            <a:ext cx="8393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Font typeface="Montserrat"/>
              <a:buNone/>
            </a:pPr>
            <a:r>
              <a:rPr lang="id-ID"/>
              <a:t>Business Insight</a:t>
            </a:r>
            <a:br>
              <a:rPr b="0" lang="id-ID"/>
            </a:br>
            <a:endParaRPr/>
          </a:p>
        </p:txBody>
      </p:sp>
      <p:pic>
        <p:nvPicPr>
          <p:cNvPr id="276" name="Google Shape;276;g299f35306fe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9575" y="1298725"/>
            <a:ext cx="5013499" cy="344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g299f35306fe_0_1"/>
          <p:cNvSpPr/>
          <p:nvPr/>
        </p:nvSpPr>
        <p:spPr>
          <a:xfrm>
            <a:off x="580250" y="849388"/>
            <a:ext cx="2109000" cy="333000"/>
          </a:xfrm>
          <a:prstGeom prst="roundRect">
            <a:avLst>
              <a:gd fmla="val 16667" name="adj"/>
            </a:avLst>
          </a:prstGeom>
          <a:solidFill>
            <a:srgbClr val="449DA9"/>
          </a:solidFill>
          <a:ln>
            <a:noFill/>
          </a:ln>
          <a:effectLst>
            <a:outerShdw blurRad="40000" rotWithShape="0" dir="5400000" dist="20000">
              <a:srgbClr val="000000">
                <a:alpha val="3686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id-ID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Churn berdasarkan Tenure</a:t>
            </a:r>
            <a:endParaRPr b="1" i="0" sz="1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g261971a6cc5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850" y="1298725"/>
            <a:ext cx="5994100" cy="3084324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g261971a6cc5_0_9"/>
          <p:cNvSpPr txBox="1"/>
          <p:nvPr>
            <p:ph type="title"/>
          </p:nvPr>
        </p:nvSpPr>
        <p:spPr>
          <a:xfrm>
            <a:off x="375438" y="160338"/>
            <a:ext cx="8393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Font typeface="Montserrat"/>
              <a:buNone/>
            </a:pPr>
            <a:r>
              <a:rPr lang="id-ID"/>
              <a:t>Business Insight</a:t>
            </a:r>
            <a:br>
              <a:rPr b="0" lang="id-ID"/>
            </a:br>
            <a:endParaRPr/>
          </a:p>
        </p:txBody>
      </p:sp>
      <p:sp>
        <p:nvSpPr>
          <p:cNvPr id="284" name="Google Shape;284;g261971a6cc5_0_9"/>
          <p:cNvSpPr/>
          <p:nvPr/>
        </p:nvSpPr>
        <p:spPr>
          <a:xfrm>
            <a:off x="605975" y="804674"/>
            <a:ext cx="1670100" cy="301200"/>
          </a:xfrm>
          <a:prstGeom prst="roundRect">
            <a:avLst>
              <a:gd fmla="val 16667" name="adj"/>
            </a:avLst>
          </a:prstGeom>
          <a:solidFill>
            <a:srgbClr val="449DA9"/>
          </a:solidFill>
          <a:ln>
            <a:noFill/>
          </a:ln>
          <a:effectLst>
            <a:outerShdw blurRad="40000" rotWithShape="0" dir="5400000" dist="20000">
              <a:srgbClr val="000000">
                <a:alpha val="3686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d-ID" sz="105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PreferedOrderCat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5" name="Google Shape;285;g261971a6cc5_0_9"/>
          <p:cNvSpPr/>
          <p:nvPr/>
        </p:nvSpPr>
        <p:spPr>
          <a:xfrm>
            <a:off x="6377950" y="1433100"/>
            <a:ext cx="2514600" cy="2651400"/>
          </a:xfrm>
          <a:prstGeom prst="roundRect">
            <a:avLst>
              <a:gd fmla="val 16667" name="adj"/>
            </a:avLst>
          </a:prstGeom>
          <a:solidFill>
            <a:srgbClr val="449D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id-ID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Mobile Phone dan Mobile memiliki </a:t>
            </a:r>
            <a:r>
              <a:rPr b="1" lang="id-ID" sz="16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Churn rate tertinggi</a:t>
            </a:r>
            <a:endParaRPr b="1" sz="16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Char char="●"/>
            </a:pPr>
            <a:r>
              <a:rPr lang="id-ID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Laptop Accessory memiliki jumlah user yang paling banyak tetapi </a:t>
            </a:r>
            <a:r>
              <a:rPr b="1" lang="id-ID" sz="16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Churn ratenya rendah</a:t>
            </a:r>
            <a:endParaRPr b="1" sz="16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8"/>
          <p:cNvSpPr txBox="1"/>
          <p:nvPr>
            <p:ph type="title"/>
          </p:nvPr>
        </p:nvSpPr>
        <p:spPr>
          <a:xfrm>
            <a:off x="370338" y="160338"/>
            <a:ext cx="8393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Font typeface="Montserrat"/>
              <a:buNone/>
            </a:pPr>
            <a:r>
              <a:rPr lang="id-ID"/>
              <a:t>Business Insight</a:t>
            </a:r>
            <a:br>
              <a:rPr b="0" lang="id-ID"/>
            </a:br>
            <a:endParaRPr/>
          </a:p>
        </p:txBody>
      </p:sp>
      <p:sp>
        <p:nvSpPr>
          <p:cNvPr id="291" name="Google Shape;291;p8"/>
          <p:cNvSpPr/>
          <p:nvPr/>
        </p:nvSpPr>
        <p:spPr>
          <a:xfrm>
            <a:off x="529253" y="733048"/>
            <a:ext cx="1803000" cy="356400"/>
          </a:xfrm>
          <a:prstGeom prst="roundRect">
            <a:avLst>
              <a:gd fmla="val 16667" name="adj"/>
            </a:avLst>
          </a:prstGeom>
          <a:solidFill>
            <a:srgbClr val="449DA9"/>
          </a:solidFill>
          <a:ln>
            <a:noFill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-ID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Churn berdasarkan complain</a:t>
            </a:r>
            <a:endParaRPr b="1" i="0" sz="1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92" name="Google Shape;29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9250" y="1413612"/>
            <a:ext cx="4735725" cy="266032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8"/>
          <p:cNvSpPr/>
          <p:nvPr/>
        </p:nvSpPr>
        <p:spPr>
          <a:xfrm>
            <a:off x="5537925" y="2174700"/>
            <a:ext cx="2919000" cy="794100"/>
          </a:xfrm>
          <a:prstGeom prst="roundRect">
            <a:avLst>
              <a:gd fmla="val 16667" name="adj"/>
            </a:avLst>
          </a:prstGeom>
          <a:solidFill>
            <a:srgbClr val="449D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id-ID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Customer </a:t>
            </a:r>
            <a:r>
              <a:rPr lang="id-ID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yang melakukan </a:t>
            </a:r>
            <a:r>
              <a:rPr i="1" lang="id-ID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complain </a:t>
            </a:r>
            <a:r>
              <a:rPr lang="id-ID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memiliki persentase </a:t>
            </a:r>
            <a:r>
              <a:rPr b="1" lang="id-ID" sz="16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31.67%</a:t>
            </a:r>
            <a:r>
              <a:rPr lang="id-ID" sz="16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2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1"/>
          <p:cNvSpPr/>
          <p:nvPr/>
        </p:nvSpPr>
        <p:spPr>
          <a:xfrm>
            <a:off x="6320600" y="1418975"/>
            <a:ext cx="2595000" cy="2207100"/>
          </a:xfrm>
          <a:prstGeom prst="roundRect">
            <a:avLst>
              <a:gd fmla="val 16667" name="adj"/>
            </a:avLst>
          </a:prstGeom>
          <a:solidFill>
            <a:srgbClr val="449D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id-ID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r>
              <a:rPr lang="id-ID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textRoundtripDataId="4"/>
                  </a:ext>
                </a:extLst>
              </a:rPr>
              <a:t>erdasarkan jumlah order nya, pengguna dengan order yang sedikit, atau dapat dikatakan </a:t>
            </a:r>
            <a:r>
              <a:rPr b="1" lang="id-ID" sz="16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textRoundtripDataId="5"/>
                  </a:ext>
                </a:extLst>
              </a:rPr>
              <a:t>order count </a:t>
            </a:r>
            <a:r>
              <a:rPr b="1" lang="id-ID" sz="16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1-2</a:t>
            </a:r>
            <a:r>
              <a:rPr lang="id-ID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textRoundtripDataId="6"/>
                  </a:ext>
                </a:extLst>
              </a:rPr>
              <a:t> cenderung melakukan </a:t>
            </a:r>
            <a:r>
              <a:rPr b="1" lang="id-ID" sz="16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textRoundtripDataId="7"/>
                  </a:ext>
                </a:extLst>
              </a:rPr>
              <a:t>churn</a:t>
            </a:r>
            <a:r>
              <a:rPr lang="id-ID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textRoundtripDataId="8"/>
                  </a:ext>
                </a:extLst>
              </a:rPr>
              <a:t> dibanding</a:t>
            </a:r>
            <a:r>
              <a:rPr lang="id-ID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customer yang sudah melakukan banyak order atau pembelian produk. 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9" name="Google Shape;299;p11"/>
          <p:cNvSpPr txBox="1"/>
          <p:nvPr>
            <p:ph type="title"/>
          </p:nvPr>
        </p:nvSpPr>
        <p:spPr>
          <a:xfrm>
            <a:off x="370338" y="160338"/>
            <a:ext cx="8393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Font typeface="Montserrat"/>
              <a:buNone/>
            </a:pPr>
            <a:r>
              <a:rPr lang="id-ID"/>
              <a:t>Business Insight</a:t>
            </a:r>
            <a:br>
              <a:rPr b="0" lang="id-ID"/>
            </a:br>
            <a:endParaRPr/>
          </a:p>
        </p:txBody>
      </p:sp>
      <p:pic>
        <p:nvPicPr>
          <p:cNvPr id="300" name="Google Shape;30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8623" y="1124125"/>
            <a:ext cx="5615450" cy="309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1"/>
          <p:cNvSpPr/>
          <p:nvPr/>
        </p:nvSpPr>
        <p:spPr>
          <a:xfrm>
            <a:off x="490444" y="733042"/>
            <a:ext cx="1803000" cy="356400"/>
          </a:xfrm>
          <a:prstGeom prst="roundRect">
            <a:avLst>
              <a:gd fmla="val 16667" name="adj"/>
            </a:avLst>
          </a:prstGeom>
          <a:solidFill>
            <a:srgbClr val="449DA9"/>
          </a:solidFill>
          <a:ln>
            <a:noFill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-ID" sz="9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Cashback Amount vs  OrderCount</a:t>
            </a:r>
            <a:endParaRPr b="1" i="0" sz="1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g299f35306fe_1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875" y="1374113"/>
            <a:ext cx="4489600" cy="324397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g299f35306fe_1_6"/>
          <p:cNvSpPr txBox="1"/>
          <p:nvPr>
            <p:ph type="title"/>
          </p:nvPr>
        </p:nvSpPr>
        <p:spPr>
          <a:xfrm>
            <a:off x="370338" y="160338"/>
            <a:ext cx="8393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Font typeface="Montserrat"/>
              <a:buNone/>
            </a:pPr>
            <a:r>
              <a:rPr lang="id-ID"/>
              <a:t>Business Insight</a:t>
            </a:r>
            <a:br>
              <a:rPr b="0" lang="id-ID"/>
            </a:br>
            <a:endParaRPr/>
          </a:p>
        </p:txBody>
      </p:sp>
      <p:sp>
        <p:nvSpPr>
          <p:cNvPr id="308" name="Google Shape;308;g299f35306fe_1_6"/>
          <p:cNvSpPr txBox="1"/>
          <p:nvPr/>
        </p:nvSpPr>
        <p:spPr>
          <a:xfrm>
            <a:off x="5246550" y="2766475"/>
            <a:ext cx="3238500" cy="15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id-ID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</a:t>
            </a:r>
            <a:r>
              <a:rPr i="1" lang="id-ID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Wanita lebih suka berbelanja dan merupakan customer yang lebih baik dibandingkan pria. Salah satu alasan wanita menyukai 'shopping' atau berbelanja adalah naluri wanita yang selalu ingin mengumpulkan sesuatu." </a:t>
            </a:r>
            <a:endParaRPr i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-ID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sumber:</a:t>
            </a:r>
            <a:r>
              <a:rPr b="1" lang="id-ID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id-ID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Mag for Women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9" name="Google Shape;309;g299f35306fe_1_6"/>
          <p:cNvSpPr/>
          <p:nvPr/>
        </p:nvSpPr>
        <p:spPr>
          <a:xfrm>
            <a:off x="5246550" y="1374125"/>
            <a:ext cx="3691800" cy="1266900"/>
          </a:xfrm>
          <a:prstGeom prst="roundRect">
            <a:avLst>
              <a:gd fmla="val 16667" name="adj"/>
            </a:avLst>
          </a:prstGeom>
          <a:solidFill>
            <a:srgbClr val="449D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-ID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Jumlah Customer </a:t>
            </a:r>
            <a:r>
              <a:rPr b="1" lang="id-ID" sz="16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pria</a:t>
            </a:r>
            <a:r>
              <a:rPr b="1" lang="id-ID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id-ID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lebih banyak dibandingkan </a:t>
            </a:r>
            <a:r>
              <a:rPr b="1" lang="id-ID" sz="16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wanita</a:t>
            </a:r>
            <a:r>
              <a:rPr lang="id-ID" sz="12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,</a:t>
            </a:r>
            <a:r>
              <a:rPr lang="id-ID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Jumlah Customer </a:t>
            </a:r>
            <a:r>
              <a:rPr b="1" lang="id-ID" sz="16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pria</a:t>
            </a:r>
            <a:r>
              <a:rPr lang="id-ID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yang </a:t>
            </a:r>
            <a:r>
              <a:rPr b="1" lang="id-ID" sz="16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churn</a:t>
            </a:r>
            <a:r>
              <a:rPr lang="id-ID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juga lebih banyak dari </a:t>
            </a:r>
            <a:r>
              <a:rPr b="1" lang="id-ID" sz="16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wanita</a:t>
            </a:r>
            <a:r>
              <a:rPr lang="id-ID" sz="12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endParaRPr sz="18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0" name="Google Shape;310;g299f35306fe_1_6"/>
          <p:cNvSpPr/>
          <p:nvPr/>
        </p:nvSpPr>
        <p:spPr>
          <a:xfrm>
            <a:off x="490444" y="733042"/>
            <a:ext cx="1803000" cy="356400"/>
          </a:xfrm>
          <a:prstGeom prst="roundRect">
            <a:avLst>
              <a:gd fmla="val 16667" name="adj"/>
            </a:avLst>
          </a:prstGeom>
          <a:solidFill>
            <a:srgbClr val="449DA9"/>
          </a:solidFill>
          <a:ln>
            <a:noFill/>
          </a:ln>
          <a:effectLst>
            <a:outerShdw blurRad="40000" rotWithShape="0" dir="5400000" dist="20000">
              <a:srgbClr val="000000">
                <a:alpha val="3686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id-ID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Churn Berdasarkan Gender</a:t>
            </a:r>
            <a:endParaRPr b="1" i="0" sz="1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99f35306fe_1_34"/>
          <p:cNvSpPr txBox="1"/>
          <p:nvPr>
            <p:ph type="title"/>
          </p:nvPr>
        </p:nvSpPr>
        <p:spPr>
          <a:xfrm>
            <a:off x="391725" y="140225"/>
            <a:ext cx="8393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Font typeface="Montserrat"/>
              <a:buNone/>
            </a:pPr>
            <a:r>
              <a:rPr lang="id-ID"/>
              <a:t>Pre-Processing</a:t>
            </a:r>
            <a:endParaRPr/>
          </a:p>
        </p:txBody>
      </p:sp>
      <p:pic>
        <p:nvPicPr>
          <p:cNvPr id="316" name="Google Shape;316;g299f35306fe_1_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1950" y="1331463"/>
            <a:ext cx="2681825" cy="3600175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g299f35306fe_1_34"/>
          <p:cNvSpPr txBox="1"/>
          <p:nvPr/>
        </p:nvSpPr>
        <p:spPr>
          <a:xfrm>
            <a:off x="3490550" y="1448938"/>
            <a:ext cx="441900" cy="3218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18" name="Google Shape;318;g299f35306fe_1_34"/>
          <p:cNvSpPr/>
          <p:nvPr/>
        </p:nvSpPr>
        <p:spPr>
          <a:xfrm>
            <a:off x="4572000" y="1448950"/>
            <a:ext cx="4057200" cy="3482700"/>
          </a:xfrm>
          <a:prstGeom prst="roundRect">
            <a:avLst>
              <a:gd fmla="val 16667" name="adj"/>
            </a:avLst>
          </a:prstGeom>
          <a:solidFill>
            <a:srgbClr val="449DA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Dalam data E-Commerce tidak terdapat data data duplikat tetapi dapat missing value pada kolom :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AutoNum type="arabicPeriod"/>
            </a:pPr>
            <a:r>
              <a:rPr b="1" lang="id-ID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DaySinceLastOrder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AutoNum type="arabicPeriod"/>
            </a:pPr>
            <a:r>
              <a:rPr b="1" lang="id-ID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OrderAmountHikeFromlastYear, 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AutoNum type="arabicPeriod"/>
            </a:pPr>
            <a:r>
              <a:rPr b="1" lang="id-ID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Tenure,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AutoNum type="arabicPeriod"/>
            </a:pPr>
            <a:r>
              <a:rPr b="1" lang="id-ID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OrderCount,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AutoNum type="arabicPeriod"/>
            </a:pPr>
            <a:r>
              <a:rPr b="1" lang="id-ID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CouponUsed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AutoNum type="arabicPeriod"/>
            </a:pPr>
            <a:r>
              <a:rPr b="1" lang="id-ID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HourSpendOnApp,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AutoNum type="arabicPeriod"/>
            </a:pPr>
            <a:r>
              <a:rPr b="1" lang="id-ID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WarehouseToHome, 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-ID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kami mengganti missing value menggunakan </a:t>
            </a:r>
            <a:r>
              <a:rPr b="1" lang="id-ID" sz="19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Median</a:t>
            </a:r>
            <a:r>
              <a:rPr b="1" lang="id-ID" sz="20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b="1" sz="20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319" name="Google Shape;319;g299f35306fe_1_34"/>
          <p:cNvSpPr/>
          <p:nvPr/>
        </p:nvSpPr>
        <p:spPr>
          <a:xfrm>
            <a:off x="490444" y="733042"/>
            <a:ext cx="1803000" cy="356400"/>
          </a:xfrm>
          <a:prstGeom prst="roundRect">
            <a:avLst>
              <a:gd fmla="val 16667" name="adj"/>
            </a:avLst>
          </a:prstGeom>
          <a:solidFill>
            <a:srgbClr val="449DA9"/>
          </a:solidFill>
          <a:ln>
            <a:noFill/>
          </a:ln>
          <a:effectLst>
            <a:outerShdw blurRad="40000" rotWithShape="0" dir="5400000" dist="20000">
              <a:srgbClr val="000000">
                <a:alpha val="3686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id-ID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Handling Missing Value</a:t>
            </a:r>
            <a:endParaRPr b="1" i="0" sz="1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6139ef02b5_0_0"/>
          <p:cNvSpPr txBox="1"/>
          <p:nvPr>
            <p:ph type="title"/>
          </p:nvPr>
        </p:nvSpPr>
        <p:spPr>
          <a:xfrm>
            <a:off x="391725" y="140225"/>
            <a:ext cx="8393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Font typeface="Montserrat"/>
              <a:buNone/>
            </a:pPr>
            <a:r>
              <a:rPr lang="id-ID"/>
              <a:t>Pre-Processing</a:t>
            </a:r>
            <a:endParaRPr/>
          </a:p>
        </p:txBody>
      </p:sp>
      <p:pic>
        <p:nvPicPr>
          <p:cNvPr id="325" name="Google Shape;325;g26139ef02b5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0463" y="1426363"/>
            <a:ext cx="2046575" cy="3607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g26139ef02b5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7050" y="1353950"/>
            <a:ext cx="2131728" cy="3752524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g26139ef02b5_0_0"/>
          <p:cNvSpPr txBox="1"/>
          <p:nvPr/>
        </p:nvSpPr>
        <p:spPr>
          <a:xfrm>
            <a:off x="391725" y="1087375"/>
            <a:ext cx="769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id-ID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sebelum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g26139ef02b5_0_0"/>
          <p:cNvSpPr txBox="1"/>
          <p:nvPr/>
        </p:nvSpPr>
        <p:spPr>
          <a:xfrm>
            <a:off x="2537025" y="1087375"/>
            <a:ext cx="769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id-ID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sesudah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g26139ef02b5_0_0"/>
          <p:cNvSpPr txBox="1"/>
          <p:nvPr/>
        </p:nvSpPr>
        <p:spPr>
          <a:xfrm>
            <a:off x="1178875" y="1564525"/>
            <a:ext cx="271200" cy="334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26139ef02b5_0_0"/>
          <p:cNvSpPr txBox="1"/>
          <p:nvPr/>
        </p:nvSpPr>
        <p:spPr>
          <a:xfrm>
            <a:off x="1378175" y="2187150"/>
            <a:ext cx="271200" cy="693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g26139ef02b5_0_0"/>
          <p:cNvSpPr txBox="1"/>
          <p:nvPr/>
        </p:nvSpPr>
        <p:spPr>
          <a:xfrm>
            <a:off x="1450075" y="3687175"/>
            <a:ext cx="294900" cy="5865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g26139ef02b5_0_0"/>
          <p:cNvSpPr txBox="1"/>
          <p:nvPr/>
        </p:nvSpPr>
        <p:spPr>
          <a:xfrm>
            <a:off x="907150" y="3177825"/>
            <a:ext cx="294900" cy="198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26139ef02b5_0_0"/>
          <p:cNvSpPr txBox="1"/>
          <p:nvPr/>
        </p:nvSpPr>
        <p:spPr>
          <a:xfrm>
            <a:off x="1012275" y="4560800"/>
            <a:ext cx="239100" cy="2988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g26139ef02b5_0_0"/>
          <p:cNvSpPr/>
          <p:nvPr/>
        </p:nvSpPr>
        <p:spPr>
          <a:xfrm>
            <a:off x="490444" y="733042"/>
            <a:ext cx="1803000" cy="356400"/>
          </a:xfrm>
          <a:prstGeom prst="roundRect">
            <a:avLst>
              <a:gd fmla="val 16667" name="adj"/>
            </a:avLst>
          </a:prstGeom>
          <a:solidFill>
            <a:srgbClr val="449DA9"/>
          </a:solidFill>
          <a:ln>
            <a:noFill/>
          </a:ln>
          <a:effectLst>
            <a:outerShdw blurRad="40000" rotWithShape="0" dir="5400000" dist="20000">
              <a:srgbClr val="000000">
                <a:alpha val="3686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id-ID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Handling Data Categorical</a:t>
            </a:r>
            <a:endParaRPr b="1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5" name="Google Shape;335;g26139ef02b5_0_0"/>
          <p:cNvSpPr/>
          <p:nvPr/>
        </p:nvSpPr>
        <p:spPr>
          <a:xfrm>
            <a:off x="5181000" y="1380900"/>
            <a:ext cx="3459600" cy="3356400"/>
          </a:xfrm>
          <a:prstGeom prst="roundRect">
            <a:avLst>
              <a:gd fmla="val 16667" name="adj"/>
            </a:avLst>
          </a:prstGeom>
          <a:solidFill>
            <a:srgbClr val="449D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-ID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Kategori yang 1 pengertian, tetapi dibuat dalam 2 definisi: 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AutoNum type="arabicPeriod"/>
            </a:pPr>
            <a:r>
              <a:rPr lang="id-ID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Perangkat login </a:t>
            </a:r>
            <a:r>
              <a:rPr b="1" lang="id-ID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Phone </a:t>
            </a:r>
            <a:r>
              <a:rPr lang="id-ID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disatukan dengan </a:t>
            </a:r>
            <a:r>
              <a:rPr b="1" lang="id-ID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Mobile Phone</a:t>
            </a:r>
            <a:endParaRPr b="1"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AutoNum type="arabicPeriod"/>
            </a:pPr>
            <a:r>
              <a:rPr lang="id-ID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Metode pembayaran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-ID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CC </a:t>
            </a:r>
            <a:r>
              <a:rPr lang="id-ID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disatukan dengan </a:t>
            </a:r>
            <a:r>
              <a:rPr b="1" lang="id-ID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Credit Card</a:t>
            </a:r>
            <a:r>
              <a:rPr lang="id-ID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AutoNum type="arabicPeriod"/>
            </a:pPr>
            <a:r>
              <a:rPr lang="id-ID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Metode pembayaran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-ID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COD </a:t>
            </a:r>
            <a:r>
              <a:rPr lang="id-ID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disatukan dengan </a:t>
            </a:r>
            <a:r>
              <a:rPr b="1" lang="id-ID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Cash on Delivery.</a:t>
            </a:r>
            <a:r>
              <a:rPr lang="id-ID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-ID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nilai ini akan dilakukan</a:t>
            </a:r>
            <a:r>
              <a:rPr lang="id-ID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id-ID" sz="18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Replace.</a:t>
            </a:r>
            <a:endParaRPr b="1" sz="18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0750" y="1505950"/>
            <a:ext cx="6265098" cy="3390649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2"/>
          <p:cNvSpPr txBox="1"/>
          <p:nvPr>
            <p:ph type="title"/>
          </p:nvPr>
        </p:nvSpPr>
        <p:spPr>
          <a:xfrm>
            <a:off x="391725" y="140225"/>
            <a:ext cx="8393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Font typeface="Montserrat"/>
              <a:buNone/>
            </a:pPr>
            <a:r>
              <a:rPr lang="id-ID"/>
              <a:t>Pre-Processing</a:t>
            </a:r>
            <a:endParaRPr/>
          </a:p>
        </p:txBody>
      </p:sp>
      <p:sp>
        <p:nvSpPr>
          <p:cNvPr id="342" name="Google Shape;342;p12"/>
          <p:cNvSpPr/>
          <p:nvPr/>
        </p:nvSpPr>
        <p:spPr>
          <a:xfrm>
            <a:off x="523700" y="819575"/>
            <a:ext cx="1541400" cy="357000"/>
          </a:xfrm>
          <a:prstGeom prst="roundRect">
            <a:avLst>
              <a:gd fmla="val 16667" name="adj"/>
            </a:avLst>
          </a:prstGeom>
          <a:solidFill>
            <a:srgbClr val="449DA9"/>
          </a:solidFill>
          <a:ln>
            <a:noFill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-ID" sz="11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Outliers Handling </a:t>
            </a:r>
            <a:endParaRPr b="1" i="0" sz="1700" u="none" cap="none" strike="noStrike">
              <a:solidFill>
                <a:srgbClr val="000000"/>
              </a:solidFill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7153300" y="1598600"/>
            <a:ext cx="1727700" cy="820500"/>
          </a:xfrm>
          <a:prstGeom prst="roundRect">
            <a:avLst>
              <a:gd fmla="val 16667" name="adj"/>
            </a:avLst>
          </a:prstGeom>
          <a:solidFill>
            <a:srgbClr val="449D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-ID" sz="28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Z Score</a:t>
            </a:r>
            <a:endParaRPr b="1" sz="28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5112250" y="3419975"/>
            <a:ext cx="3493800" cy="1340400"/>
          </a:xfrm>
          <a:prstGeom prst="roundRect">
            <a:avLst>
              <a:gd fmla="val 16667" name="adj"/>
            </a:avLst>
          </a:prstGeom>
          <a:solidFill>
            <a:srgbClr val="449D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rPr lang="id-ID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Jumlah baris sebelum memfilter outlier: </a:t>
            </a:r>
            <a:r>
              <a:rPr b="1" lang="id-ID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5630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rPr lang="id-ID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Jumlah baris setelah memfilter outlier: </a:t>
            </a:r>
            <a:r>
              <a:rPr b="1" lang="id-ID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5350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rPr lang="id-ID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Maka outlier yang dihapus sekitar</a:t>
            </a:r>
            <a:r>
              <a:rPr lang="id-ID" sz="10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b="1" lang="id-ID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5%</a:t>
            </a:r>
            <a:r>
              <a:rPr lang="id-ID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3"/>
          <p:cNvSpPr txBox="1"/>
          <p:nvPr>
            <p:ph type="title"/>
          </p:nvPr>
        </p:nvSpPr>
        <p:spPr>
          <a:xfrm>
            <a:off x="391725" y="140225"/>
            <a:ext cx="8393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Font typeface="Montserrat"/>
              <a:buNone/>
            </a:pPr>
            <a:r>
              <a:rPr lang="id-ID"/>
              <a:t>Pre-Processing</a:t>
            </a:r>
            <a:endParaRPr/>
          </a:p>
        </p:txBody>
      </p:sp>
      <p:sp>
        <p:nvSpPr>
          <p:cNvPr id="350" name="Google Shape;350;p13"/>
          <p:cNvSpPr/>
          <p:nvPr/>
        </p:nvSpPr>
        <p:spPr>
          <a:xfrm>
            <a:off x="460375" y="712925"/>
            <a:ext cx="2028600" cy="354600"/>
          </a:xfrm>
          <a:prstGeom prst="roundRect">
            <a:avLst>
              <a:gd fmla="val 16667" name="adj"/>
            </a:avLst>
          </a:prstGeom>
          <a:solidFill>
            <a:srgbClr val="449DA9"/>
          </a:solidFill>
          <a:ln>
            <a:noFill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-ID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NORMALIZATION/ STANDARIZATION</a:t>
            </a:r>
            <a:endParaRPr b="1" i="0" sz="1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descr="data:image/png;base64,iVBORw0KGgoAAAANSUhEUgAAB+gAAATNCAYAAABvvA1tAAAAOXRFWHRTb2Z0d2FyZQBNYXRwbG90bGliIHZlcnNpb24zLjcuMSwgaHR0cHM6Ly9tYXRwbG90bGliLm9yZy/bCgiHAAAACXBIWXMAAA9hAAAPYQGoP6dpAAEAAElEQVR4nOzde3hU1b0//vea3O83CNdAJBCIClWpVkBFtNIePd9CW2s954ji7dhqEaE+T8uXfgVaEU+PFOVXqLa2oPS0tVqLerQYiwinHIMioKAmwUCAACEQcr9Mktnr98eQZPbae5K57JnZM3m/nidP3Wv27FmhMGtmf9bn8xFSSgkiIiIiIiIiIiIiIiIiIiIKKUekJ0BERERERERERERERERERDQUMEBPREREREREREREREREREQUBgzQExERERERERERERERERERhQED9ERERERERERERERERERERGHAAD0REREREREREREREREREVEYMEBPREREREREREREREREREQUBgzQExERERERERERERERERERhQED9ERERERERERERERERERERGHAAD0REREREREREREREREREVEYMEBPREREREREREREREREREQUBgzQExFRVKupqcE999yD0aNHIykpCYWFhXjkkUfQ0NDg97X27duHf/3Xf8XYsWORlJSEESNGYPbs2XjxxRdDMHMiIiIiIiIiIiIiIhpqhJRSRnoSREREgaiqqsLMmTNRV1eHefPmYcqUKfjggw+wY8cOTJ48Gbt370ZeXp5P1/rlL3+JxYsXIycnB7fccgvGjBmD8+fP49ChQxg7diz+9Kc/hfi3ISIiIiIiIiIiIiKiWMcAPRERRa2vfe1rKC0txfr167Fo0aK+8aVLl2LdunV44IEH8Oyzzw56ndLSUnz961/HTTfdhFdeeQUZGRm6x7u7u5GQkGD5/ImIiIiIiIiIiIiIaGhhgJ6IiKJSVVUVJk6ciMLCQlRVVcHh6O/a0tLSglGjRkFKibq6OqSlpQ14rS996Uv44osvcPz4cZ8z7omIiIiIiIiIiIiIiPwVH+kJ2JWmaTh16hQyMjIghIj0dIiIbE9KiZaWFowePVoXLA+VHTt2AADmzp1reL2MjAzMmjULpaWlKCsrw4033uj1OocOHcInn3yC+fPnIzc3Fzt27MBHH30EIQQuu+wyzJkzx+/fh2sIEZF/wr2G2BnXECIi/3AN6cc1hIjIP1xD+nENISLyT7BrCAP0Xpw6dQoFBQWRngYRUdQ5ceIExo4dG/LXqaioAAAUFxebPj5p0iSUlpaisrJywAD9hx9+CADIz8/H9ddfj127dukenzp1Kl599VVMnDjR6zWcTiecTmff8cmTJ3HxxRf7/LsQEZFbuNYQO+P3ECKiwHAN4RpCRBQoriFcQ4iIAhXoGsIAvRe9/YdPnDiBzMzMCM+GiMj+mpubUVBQYOjfHipNTU0AgKysLNPHe8cbGxsHvE5dXR0A4Le//S3GjBmDN998E9dccw3OnDmDn/70p/j973+PW265BQcPHkRiYqLpNdasWYNVq1YZxrmGEBH5JtxriJ3xewgRkX+4hvTjGkJE5B+uIf24hhAR+SfYNYQBei96y7hkZmZyQSIi8kO0lcHSNA0A4HK58Kc//QkzZswA4H7/f/HFF1FeXo69e/fiL3/5C/7lX/7F9BrLli3D0qVL+457F2euIURE/om2NSQU+D2EiCgwXEO4hhARBSrca0hNTQ0ee+wxbNu2DfX19Rg1ahTmz5+PFStWICcnx6drXH/99di5c6fXxzs6OpCcnOzznLiGEBEFJtA1hAF6IiKKSr0Z8r2Z9Kre8ezs7AGv0/v4yJEj+4LzvYQQmDdvHvbu3YsPPvjAa4A+KSkJSUlJfsyeiIiIiIiIiIiGmqqqKsycORN1dXWYN28epkyZgg8++ADPPPMMtm3bht27dyMvL8/n661YscJ0PD6eoR8iIjvjuzQREUWlyZMnAwAqKytNHz98+DAA7z3q1et4C+T37lzu6OgIZJpEREREREREREQAgAcffBB1dXVYv349Fi1a1De+dOlSrFu3DsuXL8ezzz7r8/VWrlwZglkSEVGoOSI9ASIiokDMmTMHAFBaWtpXpr5XS0sLdu/ejdTUVFx99dUDXufqq69GWloaqqur0dbWZnj80KFDAICLLrrIopkTEREREREREdFQU1VVhdLSUhQWFuKhhx7SPbZq1SqkpaVhy5YtpveniIgotjBAT0REUamoqAhz585FdXU1NmzYoHtsxYoVaGtrw4IFC5CWltY3Xl5ejvLyct25qampuPfee9HZ2Ymf/OQnkFL2PXbw4EFs3rwZ8fHxuPXWW0P7CxERERERERERUczasWMHAGDu3LlwOPShmYyMDMyaNQvt7e0oKyvz+ZovvfQSnnzySfziF7/A3/72NzidTp+e53Q60dzcrPshIqLwYYl7IiKKWhs3bsTMmTPx8MMPY/v27SgpKcGePXuwY8cOFBcXY/Xq1brzS0pKAEAXhAeAn/3sZ9i1axeefvppvP/++5g1axbOnDmDV199FZ2dnXj66adRVFQUtt+LiIiIiIiIiIhiS0VFBQDv7RgnTZqE0tJSVFZW4sYbb/TpmrfffrvuOD8/Hxs2bBg00WTNmjVYtWqVT69BRETWYwY9ERFFraKiIuzduxcLFy7Enj17sHbtWlRVVWHx4sUoKytDXl6eT9fJzMzE//zP/+D//t//i/Pnz+OXv/wl/vu//xvXXHMN3n77bSxevDjEvwkREREREREREcWypqYmAEBWVpbp473jjY2Ng15r3rx5eOONN1BTU4OOjg6Ul5dj2bJlaGxsxHe/+11s27ZtwOcvW7YMTU1NfT8nTpzw75chIqKgMIOeiIiiWkFBATZt2uTTuWrmvKf09HSsXr3akHVPRERERERERERkJ0uWLNEdT548GU888QRGjx6NRYsWYdmyZfj617/u9flJSUlISkoK9TSJiMgLZtATERERERERERERERGFUG+GfG8mvap3PDs7O+DXuO+++xAfH48DBw6gpaUl4OsQEVFoMUBPREREREREREREREQUQpMnTwYAVFZWmj5++PBhAN571PsiOTkZGRkZAIC2traAr0NERKHFAD0REREREREREREREVEIzZkzBwBQWloKTdN0j7W0tGD37t1ITU3F1VdfHfBrVFRUoKGhARkZGRg2bFhQ8yUiotBhgH6Ikj090I5+AdncGOmpEBHRECVdLmg1xyDPn4v0VIiIiGgAsqnBvWb3dEd6KkRERKZk3Wn3WiVlpKdC5FVRURHmzp2L6upqbNiwQffYihUr0NbWhgULFiAtLa1vvLy8HOXl5bpzjx49ivPnzxuuf/bsWdx9990AgNtvvx3x8fEh+C2IwkO6XNC+KIdrz/9A++h9yIb6SE+JyFJ8hx6CZN1p9Pzxd0DjeSA+AXG33QXHpJJIT4uIiIYQrfwgXKVvABc+XIsrrkbcP82HiE+I8MyIiIjIk1b5GVx/3gy4XBBjxyNuwQMQiUmRnhYREVEf13tvQ9tZCgAQl12F+HnfjfCMiLzbuHEjZs6ciYcffhjbt29HSUkJ9uzZgx07dqC4uBirV6/WnV9S4r5v77n5ZOfOnfje976Ha665BhMmTEBubi6OHz+Ot956C01NTfjyl7+Mn//852H9vYis5nr9JchPPuofiE9A/L0PQ4wcHblJEVmIGfRDjDxdg55NG9zBeQDo6Ybr1f+CbG6K7MSIiGjI0A58CNdLm/uC8wAg95XB9eKzkN3MzCMiIrITbdc7gMsFAJA1x6Dt+nuEZ0RERNRPO3m8LzgPAPLAB5D1ZyM4I6KBFRUVYe/evVi4cCH27NmDtWvXoqqqCosXL0ZZWRny8vIGvcb06dNx++2348yZM/jLX/6CtWvXYtu2bZg6dSrWr1+P3bt3Izs7O/S/DFGIyNqT+uA84I5lvbctMhMiCgFm0A8xPW+8DHR26Ac7O+B6/U+I+7d/hxAiMhMjIqIhQXZ2wFX6uvljJ6qhvb8Tcdd9NcyzIiIiIjNSc0GePK4b03a/C8flV0HkDY/QrIiIiNyklNC2bTWOV3/BdYpsraCgAJs2bfLpXLO2DVOnTsXmzZstnhWRfWj7PzQdl5WfQ7Y2Q6RnhnlGRNZjBv0QIuvPAqdrzB+rqjTceCEiIrKaVrYL6Ggf4PGdkM7OMM6IiIiIvKo/Zzrs8shUJCIiihRZ+RlkzTHDuHbsSARmQ0REVpA9PdAOfuTlQQ3ax3vDOyGiEGGAfgjRKj8b8HE5yONERETBkB3t0N7fOfBJHe3QPvzf8EyIiIiIBiTrTpuPHz0c5pkQEREZyaoK8/FjVaZZx0REZH+y4tOBk3v2f8D3eIoJDNAPIfLwIAH6L8rDNBMiIhqKZPkhoMvpMSIQ//1HISZfojtP2/M/kFIL7+SIiIjIQJ4xD9CjtRXS1RPeyRARESlkQ735A81NQOP58E6GiIgsoVV+qh9wKGHM+rPAefNKX0TRhAH6IUI6OyGV8k6Oq67Vn3O6BrK1JZzTIiKiIUSt5CImXwyRPwqO627Sn9jabFqmkIiIiMLLWwY9IIGW5rDOhYiISOU1QA93Fj0REUUfqbRpdsz9BpCWPuA5RNGIAfohQlZVAppHNmJcHBzXzwUSk5TzzEtDERERBUP2dBvWGMeUS93/O7oAGD5Sf375obDNjYiIiMx5zaAHIJsawzcRIiIihdS0AbPkteNHwzgbIiKyguxyAufqdGNizDiIUWP1550+Gc5pEYUEA/RDhDypz0QU44sgUlIhLpqoG9dY5p6IiEJAHv0C6O7yGBEQky7uO+oN1vfSyg+xnxQREVEESWfnwOWBmxvDNhciIiKDlibA5fL+eANL3BMRRRt55jTgeT9QCIgRo0wC9Mygp+jHAP0QIetqdcdizDj3/04s0Z/HksJERBQCskLfP0oUjIfwKE+lBuhx/hxw9kw4pkZEREQm1O+QhscZoCcioggaqLw9AMiWpjDNhIiIrGIIvA8bAZGQCDFqjOE8JvZQtGOAfoiQSpBDDB8BAHCMHa8/sfE8ZGdHuKZFRERDhHb0sO5YFF+iP2HUWCAzW/+cSn1Qn4iIiMLo/LmBH2eJeyIiiqRBAvRoaQ7PPIiIyDJq6frewLyaQY/ODqCpIVzTIgoJBuiHAOnsNLxZifxR7v8Yng844vTn154K19SIiGgIkO1thpv8jgmTdMdCCDiKL9aNyWNHQj43IiIiMifb2wZ+nBn0REQUQfK8EqDvvdfZq8vpvidKRERRQ9bqM+j7AvNZOUBKqv7cUyxzT9GNAfohwFCaUDiAvOHu/4yLB/JH6M+v1e9SIiIiCoY8eVw/EB8PjBhtOE8UFumfd6IaUtNCOTUiIiLyZpAAPZpZOpiIiCJHNuoD9I5xFxlP4lpFRBQ1ZE8PoLZq7s2gF8K0zD1RNGOAfig4qwTo84ZDxMf3HYqRyhsbA/RERGQhNUAvRo2FiIsznCfGTdAPODuBM6zqQkREFAmyrVU/kJOnf5wZ9EREFElqBv3wEUByim6IfeiJiKJI/VlASdTxjF2Jkfoy91KNexFFGQbohwA1g14oGfPGAD2DIUREZB1DgH7MeNPzREYmkDtMN6YdPxqyeREREdEA2vUBejVjBW2t7iwXIiKiCJBKD3qROwzIzNKfxD70RERRQzbo22MiIxMiKbnvUFyoCt1/vrJRiyjKMEA/BKg7icTwkfrjkUqZ4bNnIF280UJERMGTUkLWHNONibHjvJ4vlLKE7ENPREQUIUqJe3VjNwCAWfRERBQB0tkJdLTrxkROHkSGPkAvWeKeiChqyIbzumOhVPBCrnLccB5SyhDPiih0GKAfAowZ9EqAXu0DrLmAs2dCPS0iIhoKzp8DOjt0Q2KM9wC9Y7y+zL08foQftomIiCJAqgH6nDwgMUl/DgMfREQUCWobFgDIyAQy1Ax6rlNERFHjvJJBrwToDQH77i6grSXEkyIKHQboY5zscgKt+jcpMVwpcZ+cYuwneOZ0yOdGRESxT546oR9IzwCycryeb+hD39YKNDWEYGZEREQ0ICVAj7R0ICtbP8YMeiIiigB1Exni44GERHfbNM/zGKAnIooasnGQDPqMLCAuTv8clrmnKMYAfaxrNAlqZOcahsSwfN2xrD8bqhkREdEQYqjiMnIMhBDen5CTBySn6K9xqiYUUyMiIiIvpOYylg5OTYNIz9CfpwZIiIiIwkFdf1LT3d8z2YOeiChqqcF2NUAvHA5jbOs8A/QUvRigj3FSzTpMTYdISDScJ/KG6593ngF6IiIKnjw7cJsVlRACYvRY/TVOM0BPREQUVkpwHgCQmg4kpw5+HhERUaipJe5T0wCAPeiJiKKU1DRA6UGvVn0GjEF7ZtBTNGOAPsZJJYNeZHspK5zHDHoiIrKeIYN++MABegAQo9QA/QkvZxIREVFItJlkxqemGarcoLMjPPMhIiLyoFZwEWm9AXp9iXu0triDPkREZG8tTYDm0g2JXAboKbYxQB/rmpRdR176/qoZ9Kg/Byn5AZaIiAInu7uMu18HyaAHADG6QH+dUzWQUlo5NSIiIhqAbFcyE5OSIeLiIFKUNjQM0BMRUSSo69SFDHpDiXupGbPtiYjIdqRaqj4h0V3BS6Vm1TNAT1GMAfoYp5a4F94C9MOUAH13F/s0ERFRcM7VAdAH1sWwfPNzPc9RMujR0Q6oLVuIiIgodNTevmkXbo4xg56IiGzAkEHfG8RJSwccyu3uFpa5JyKyPTXQnpMHIYThNDWrnhn0FM1sEaCvqanBPffcg9GjRyMpKQmFhYV45JFH0NDg+83466+/3t231stPZ2dnCH8DG1NK3MNbifv0TPeuJA8sc09ERMFQy9sjOxciMWnwJ2bnGgIA8hT70BORd6+88goWLVqEa6+9FpmZmRBC4I477vD7OoWFhV6/T4wc6b0CyP/+7//i5ptvRm5uLlJSUjBt2jQ8/fTTcLlcXp9DZGeyTQ18XMhMZA96IiKyA3UjWW8PeuEAUtJ0D0muVUREtqcG2s3K2wPGEvdobXFX8CSKQvGRnkBVVRVmzpyJuro6zJs3D1OmTMEHH3yAZ555Btu2bcPu3buRl2f+j9HMihUrTMfj4yP+q0aEzxn0QgB5w4Hak/3PPXcWuGhSSOdHRESxS55V+s/7UN4ecK9JYvRYyCOH+691uga4eJql8yOi2PH444/j448/Rnp6OsaOHYvy8vKAr5WVlYVHHnnEMJ6eblJeD8Brr72Gb3/720hOTsZ3v/td5Obm4o033sCSJUuwe/duvPzyywHPhShivAU+WOKeiIjswMs6BQBISQXaWvqPGaAnIrI92agE6LO9xATVAD3gbq/p4z1HIjuJeNT6wQcfRF1dHdavX49Fixb1jS9duhTr1q3D8uXL8eyzz/p8vZUrV4ZgltFJunqAlhbdmPCWQQ93mXvpEaAHM+iJiCgI8uwZ3bEYPsLn54qRSoC+7rRl8yKi2LNu3TqMHTsWEydOxM6dOzFnzpyAr5Wdne3zd4rm5mbcf//9iIuLw3vvvYcvf/nLAICf/exnuOGGG/DKK6/gT3/6E26//faA50MUEd56+6ol7jsYoCciovDzWuIe7s1kno3WJNcqIiL7a1bakXiJY4mERPd3E491QDY3+pwURGQnES1xX1VVhdLSUhQWFuKhhx7SPbZq1SqkpaVhy5YtaFPK65GPmpug9v6Flwx6ABC5+j70sr4uBJMiIqKhwhig9/3DsvrB2lAun4jIw5w5czBp0iTTHnWh9Morr+Ds2bO4/fbb+4LzAJCcnIzHH38cAPCrX/0qrHMisoLXwEeKUuK+k1mJREQUAW1eNpIBxrWKGfRERLYnlQC9yMjyfrL6WEuT+XlENhfRDPodO3YAAObOnQuHQ79XICMjA7NmzUJpaSnKyspw4403+nTNl156CUePHkViYiJKSkpwww03IClp8H63TqcTTqez77i5udmP38SepNp/PjHJmPHgQQzL1z///LlQTIuIiIYA6eoBGs/rB5V1ZiBixCj9QON5yC6nbz3siYiC4HQ68fvf/x7Hjx9HWloapk2bhuuuuw5xcXGGc999910AwNe//nXDY9dddx1SU1Pxv//7v3A6nV6/k8Ti9xCKAWoGfdqFEvfq98meHsieboj4hDBNjIiIhjrpcgHOTt2YSGOAnogoWkkpgRble3Cm9wC9yMyCPHOq//n8Dk1RKqIB+oqKCgBAcXGx6eOTJk1CaWkpKisrfQ7Qq+Uj8/PzsWHDBtx6660DPm/NmjVYtWqVT68RNZqUwEh2zsBZRWr/jsYGSKlBiIgWWiAiomjU2ABIfRUXkTvM9+cPyweE0F1D1tVCjB1v1QyJiEzV1tZiwYIFurGLLroImzZtwuzZs3XjA32fiY+Px0UXXYRPP/0UR44cQUlJienrxeT3EIp6sk3NoPdS4h4AOjuAdAboiYgoTNT+84Aug14kp+pL3LPaCxGRvXW0Aa4e3ZDIyPR6usjI0teNZgY9RamIRl6bmtz/cLKyzHfD9I43NjYOeq158+bhjTfeQE1NDTo6OlBeXo5ly5ahsbER3/3ud7Ft27YBn79s2TI0NTX1/Zw4ccK/X8aG1Ax6MUB5ewAQ2bn6Ac1l6GFPRETkC9lQrx9ISYVQMxkGIOITADWgzzL3RBRid999N7Zv347a2lq0tbXh4MGDeOCBB1BdXY1/+qd/wscff6w734rvM7H4PYRigJpt2Fvi3ixAz96+REQUToYAvdBnzTODnogouhgy4AWQ7j1Ar2bXSwboKUpFNIPeSkuWLNEdT548GU888QRGjx6NRYsWYdmyZaalJ3slJSX5VAo/qrTqg+siM3vg89PSgfh4oKd/t5JsrIcYoJwIERGRGbVNilCrtPhA5I+CrD/bf00G6IkoxFasWKE7vvTSS/Hss88iPT0da9euxcqVK/HXv/7V0teMye8hFP2U0sFISgYAiLg4d+u0rv62DLKzHQPUaSMiIrKUVNuwpKRAOOJ0xzrcSEZEZGuGAHt6uvt7hxdqf3q1fz1RtIhoBn1vRklv5omqdzw7Ozvg17jvvvsQHx+PAwcOoGWIZYPLVmXnUXrGgOcLIQA1i17tY09EROQLJUBvyIb3gcgfqTuWZ08HMyMiooB973vfAwDs2rVLNx6O7zNE4SalBjidujGRnNx/4PnfAAMfREQUXmoGvUd5ewCGym2SGfRERPamBNjVALyBmlDKDHqKUhEN0E+ePBkAUFlZafr44cOHAXjvUe+L5ORkZGS4A9NtbSY9imKZkkE/YFmQC9Qy97LhvJcziYiIvDNk0FsRoGcGPRFFyPDhwwEYv08M9H2mp6cHR48eRXx8PCZMmBD6SRJZpasL0Hd17MugBwAkK6WDOxmgJyKi8JFt+gx6oQToWeKeiCi6GDLoB6nobAjgt7VCKj3siaJBRAP0c+bMAQCUlpZC0zTdYy0tLdi9ezdSU1Nx9dVXB/waFRUVaGhoQEZGBoYN8z84EM1kiz6DXmQMnEEPmAToGxmgJyIi/6k96AML0I/SD7S2GMsZEhGFQVlZGQAYAu033HADAGDbtm2G5+zatQvt7e2YOXMmS9hTdFGy5wHoAvRCKR3MzEQiIgorNYM+LV1/bBKgl1LZeEZERLahlqj3O4MeAFrUPvZE9hfRAH1RURHmzp2L6upqbNiwQffYihUr0NbWhgULFiAtrX8nZHl5OcrLy3XnHj16FOfPGwPJZ8+exd133w0AuP322xEfHx+C38KepJQBZdAjO0d/3MQAPRER+UdqGqAE6JHrfw965OYBcfq1m1n0RBSs7u5ulJeXo6qqSjf++eefm1bcqq6uxg9+8AMAwB133KF77NZbb8WwYcPwpz/9CXv37u0b7+zsxE9+8hMAwPe//32rfwWi0HKaZMQnemwySVZ6+3Yq/eqJiIhCSQ3Qpwxc4h6uHqCnO8STIiKigKkZ9IMF6JNTgPgE3RD70FM0injEeuPGjZg5cyYefvhhbN++HSUlJdizZw927NiB4uJirF69Wnd+SUkJAOh2Pu7cuRPf+973cM0112DChAnIzc3F8ePH8dZbb6GpqQlf/vKX8fOf/zysv1fEdbQDmks3JAbpQQ8AIlsfQGGJeyIi8ltzI+BS1qCcADLoHXHA8Hyg9lTfmKyrBQonBjtDIooxW7duxdatWwEAtbXujTzvv/8+Fi5cCAAYNmwYnnrqKQDAyZMnUVJSgvHjx6O6urrvGi+99BLWrl2L6667DuPHj0dGRgaqqqrw5ptvorOzEzfffDMeffRR3etmZmbiN7/5DW699VZcf/31uP3225Gbm4vXX38dFRUVuPXWW/Hd73435L8/kZWkmkGfkAgRF9d/rAY+OplBT2Sl3//+91iwYAEA4De/+Q3uu+++CM+IyF6k0lrFEJBXjwGgowNISAzhrIiIKFCGDPrMgRNNhRDuLHrP9prsQ09RKOIB+qKiIuzduxePPfYYtm3bhrfeegujRo3C4sWLsWLFCuTk5Ax6jenTp+P222/HRx99hP3796O5uRkZGRmYOnUqbrvtNjzwwANITBxiH8LU7HkA8CFAb8igb26E1FzuIAkREZEP1P7zSEwylh30kcgfBekRoAcz6InIxIEDB/DCCy/oxo4cOYIjR44AAMaPH98XoPdmzpw5qKiowP79+7F79260tbUhOzsb11xzDRYsWIAFCxa4bwQo5s+fj507d2L16tX4y1/+gs7OTkycOBG/+MUv8PDDD5s+h8jWnEpGvNKiQSSl6DrUq4ESIgrciRMn8IMf/ADp6elobWVrJyJT6jqVnKw/TkoGIADP1aqjfdCexkREFCGGHvTZgz5FZGTp7j8yg56iUcQD9ABQUFCATZs2+XSuWc+gqVOnYvPmzRbPKrrJVqXnRkoqRNzg/3erPeihae7+HVmDb5QgIoqEmpqavk1e9fX1GDVqFObPn+/zJi8AuP7667Fz506vj3d0dCBZ/dJP3qnVV3LyAg5QieEj9UGAutOBz4uIYtbKlSuxcuVKn84tLCw0/U4xe/ZszJ49O6DXnzVrFt56662AnktkO4YAvfIZSOlBD/agJ7KElBJ333038vLy8K1vfWvQjWVEQ5a6MUxZp4TD4Q7ae5wnO9rBLZNERPYju7sN3ycG7UEPAGqWPTPoKQrZIkBPIRBI/3kASE1zl3zq7uobkg3nIRigJyIbqqqqwsyZM1FXV4d58+ZhypQp+OCDD/DMM89g27Zt2L17N/LyfO99vmLFCtPx+Hgul/6QjfoAvcgJoP9873NHjNJfu64WUkpmpBIREYWK0lNeqAF6Qw96ZtATWWH9+vV499138d577+Hdd9+N9HSIbEuq65S6LgHuMvee6xM3kxER2ZNZYN2HiiciI0uf0MMAPUUhRhxilGzRZ9CLDB/K2+NC/47sXOCsRwnhxvMAiiycHRGRNR588EHU1dVh/fr1WLRoUd/40qVLsW7dOixfvhzPPvusz9fzNfuSBiabGnTHwWzyEvkj9QPOTnePe24cIyIiCgk5SAa92utXdjBATxSszz//HD/+8Y+xePFiXHfddT4H6J1OJ5xOZ99xc3PzAGcTxQhDiXtjgF6kpEI21PcPMEBPRGRLhkrQCYnGDcJm1Cz7FpOWz0Q254j0BChEAs2gByCUPvRqJiQRkR1UVVWhtLQUhYWFeOihh3SPrVq1CmlpadiyZQva2toiNMMhTAnQIys78GtlZrt72HuQ7ENPREQUOoOVuGcGPZGlenp6sGDBAowbNw5PPPGEX89ds2YNsrKy+n4KCgpCNEsiG1HXHbN2dIbNZAzQExHZUmur/jjdx0TTtHTdsWxjgJ6iDwP0MUrdeSR8fGMDjH3oGaAnIjvasWMHAGDu3LlwOPTLWUZGBmbNmoX29naUlZX5fM2XXnoJTz75JH7xi1/gb3/7my4bhXwnG5UM+uwgMuiFMGTRRypAL7uc0PbtgatsF9dGIiKKXernnyT9RjlDIIQBeqKg/PSnP8X+/fuxefNmpKSYlOoewLJly9DU1NT3c+LEiRDNksgepNQM65RI8lLi3hMD9EREtqQG1tXAu1dqvEtNWCWKAixxH6uCyKCHEqCHEmghIrKDiooKAEBxcbHp45MmTUJpaSkqKytx4403+nTN22+/XXecn5+PDRs24NZbbx3weSwt2U+6XIb+UcGUuAcA5I8Cao71v8bZ8AfotfJDcL31at/vppW+AXHZlYi7+ZsQ8Qlhnw8REVGoSKc+4K4GPkSiEqDv7oKU0t0ujYj8smfPHjzxxBP44Q9/iBkzZvj9/KSkJCSpm2iIYpnTCei6DsM0g16kpOrP4mYyIiJ7ags0g145r7MD0tUDEceQJ0UPZtDHKKkE6JlBT0SxpqnJHSjNysoyfbx3vLGxcdBrzZs3D2+88QZqamrQ0dGB8vJyLFu2DI2Njfjud7+Lbdu2Dfh8lpb00NIESOWGSRAZ9AAgho/QD5w9E9T1/KVVfgbXS5v1Gw+kBrl/D1yvvxTWuRAREYXcYBn06rGUQHdXaOdEFIN6enpw5513ori4GD/72c8iPR2i6GAWaDfpQa+OscQ9EZFNqXEsNfDuTbpJpr0a7CeyOQboY5VS4j6YHvRobnRnRBIRxaglS5bgn//5nzFmzBgkJydj8uTJeOKJJ7B27VpomoZly5YN+HyWluynlrdHQiKQkhbUNdUAvTx7BlLdBBAisrMDrv9+GYYsjd7HD+6H9vknYZkLERFRWAzWgz7RJFu3i22BiPzV2tqKyspKfP7550hOTna3drrws2rVKgDA/fffDyEEHnnkkchOlsgu1DUKAkhMNJ7HEvdERFFBqkF1X0vcp6QCQglvssw9RRnWe4hBsqfbsKNUZPieQY+cPOWCEmhuNI4TEUVQb4Z8bya9qnc8Ozs74Ne47777sGTJEhw4cAAtLS3I8PJeytKSHpqUAH1WTtAlb8VwfQ96dHe516VgS+f7QNv+FtAycMsC15t/gSiaDGEWsCAiIoo2SvBDqKWDzT7zOJ2Aj/fSiMgtKSkJ9957r+lj+/btw/79+3HNNddg8uTJAZW/J4pFUs2gT06GUAM0MFm7DIF9IiKyhTa1VbOPJe6Fwx3M90hUlW2tYNMtiiYM0Mcis1IevpYGAdxloBKTdFkQsvE8BAP0RGQjkydPBgBUVlaaPn748GEA3nvU+yI5ORkZGRloaGhAW1ub1wA99VMz6A1VWQKRkenO3vO4qSLraoPvbT8I2dIEbV+ZbkwUToTjS9Phes2jtH1bK+TB/RDTrw7pfIiIiMJBDpZBHxcPOByApvWPMYOeyG8pKSl4/vnnTR9buXIl9u/fj7vuugv33XdfmGdGZGOdg6xRXsYNaxsREdmCoVWzP3GsdH2Anhn0FG1Y4j4Wtbfpj4UDUHeODkAIASh96ME+9ERkM3PmzAEAlJaWQvO8QQygpaUFu3fvRmpqKq6+OvCgaUVFBRoaGpCRkYFhw4YFNd+hQjbp1wsrguhCCNMy96Gm7dujDz7EJyDuG7dBfOlKiCL9xg/to/dDPh8iIqKwGCRAL4QwlLmXDNATEVE4qGuUt/udauDeyXWKiMiW1GRTs97yXqjBfKlm4xPZHAP0MUiqAfrUNNNyTwMROfoAvaGnMBFRhBUVFWHu3Lmorq7Ghg0bdI+tWLECbW1tWLBgAdLS+vufl5eXo7y8XHfu0aNHcf68cRPS2bNncffddwMAbr/9dsTHs+iMT0xK3FtiWHgD9FJzQftIyZ6fegVETh6EEHBcda3+/NM1kKdOhHROREREYaEGMcxK2qttXRj4ICKiMFBL3IvkFPMTDQF6ZtATEdmN7O4yVOLyL4NeObfVpLI0kY0x2hCL1F1HHsEpX4msXEiPY8kMeiKyoY0bN2LmzJl4+OGHsX37dpSUlGDPnj3YsWMHiouLsXr1at35JSUlAAAp+9/hdu7cie9973u45pprMGHCBOTm5uL48eN466230NTUhC9/+cv4+c9/HtbfK5qFpMQ9ADF8hG5dwrkQB+grPwNamnRjcVfO7J/PxClAZjbQ3Ng3pu3bg7jRBSGdFxERUShJqRmC7SLJJPihBu2ZQU9kqZUrV2LlypWRngaR/fhY4l6o491dkJoLwhEXookREZHfzErSp/mTQZ+uj2Exg56iDDPoY5CaQS9SfX9T66MGVBigJyIbKioqwt69e7Fw4ULs2bMHa9euRVVVFRYvXoyysjLk5eUNeo3p06fj9ttvx5kzZ/CXv/wFa9euxbZt2zB16lSsX78eu3fvRnZ2duh/mRggpQSa9UFtZGVbcm2zEveeGy2sph3ar3/9MeMgRo3tP3Y44LjiK/rnVBwK6ZyIiIhCrqsLgLKWmWTQCzWDngF6IiIKByWDHr5m0AOs9kJEZDNSTTSNi/e68cqUmm3PAD1FGWbQxyL1jS01gAx6tcR9AwP0RGRPBQUF2LRpk0/nmgVPp06dis2bN1s8qyGqswPo6dYNicxsSy4t8kfqB5ydQEszkJllyfU9yZ5uyMP6VgiOy68ynOe49HJo773dP9DaAtSeBDwC+URERFHFrASw2U0yJWgvGfQgIqIwkMo6ZciU72XWnsXZCaSkhmBWREQUEDWDPj0DQgifny6UEveSJe4pyjCDPgYZM+gDKXGvZNC3NEO6eoKZFhERxTqPcu9uAsjItObamdmGfrfybK0111bII4eVTEABMflSw3kibziQO0w3ph3+PCRzIiIiCgtfA/TMoCciokhw+phBn5gEQAnysA89EZG9KBnvwo/y9gCM5fCZQU9RhgH6WKQE6P3p29EnO1cZMClbTERE5EGq60RaOkScNcV6hBAQw/L1r3c2NH3otfKD+tceV2jYldvLMbFEPycG6ImIKIoZMuETEiEcJrcN1AA9M+iJiCgcDCXuvfSgF8Kk2gsD9EREdmLIePdy780bw7269nZIzRXkrIjChwH6WNQefIl7JKcYMxWbGoKYFBERxTwlQC+sLj+v9KFHCAL0UtMgKz7TjYkpU72eL4qVAH3NcUh1HSYiIooWauDDS+lg9qAnIqKI6FRL3HvJoAeMaxg3k5GN1NTU4J577sHo0aORlJSEwsJCPPLII2hoCPz++65duxAXFwchBH7yk59YOFuiEFEz3v3OoFcD+hJoazM9lciOGKCPQVLpQe93aRBc2GmqlrlvjN4AvZSSJfqJiEJMqiXuLQ7QCyVAL8+FIIP+zCnDRjfHFGN5+745jZ8AJCR6zgqyusr6eREREYWDGrww6+FrMi4ZoCciojCQhgx6PwL06nOJIqSqqgrTp0/Hpk2bcNVVV2HJkiWYMGECnnnmGcyYMQP19fV+X7OlpQV33XUXUlNTQzBjotAwxrH8y6BHahqg9qxnmXuKIgzQxyK1xH0gGfQARLY+QB+NGfSyvQ2ud/+GnrUr0bNmOXq2/hGypTnS0yIiikmyRcmgz7A6QD9S/3p1tZBSWvoamhpczx0GkZPnfU7xCRDjLtLP63i1pXMiIiIKG6eamWieQY9EZZwBeiIiCge1TL2XEvcAIJTHDG1ciCLkwQcfRF1dHdavX4+tW7fiySefxLvvvoslS5agoqICy5cv9/uaixcvRlNTE5YtWxaCGROFiBKg9zeDXjgchtiXGvQnsjMG6GOM1FxAR7tuTKQG0IMegMjM1l87yjLoZXMjen7zNLT/+bv7zd7VA/nxXvRs/Dm0k8cjPT0iotij9qBX1pFgqRn06OwwfpgPkqz+Qv+ahRMHfY4oUAL0J45aOiciIqJwMWTCew3QJ+qPGfQgIqJwUErce12nzB5jD3qygaqqKpSWlqKwsBAPPfSQ7rFVq1YhLS0NW7ZsQZsfZbpfe+01bNq0CevXr8fo0aOtnjJRyKgtIgOpBG1ITlWTV4lsjAH6WKME5wEAaYFl0EPJoEcUZdBLKeF67SWg8bzxwc4OuP7ye8ju7vBPjIgohhky6K3uQZ+VA8Qn6F/Twj70UtMgjx3RjTkKiwZ9nhhXqL/O6ZMs9UtERNGpq0t/rAbiLxBq6Xuue0REFGLS1QP06O/liQFL3CtrFQP0ZAM7duwAAMydOxcOhz40k5GRgVmzZqG9vR1lZWU+Xa+urg73338/5s+fjzvuuMPy+RKFlAWVoIWaQc8APUURBuhjjdnuupQAS9xnRW+Je23v+5BHKr2f0FAP7R/bwzchIqKhwJBBb3GJe4cDGJavG5Nna617gTOnjKV9x/sQoB8zDhAeH6mkBnnyhHXzIiIiChc10O4lQK+WuOfGNCIiCjk1ex4YsMS9oR0LA/RkAxUVFQCA4uJi08cnTZoEAKisHOC+tof7778fmqbh2Wef9XsuTqcTzc3Nuh+icJFSA9rVStABxLGYQU9RjAH6GKOWBUFyCkRcXGAXM8mgl1IL7FphJHu6ob23bdDztN3vRtWmAyIiO5NdTnfJeQ9W96AHTMrcW5hBb9p/3odNBiIxCWLUGN2YPM4y90REFIWUQLtISDI/z5CVyAA9ERGFmFmAfYAS98Ye9AzQU+Q1NbkTG7KyzO819I43NjYOeq3f/e53eP3117Fx40aMGDFi0PNVa9asQVZWVt9PQUGB39cgClhnJ6DGmgIJ0KvJqWYVpolsigH6WKNm0AfypnaByMrVD7hcQKu1vX5DQX76sWGnVNwd/4747z2qz3B0uaDt/yDMsyMiilEtJjutrS5xD2OAXtZZl0Evj+kD9L70n+87l33oiYgoBshu30rcG8aZQU9ERKGmrjVCGFqg6Rh60HOtothRXV2NRx55BN/5zndw2223BXSNZcuWoampqe/nxAlWAqQwMst0T/W/Bz1L3FM0Y4A+xqgZ9CLN/ze1PhkZgEOffR8NGefaB//QHYuLJsFRNBlixCg4rviK/twDH0ZFVQAiIruTzY36gaRkiEQvWXdBEPkj9a9bdxpSyqCvG2j/+b55FRTqr3fqhCXzIiIiCitDD3rztVyoZYO7nFz3iIgopAztVBKTIITw/gRDgJ4Z9BR5vRnyvZn0qt7x7OzsAa9zzz33ICUlBRs3bgx4LklJScjMzNT9EIWLbFMSQRMSIRIG2HTlDUvcUxRjgD7WqG9AwWTQCweQla0fbDwf8PXCQTt5HPKUfref48pZ/f+tBOjR1AB59ItwTI2IKLYZ+s9nh+RlRP4o/UBnh3n2vr/OnDKW6Peh/3zfuaPH6gc62oEo2NRGRESk42sPerXEvZRAT3do5kRERAQYM+AH2RAuDO1YGKCnyJs8eTIA7z3mDx8+DMB7j/pe+/btQ11dHYYPHw4hRN/P3XffDQBYvXo1hBCYP3++dZMnspIaxwow0ZQZ9BTN4iM9AbKYuvMoiAA9AIisHMiG+r5ju2fQy4P79QOZ2RCTL+4/HjUWyB8F1J3uG9IOfADHhIE/9BAR0cBkiz5AL0K18zo7x30jxiOAIOtO+9QrfiCB9p/vn1cukJyiC/LL0ychsnMHeBIREZHN+JhBbzrudAIJXgL6REREwVLXKDUAr0pK0R2yBz3ZwZw5cwAApaWl0DQNDkd//mRLSwt2796N1NRUXH311QNe584770R7u7HX9uHDh7Fr1y5cdtllmD59Oi6//HJrfwEiq6iVoAONYzGDnqIYA/QxRnboF+aA39h6Zefoj5sag7teCEkpoVUc0o05LrsSwqNMvxACjsuvgvb2a/3Pq/wcUnPpziMiIj+1tuiPM6zvPw+4q7uI/JGQNcf6xmTdaWDilKCuG0z/efe8BMSosZBHD/df83QNUDI1qHkRERGFk9qDXngLuJsFRbqcADKsnxQRERFgqPIyaEs1ZtCTDRUVFWHu3LkoLS3Fhg0bsGjRor7HVqxYgba2NjzwwANIS+u/p19eXg4AmDKl/77H+vXrTa+/efNm7Nq1C7fccgsef/zxEP0WRMEzZLpbGKCXUg7cAoXIJhigjzVKgB4pFmTQexzbOoP+zClDCX5HyTTDaY5LvqQL0MPZCXniGMT4CaGeIRFRzJKt+jLzIi2EN+iHjwR0AfraoC4XbP/5XmLUGGOAnoiIKJqY9Pc1FRcPCAcgtf4xBj6IiCiEzHrQD8jQg95pfh5RmG3cuBEzZ87Eww8/jO3bt6OkpAR79uzBjh07UFxcjNWrV+vOLykpAeBOTiOKGW3WBOgNCaquHqC7a/A1gsgG2IM+1qgZ9CmpQV1OKD3oZaN9A/Ta5wf1A9m5wIhRhvNERhYwYrRuTH5RHsqpERHFPjWDPj10AXqhvLfLM6e9nOmjIPvP9z1nlL4PvTxdwy/QREQUXXzsQS+EMGQmGgInREREVvJxjeol1AB9dxeky2XxpIj8V1RUhL1792LhwoXYs2cP1q5di6qqKixevBhlZWXIy8uL9BSJQk526AP0AVeCNot/scw9RQlm0McYtcQ9UoML0CNLLXFv4wC9Wt5+yqVeS5k4Jk6BduZU/3O/+BxxN94c0vkREcUyqQToRUaIetADEPnK5quzZ4JqVRJ0//neeSkBerS1Ai3NQADXIiIiighfe9D3Pua5wU19LhERkZXUDPjBetAnJxvHupzmwRyiMCsoKMCmTZt8Otefjf8LFy7EwoULA5wVURi16XvQIzU9sOskJQMOB6B5VPZqb3MnbxLZHDPoY426OyjYDHr1jczZCalkGdqBbGkClAxKMcV7318xSelVXHvKfQ0iIgpMi77EfWgz6EfqB1w9wPlzAV8v2P7zfXLzDGUUWeaeiIiihZTSEGQXA2UnsrcvERGFk9qDPsHPEvcA1yoiIrtotyaDXghhKI9v6G9PZFMM0McQqbkMHzRFkD3okZltHLNhmXt59Av9QFIyRMF4r+eLsYXGIMqRw+YnExHRgGSX03izJD2EGfSp6YByfXn6ZEDXMu0/P35CYPMSDgi1hUpdkOX3iYiIwsXVo+8pDwyYQS/Ux1jinoiIQsjvHvQJiQCUypoM0BMR2YIhiJ4WRBxLDe4zQE9RggH6WNJhktkeZIl7ER9vDII0nQ/qmqGgHanUHYvCogFLHYu4OIiL9BmS2vGjIZkbEVHMU8tSASHNoAcAMWqM7ljWBhagN+0/X+h///m+5+brs/sZoCcioqhhFmAfKINeCYxItfQwERGRldRWKoOUuBdCGM6RnQzQExHZghpED7QHPYzZ98ygp2jBAH0s6TB547Ggr5LI1vehlzbLoJdSQh7VZ7+LiyYN+jwxTp8hKRmgJyIKiFTL2yckDp7NECQxUgnQB5hBb95/PjvAWQEYMUp3KOtqA78WEfnslVdewaJFi3DttdciMzMTQgjccccdfl2jvr4ezz//PL75zW9i4sSJSElJQVZWFq655hr89re/haZphudUV1dDCOH15/bbb7fqVyQKPbMe8gP2oFeC993sQU9ERCHUpQTXB9pE1kstc89qL0REESd7uo2VOIMI0DODnqJVfKQnQNaR7e36gcQkiDgL/i/OygFqjvUfN9krQI/z54Bmff94xwRfAvQX6QfOnYFsb3WXTiYiIt+1tuiP0zPc2QohZJZBL6X0+3UN/efHB549DwAiXx+gx7k6SFePNesxEXn1+OOP4+OPP0Z6ejrGjh2L8vJyv6/x8ssv4/vf/z5GjRqFOXPmYNy4cThz5gxeffVV3Hffffjb3/6Gl19+2fR95ktf+hLmz59vGL/00ksD+XWIIsMsQJ+Q4P18NTBi9nwiIiKrqOtMokmPeRXbsRAR2Y9ZAD2ImIxISYP0HOho93Yqka3wbnEsUd94LMieBwCRlaN7g5M2C9Brau/49Exg2IhBnydGjnFneXpkesjj1RBTeCOViMgfslWfQS9CXN4eMGbQo6PdvYEsO9fna0hp0n8+iPL2gLHEPTQNqD8LqIF7IrLUunXrMHbsWEycOBE7d+7EnDlz/L5GcXExXn/9ddxyyy1wOPoLjT3xxBO46qqr8Je//AWvvvoqvv3tbxuee9lll2HlypXB/ApEEWfo7ZuQCCEGKLqXoAQ9mEFPREQhpK5TwocMepGYqA/aMEBPRBR5aoBeCCAlJfDrscQ9RSmWuI8laol7iwL0UErcw24l7o/rgyvioiKfMihFXBzE2HHKtVjmnojIb4YM+szQv2Z2LpCs//Dudx/6M6ct7T8PACI5BVBK5Msz7ENPFGpz5szBpEmTgqreccMNN+D//J//owvOA8DIkSPxve99DwDw3nvvBTNNIntTgxaDBD5Egv5xyQx6IiIKJaeyTg3Sg97sHK5VRESRZwigp6QOvDF4MCxxT1GKGfQxRHYoQYZU6zLoda9jswx6Naju8KM8sRg3AfLoFx7XOjLA2UREZCYiGfRCQIwcA1nt8R5++iQwZarP17C8/3zv3PJHQjY39s+LfeiJol7ChTLf8fHmX59OnTqF5557DvX19cjLy8OMGTMwbdq0cE6RKHiG0sGDBD4MPeiZlUhERCHk7zpldo4a5CciovAzCdAHQ+1fzwx6ihYM0McSi9/Yegk1g76tFbK7y5AxEQmyqQHwCIIAJr3lB6CeK2tPslcwEZG/IpFBD5gE6Gv8er7nc4Hg+8/3XSd/FOQX/f2vZR0z6ImiWU9PD1588UUAwNe//nXTc9555x288847urHrr78eL7zwAsaNG2f6nF5OpxNOj5vFzc3NA5xNFEImJe4HxB70REQUTl2d+mOfAvTqWsUAPRFRpBkTTdO8nOkjZtBTlGKJ+1ii9KAXKUG+sfUy6+fbeN6aawfJUJI+JRUYlu/z88XoAv2Ay8VSxEREfpJKgD4cGfQAIEaP1c+j5hiklF7O1gtF//m+eY3Q95tnBj1RdPvxj3+MQ4cO4eabb8bXvvY13WOpqan4f//v/+Gjjz5CQ0MDGhoasHPnTsyZMwfvvfcebrzxRrS1DXxzYM2aNcjKyur7KSgoGPB8opBResgP2ttXDeCzBz0REYWI1FxAT49uTPgQoBcJyjkM0BMRRZ7VrZpNAvS+3h8kiiQG6GOIVAL0lmXQJyYBqen612qwZ4BeFBT61a9EJKcAecP11zx53JK5ERENGUqJe4QrQF9QqB/oaAfqz/r25NpTlvef77uOulGssQGyp9uSaxNReK1fvx5r167FlClTsGXLFsPj+fn5+OlPf4orrrgC2dnZyM7OxnXXXYfS0lJ85StfwRdffIHnn39+wNdYtmwZmpqa+n5OnDgRql+HaECGvryDBD4MAXxm0BMRUaiYrTGDbSQDTHrQM0BPRBRxFsexDBn4mosbsigqMEAfS6zeeeRB5Oiz6KVNMug1NUDvR3n7vueM0Zcdlad4U5SIyFdS04DWVt2YyAhPiXtk5RjK6cuaap+eqlVV6gcs6j8PwKSSiwTOn7Pm2kQUNr/85S+xePFiXHzxxdixYwdyc02qSnkRHx+P++67DwCwa9euAc9NSkpCZmam7ocoItSbWINlJioZ9JIZ9EREFCpmgZak5MGfp65l3ExGRBRxaqKpsDqDHmCZe4oKDNDHEMvf2DypZe5tkEEvOzsApWywKAggQK+UuZcnGaAnIvJZRxsgNf1YuDLohYAoGK8bkyeO+fRceVQfoHdMKLZuXolJQEaW/vXO+ZjZT0S28PTTT2PRokW49NJLsWPHDowcOdLvawwf7q7SNFiJeyLbMAToB+tBz6AHERGFiVmA3pcMevagJyKyH0MGfZCtmhMSgbh43ZBkgJ6igC0C9DU1NbjnnnswevRoJCUlobCwEI888ggaGhoCvuauXbsQFxcHIQR+8pOfWDhbG2tX3tjMdg4FSOTk6Y7tkEHvznT36CUSF2foR+wLQx/6s2cgnZ3BTY6IaKhQ+s8DAkhLNz01FMTYQt2x5kMGvezuhjymVGCxMEAPAGKY0j6lvs7S6xNR6PzHf/wHlixZgssuuww7duxAfr5aFcM3ZWVlAIAJEyZYOT2i0FEC7ELtMa9iD3oiIgoT6VQC6/HxEI64wZ+YqGTZM0BPRBR5avA82BL3QgCpyjUYoKcoEPEAfVVVFaZPn45NmzbhqquuwpIlSzBhwgQ888wzmDFjBurr6/2+ZktLC+666y6kqv8oY12IetADgMhWS9z7//+L1WSNPktSjBwDEZ/g93XEyDGAw/OfgoQ8fTLI2RERDQ2yRek/n5bm240Si6gZ9Kg7466wMgB5/Ajg6vG4iIC4aKK188rTB/TkOQboieyiu7sb5eXlqKqqMjz2s5/9DD/+8Y8xffp0bN++HcOGDRvwWvv27YOmaYbx7du3Y926dQCAO+64w5qJE4WYoUT9YCXu2YOeiIjCRV1jBlujLhDKWsUe9EREkWeoBG1FHE9NVmWAnqJA/OCnhNaDDz6Iuro6rF+/HosWLeobX7p0KdatW4fly5fj2Wef9euaixcvRlNTE5YtW4bly5dbPWVbkj3dhowFS0vc59iwxP3J47pjMWa8lzMHJhISgPyRQO2p/mufOgEUFgU1PyKiIUHNoA9TefteYtRYwBEHaK4LIxLy+FGI4ou9Pkce0Ze3F2PGQSSnWDsxtQ99PUvcE4XS1q1bsXXrVgBAba27BdL777+PhQsXAgCGDRuGp556CgBw8uRJlJSUYPz48aiuru67xgsvvIDHHnsMcXFxuPbaa7F+/XrD6xQWFvZdE3B/Zzl8+DBmzpyJsWPdlZw++eQTvPvuuwDcAf+ZM2da/NsShYifJe4NGfY93ZBSgxARzwMgIqJY06VUuvQxQM92LERENhSCRFORmuZZa5kl7ikqRDRAX1VVhdLSUhQWFuKhhx7SPbZq1Sr8+te/xpYtW7B27VqkpflWrv21117Dpk2bsGXLFvT09Az+hFjRYZItGMIMejg7ITvard0E4AcpJWSNEqAfOy7g64lRYyE9A/RnTg1wNhER9ZJKgF6EO0AfnwAxdrw7K753TlUVwAABeq3yc/01LC5vDwAiTylxf64OUkp32S0istyBAwfwwgsv6MaOHDmCI0fc7w3jx4/vC9B7c/Sou/WFy+XC008/bXrO7NmzdQH6BQsW4K9//Ss+/PBD/O1vf0N3dzdGjBiB2267DT/4wQ9w7bXXBv5LEYWb3z3oTR7v7vY9aEJEROSrADPokaScp5bKJyKisJJSMwToLYkxqRn06iYAIhuK6Nb2HTt2AADmzp0Lh0M/lYyMDMyaNQvt7e19/RsHU1dXh/vvvx/z588feqUkzd5wUizMBszKAdSgQiT70DeeB9pbdUNibGAZ9MCFMvcePIP1REQ0gFalxH16ZtinIIom6461qgqv58pzdcC5M/rnT5xi/ZzUDHpnJ9DWan4yEQVt5cqV7g2cXn48M+ULCwsNY75cQ0qJ9957T/ece++9F//93/+N6upqtLa2wul04vjx43jppZcYnKfo42/ww6xHPUsHExFRCKg96NXS9V4ZMui5ThERRZTTCUipH1OD6wEQKSxxT9EnogH6igr3DfTiYvPMtUmTJgEAKisrTR9X3X///dA0ze+S+ADgdDrR3Nys+4kmslMJ0CcmWdoDWMTFAZnZ+teMYJl7tf88UtMANcvfD2qAHmfPuNsGEBHRgCKdQQ8AYqI+QI/6s5BeNpFp5Qf1A+mZQVVg8SorG4jXFypiH3oiIrIzqQTohb896AGWDiYiijJSatBOnTB8r7MdNbCuZsZ7YQjk93RDappFkyIiIr+ZJppan0HPEvcUDSIaoG9qagIAZGVlmT7eO97Y2DjotX73u9/h9ddfx8aNGzFixAi/57JmzRpkZWX1/RQUFPh9jYhSS9yHoPS8WuZeNtRb/hq+Mpa3Hx9U2WAxYpTyAhpQVxvw9YiIhgw7ZNCPGmP4IK59YZ5FL8sP6Y4dky8JSa9cIRyAUuYe9QzQExGRjflb4j4+AYDyHaybAXoiomghXT1w/fb/g+s3T6Nn/RPQlO9KtmJYowLsQW92LSIiChtD4Dwuzrwyl7/ULHwG6CkKRDRAb5Xq6mo88sgj+M53voPbbrstoGssW7YMTU1NfT8nTpyweJYh1qkE6JMtLG/fKydPfxzJAP1JfQa9GBNc9qNISgZyh+lfg2XuiYgGZYsMeuEw9JGXhz8znCebGyFPKhu8SqaGbl55+jL38tzZkL0WERFR0NTs90FulAkhDEF8NQufiIjsS378Uf/3o+4uuF79L8gzpyM7KW8sDdBzrSIiihg1gz4lNajEy16CGfQUhSIaoO/NkO/NpFf1jmdnZw94nXvuuQcpKSnYuHFjwHNJSkpCZmam7ieaSCVAL6zsP997TTWAff6c5a/hC9nTA1l7UjcWbIAeAMTI0frXUV6DiIhMqKUQI5BBDwAOpY+8/KLcsHlA27dH/6SkZIjCopDNSSgZ9JIZ9EREZGdq9rsv/X3VID4z6ImIoob22QH9QHcXev68GdLlish8BuRvG5Zepu1YmEFPRBQxhgB98P3nATCDnqJSRAP0kye7e8Z66zF/+PBhAN571Pfat28f6urqMHz4cAgh+n7uvvtuAMDq1ashhMD8+fOtm7zdqG9sySEocW+XAH3tSUD3ZUFYE6Afoe9DL88wg56IaCCyuwtwdurGIpFBDwBiyqUXSu1eoGnQPvmo71C6XND2lemfc8llEHH6PvGWzmmYmkHPAD0REdmTlNIY/EjwIfihBj6YlUhEFBVkeyvkkS+MD5w/B1ll3i4skmSX/nunrxn0Ii7eXT5Zdy0G6ImIIkUqcSxhUatmNYMeHW3u7zhENha6u9I+mDNnDgCgtLQUmqbB4ejfL9DS0oLdu3cjNTUVV1999YDXufPOO9He3m4YP3z4MHbt2oXLLrsM06dPx+WXX27tL2AnhhL3yZa/hMhVStw3NUL29EDEh/evkVqeGMPyISwo6W/MoD8FKbWQ9CYmIooJavY8AGREJoNeJCVDXDwN0iMorx34EI4ZsyGEgKz4FGhp1j0n7sqZoZ2UEqBH4/mIrJtERESD6ukBoNzAYgY9EVHMkp8fAqRm/tipE0DxxWGe0SDUDWC+ZtD3nusZEGKAnogoctTM9lSLEk3VAL2muZOKQtEKmsgiEb1DXFRUhLlz56K0tBQbNmzAokWL+h5bsWIF2tra8MADDyAtrf8fV3l5OQBgypT+Urbr1683vf7mzZuxa9cu3HLLLXj88cdD9FvYg6HEfQgy6NUe7YAEGuuBYSOsf60ByBql//zY4LPnAUCM1GfQo8sJNJw3+b2JiAgAZKs+4I34BP9ulFjMcflVcHkE6HG2FrLyU2DiFLh2lurOFWPHG9/3LaaWuIeUQMM5YPjIkL4uERGR38wC64P0oAcAkZioD+szg56IKCpon33s9TFbVpR0KkH1pGAC9FyriIgipkNNNA1RgB5wbwZggJ5sLOKpwRs3bkR+fj4efvhhzJ8/H8uWLcMNN9yAdevWobi4GKtXr9adX1JSgpKSkgjN1sYMvTtC0IM+KRlIS9eNyfP1lr/OYNQMejFmvDUXzsgEUpXfj33oiWyvpqYG99xzD0aPHo2kpCQUFhbikUceQUNDQ8DX3LVrF+Li4iCEwE9+8hMLZxtjWtT+8xkQQkRmLgDE+AlAjr7ai+uNl+Ha+ieg7rRu3PHlEGfP48K6ma6vKMAy90REZEtmAfoAMuglM+iJiGxPSmlIftE9XmvDAL2S9S58WaN6qZvImUFPRBQxskOfQS8syqAXCYn61pcAJPvQk81FPEBfVFSEvXv3YuHChdizZw/Wrl2LqqoqLF68GGVlZcjLyxv8ImRS4j40O4Mi3YdetrUCDfpNAY6x1gTohRCmZe6JyL6qqqowffp0bNq0CVdddRWWLFmCCRMm4JlnnsGMGTNQX+//JqKWlhbcddddSLWqxFIMUzPoRYTK2/e9vnAgbvZc/WBbK+Sh/fqxEaMgLg1P2xsxTJ9FL8+dDcvrEhER+cUsmzAhwTimMvSgZ9CDiMj22loHfr9uPG+o1Blphr7xflRuE2q2vZqNT0RE4WNINLXw/qt6L5cBerK5iAfoAaCgoACbNm3C6dOn0dXVhWPHjuHpp59GTk6O4VwpJaSUJlcxWrhwIaSUMV/eHgCkUhpEWPnG5kkt9x7uAL3afz4hEci3rsS+MUDPDHoiO3vwwQdRV1eH9evXY+vWrXjyySfx7rvvYsmSJaioqMDy5cv9vubixYvR1NSEZcuWhWDGMUbtQZ+WEZl5eBDTpkNMKB7gBIG4b3wXIi4uPPPJ0/ehl/XMoCciIvsxZL7HxUE4fFgr1TL4LBtMRGR7psk2SiU0eea08ZxICiJAr24mMwT7iYgofJQAvUgxKU0fKPVa6mYAIpuxRYCeLNCpvNmEKoM+J8IZ9Gr/+dFjfbtx5CO1HzEz6Insq6qqCqWlpSgsLMRDDz2ke2zVqlVIS0vDli1b0Nbm+27J1157DZs2bcL69esxevTowZ8w1LW16g6F0gYlEoQQiPvnW73uwHVcdxMcowvCN6Fh+gA96plBT0RENqQG1n3oP296HkvcExHZ33nlO8mwEUD+SN2Q7frQq1nvfgXo1RL3XKuIiCJFhjCDXi2Xb3gtIpthgD5WKBn0lpYG8SBy9S0Hwh6gP6kE6K3qP997PSWDHi1N7rL6RGQ7O3bsAADMnTsXDod+OcvIyMCsWbPQ3t6OsrIyn65XV1eH+++/H/Pnz8cdd9zh11ycTieam5t1P0OBbFfeH20QoAcAkZOH+Hsfhph8Sf9gRhbi5v8LHGoJ/FDPJU8tcc8MeiIisiE1sO5jb1+hBD0kgx5ERLYn6/X38kTeMIgR9q0oKaU0BNUNZesHYgjQd1owKyIiCohadt7KFqNqTIwl7snmGKCPAbKnB+jp1o2JEGXQG0rcNzZAunpC81oKKTXIkyd0Y2LsOGtfJG84EB+vf10bfSkhon4VFRUAgOJi83LmkyZNAgBUVlb6dL37778fmqbh2Wef9Xsua9asQVZWVt9PQUEYM7QjSd3AZJMAPeAOjMfffg/iH/6/iLvr+4h/eBkcX/oyhFK6MRzz0Ons4A5eIiKyHzVA72sGvRrIZwY9EZHtyQYlQJ8zzFBREnYqce/qAaSmH/OnBz0z6ImGPCk1aJWfQfvkI8ju7sGfQCEhNQ3o1G+SsrJVs6FcPu+/kc0xQB8L1PL2AJASohL3aqBBasD5+pC8lsG5OsCpvIGPtTiD3hFnsmvYZmW9iAgA0NTUBADIysoyfbx3vLGxcdBr/e53v8Prr7+OjRs3YsSIEX7PZdmyZWhqaur7OXHixOBPigFqhRFhgx70KpGTB0fhRIj4hMhMICsHEPqPW7IhTOsmERGRr1jinohoyFAz6JE3DGK4/nuwbGwI44wGoZa3B9iDnoh8Jjva4fr9r+H642/h+usf0PObdZAtQ6Pype10dgCQ+jFLe9CzxD1FFwboY4Fa3h4AkkNU4j45BUjXB2DkuTMheS2VrDmuH8jMgsgwD8wFRQ3Q263vFhFZqrq6Go888gi+853v4LbbbgvoGklJScjMzNT9DAmGDHoLP1THCBEXB2Tn6AfD3B6GiIhoMFIJrAsfS9wbMuiZlUhEZGtSSsP3EZE7DCIzW39ieytkj02yTM0C6r6uU4BJiXsG6ImGCtnlRM/vfgl55HD/4Nkz6Nm8gW1tI8EsYG5lq2b1Wh0scU/2xgB9DJBqBn1CojsgECJimLKrNkz9dGVNaPvP9113JDPoiaJBb4Z8bya9qnc8Ozt7wOvcc889SElJwcaNGy2dX6yTrh5jVRMblbi3E5GTpzuW4ao8Q0RE5KsAS9wLZtATEUWXtlZDgFrkDgMyTRJg7JJhagioC98rvQAM0BMNYdr/vgeYJReePwfX9rfCPp+hzpDRHp8AkWBdxUuRqmbQmyS2EtkIA/SxQOnbgVD1n79ADMvXHYcrQK+dqNbPw+r+873XVTLoca7OPruGiajP5MmTAXjvMX/4sHt3rLce9b327duHuro6DB8+HEKIvp+7774bALB69WoIITB//nzrJh8L2kx2oTJAb0rkDtMdqz0fiYiIIk7NfA8wg14yg56IyNbk+bP6gbh4ICsbSEo2BLJlU2PY5jUQQ0n6xEQIIXx+PnvQEw1NUmrQDnzo/fFD+9nyItzUAL2V2fNm12tnBj3ZW3ykJ0AWMLyxhTZADyVAj7OhL3EvO9qBs7W6MTFuQkheS4wYpby45v4dR40NyesRUWDmzJkDACgtLYWmaXA4+vectbS0YPfu3UhNTcXVV1894HXuvPNOtLcbSywdPnwYu3btwmWXXYbp06fj8ssvt/YXiHZtLfpjIaz/YB0rlAx6MIOeiIjsJsAMevagJyKKMmq7rdw8CHHhu3RmFuCZhNPcGLZpDUjtQe9P/3nAuJnMrKc9EcUceeQw0NTg/YTuLsjyQxDTpodvUkOdGjBPtTpAr7TeZA96sjkG6GOA7NSX6hAh6j/fd/3hxhL3Ukq/dq/6SyrZ84iPhxg1JiSvJZKS3cGUhv4Aiqw9CcEAPZGtFBUVYe7cuSgtLcWGDRuwaNGivsdWrFiBtrY2PPDAA0jz6IteXl4OAJgyZUrf2Pr1602vv3nzZuzatQu33HILHn/88RD9FtHL0KsrNa3/xg7pGDLo2YOeiIjsRskmNJSu98bQg55BDyIiO5PN+hZxIju3/78zs3RVMtVzI0bNeE/yM0CflKxcj2sV0VCgHfhAPzBiNER6BmRVRf85n3wEBwP0YaOWuBcWJ/qoJe7R5YR09UDEMQxK9sS/mbFA7aUR4gx6tcQ9urvcu2qzckL2mvL4Uf0cxowL6RurGDkaUhegPx2y1yKiwG3cuBEzZ87Eww8/jO3bt6OkpAR79uzBjh07UFxcjNWrV+vOLykpAQBIKSMx3dii7npleXuvRK6SQd/aDNnd5Xvwg4iIKMSkVRn0LBtM5Lcf/ehH2Lt3LyorK3Hu3DmkpKRg/PjxmD9/Pn7wgx8gLy9v8IsQ+UrtK5+e2f/fmdn6x+ySQW8ocR9cBj0D9ESxT/Z0Q5Yf0o05Lr8KIiUVLo8AvTxSCdnaDOH5XkihY6gEnWZ+XqDMAv4d7fq1jshGmOoWCzqVN7YQ96BHRpaxL1WI+9DLE0qAvuCikL6e2odenjkV0tcjosAUFRVh7969WLhwIfbs2YO1a9eiqqoKixcvRllZGW9mhZCaQS8YoPdOLXEP6Kq0EBERRVx3t/7Yxx70Qj2vpxtSahZNimhoWLduHdra2nDTTTdh8eLF+Ld/+zfEx8dj5cqVmDZtGk6cOBHpKVIMkUqrMpGe0f/fSoBettgjg17tEW3oKT8YQw96BuiJYp08dQLo6fEYEXBMvRxiyqX69wQpIaurwj6/ISvcPejNXpPIRphBHwPCXuJeCIhh+e6FrncO5+qAoskheT3Z0wN5Uv+FVIwLcYB+pBKgrz0Z8jL+RBSYgoICbNq0yadz/cmcX7hwIRYuXBjgrIYAtQc9A/ReiYREICNTl60iz5+DyB8VwVkRERF5CDSD3ixI0t3tf3Yj0RDW3NyM5ORkw/jy5cvxxBNPYM2aNdi4cWMEZkYxSc2gz+jPKhSZWfrHbFPiXs2g968SmWEzmcvFksdEMU4er9YPjBgJkeq+byXGT4A8/Hn/uSeOAZdeHsbZDV2yQ1+N0/IS9444d1sTZ2f/a7a3gxEdsitm0McCw86jEGfQA4Dah76uNmQvJU+fAFz6HW9i7PiQvR5gzKCHsxNoagjpaxIRRRNDBn0qA/QDETlqH3pm0BMRkY2opel9DX6YBfJZ5p7IL2bBeQC47bbbAACHDx8O53QoxslWNYPee4l7aZcS904lQO9vD/pEk39jXKuIYppajdfhUY1XjC3Un1tTHYYZEYDQZ9CbXVPZFEBkJwzQxwIlgz7kJe4BiPyR+oEQloBX+88jf6Tlu6sMsnIMf44sc09E5IE96P2j9qE/fy4y8yAiIjKjZNALnzPoTc5Ts/GJKCBvvPEGAGDatGlez3E6nWhubtb9EHkjpQRa1R70niXulQz61lZIXcJMhKjB9IQge9ADLHNPFMOk1AzxBM9qvKKgUH/+6ZOGVhoUIu36AL1ItT7GI1KVvvYscU82xlo+MUB2KCXuQx28hlmP9tOQmgbhsH7Ph7qgOpRFNBSEEBAjRkMe6+9BI2tPAZMvDflrExFFBfag94vIGQbPBguSPeiJiMhGpKHEfYJvT4xPACAAz1WOWYlEAXnqqafQ2tqKpqYm7N27F//4xz8wbdo0/PjHP/b6nDVr1mDVqlVhnCVFNWen0pMZEBneM+gB6S6Jn50b8qkNRHZ16o6F3xn0DNATDSnn6gwJjboA/ZgCQDgAqbkHpAZ5qgaisCicsxySZFgy6JWky3YG6Mm+GKCPBZ3Km0w4MuiVHu3o6XZnAw7Lt/R1pNQgT1TrXzvE/ef7XkcN0DODnoioj1rinhn0AxNKBr1kBj0REdmJocS9b8EPIYQ7mO8R4JfdXezzSBSAp556CmfOnOk7/vrXv47Nmzdj+PDhXp+zbNkyLF26tO+4ubkZBQUFIZ0nRTE1ex7QZdAjOcW98aqnu29INjdCRDhAH+ga1Us44oy/VxfXKqJYZajGm5kNkZXTdygSk4CRo4HTNf3PqakGGKAPPUOAPs38vGCo12SJe7IxlriPBUoGfTh60Iu0DP2HeIQogH3urOGNO2wBemUTgqxlgJ6IqI8aoGcP+oHl6nvQo6nBHuUiiYiIAGNZel9L3APGzERmJRIFpLa2FlJK1NbW4tVXX8WRI0dw+eWXY9++fV6fk5SUhMzMTN0PkTeyRd9/HskpEPH9FVOEEEBWtv6c5qbQT2ww6rpilhE/GDWoz7WKKGZpp2p0x2JcoeEcx9jxumM1QZCsJ10udyUXDyEpca9k5avVp4nshAH6KCddLmO/wDBk0AMmZe5DEMCWJ5QdbxlZ7v7wYWCoEtBQD6ksIkREQ5HschrXHmbQD0jkKD3opQQaGyIzGSIiIpUhO9GP4IcazGeJe6KgjBgxAt/85jdRWlqK+vp63HnnnZGeEsWKAfrP9xJqMk5ri+GcsDME6JP9v4a6rjkZoCeKWXWndYdi5FjDKUIN0J85bTiHLKZWgQZCVOJeuSYz6MnGGKCPdmZvbMmh70EPAGLEKN1xKDLoNaUkjRh3kXtHbzgMH+HuR+OBizUREYB2kw+3DNAPSKSkGr4ksA89ERHZgZSaruwvAIhgMujVbHwiCsj48eNx8cUX49NPP8W5c2yPRMFTg+0i3aTigvq9zuy7X5hJJUAvAsmgV/vWM4OeKCZJKSHranVjIn+k4Tw1roGmBibmhZpa3h4ITYA+VS1xzx70ZF8M0Ee7TpOFIwwl7gGTDHqLA/RSSsgjh/WvGaby9gDcZb6G5+vnVHsybK9PRGRXhv7zcXFAUgBZDEOMmkXPPvRERGQL3d3GsYQE45gXhmA+M+iJLHPqlPs+S1xcXIRnQjGhRcmgzzDJoFdbl6nf/SJBzXZXg+0+EEqJe8m1iig2NTcaNuCYBeiRl29MzDt7JoQTI9muBMoTkyDi4i1/HUOJe/V1KSyk5oLrg3+g57U/Qas4FOnp2BYD9FFOqjuA4uN1/aNCyVACvrnJGLQJRv1ZoEXf68px0STrru8DwyaE0wzQExGZ9Z8PW3WTaKb2oT/PDHoiIrIBs4x3f7ITlXMlM+iJfFZZWYmmJmOPb03TsHz5ctTV1WHmzJnIyQlPqz+KbbJNyaBPM8mgVzIPpQ0y6I1tWPwP0BvWtS5myhLFIjV7HknJQGa24TwRHw/kKq0Iz9YaziMLqXGsUGTPm12XJe7DTnZ3w/XnF6D97a+QBz6E60+b0PP6nyF7TDaGD3HWb1Gh8Ors0B+Hqbw9AGBYvrvfoMcNGHnyOETxxZZcXjtSqR/IyHS/ZhiJUWMhD+7rO5ana8L6+kREtqQG6Fne3iciJw/S41g2MIOeiIhswCyL0K8S92rZYAboiXz11ltvYdmyZbjmmmtw0UUXIS8vD2fOnMHOnTtx5MgRjBw5Er/5zW8iPU2KFT5k0BtL3Nsgg97Qgz6QAD3XKqKhQKr95/NHek0oEfmjIOvPejyXAfqQUgPloQrQR1GJe9nWCu3AB5DnzsIx5VI4Jl8S6SkFTUoJ18svQB7+XD++fw9cUkP8vNsjNDN7YoA+2hl2HoWnvD0ACEccxOgCyGNVfWOy5hhgUYBeHlXK208oDnuGphhdoB+oq4Xs7obwo+QjEVGsUaulCAbofSJy1RL3zKAnIiIbMMt49+f7jhrMZwY9kc+++tWv4osvvsA//vEP7N+/H42NjUhLS0NxcTEWLFiAhx9+GLm5uZGeJsUI2aoP0Jv1oBdqBn2ES9xLTTOsK2q5ep8YAvTsQU8Ui4z950d5ORMQw0dAesQQJTPoQ0p26BNNRWpoAvRqiXv09EB2dxnbckWYa+/70N7eCvT0uI8PfAD5tXmIu/q6yE4sSPJIpSE43/fYgQ8hr7kRIm94mGdlXyxxH+WkkkEvksMXoAcAMXac7liePGbJdaWmQR79QjcW7vL2ACBGjQHgsSlAapBnToV9HkREtsIM+sCoJe4b6iGlFpm5EBERXWDow5uQCCH8uFXAHvREAbv00kvxy1/+EgcOHMC5c+fQ09ODpqYmfPjhh1i5ciWD82StVn2Je6T7kkEf4dLAwbZhucAQ1Ff72hOFWU1NDe655x6MHj0aSUlJKCwsxCOPPIKGhgafr/Gf//mfuPnmm1FYWIj09HRkZmZi6tSpWLp0KWpqhmYVWEMWvFn/+QvU3vSyjj3oQ0pdT8JV4t7stSNM1p+F9tarfcH5Xlrp69C8BLejhbavbODH9/5vmGYSHRigj3bKzqOQvbF5IcaO1x3LmuPu3a1BkiePA059PygxIQIB+sQkQ1l9eepE2OdBRGQnUilzKFIZoPeFyFEC9K4eoKXF/GQiIqJw6VZ6AfpZLUwYetAz6EFEZDdScxmqcIo0Y4DeUB2tox3S5Qrl1AZmlumelOz/dbhWkY1UVVVh+vTp2LRpE6666iosWbIEEyZMwDPPPIMZM2agvt63anvPPfccTp06hdmzZ+PBBx/Evffei7y8PKxbtw6XXHIJ9u/fH+LfxF6kpgFn9UF2NQg/4GMtTYZkSLKQugalpHk5MUjJyYBahVmNoUWY6x/vAmYJO1LC9cafIV09xseigGxrgSz/dMBztAMfQrLiWh8G6KNdp1LiPtwZ9GP0AXp0OYFzdUFfV1Z+ph8YPgIiIyvo6wZCjB6rO2YfeiIa8phBH5j0DCBe312IfeiJrPHKK69g0aJFuPbaa5GZmQkhBO64446ArhVINstnn32G2267Dfn5+UhOTsbkyZOxYsUKdNjsRgCRKfUGib/lH1ninojI/sw+k6h9egHAbPO12jc4nMyqsgSQQY9EJajPai8UQQ8++CDq6uqwfv16bN26FU8++STeffddLFmyBBUVFVi+fLlP1zl06BAOHDiAF154AT//+c+xbt06vPfee/j1r3+N5uZmn68TM5oa3IkQHsTwEd7Pzx0OOOJ0Q+xDHzrS0Ko5RCXuhcMQI5ORXMcUsvE85Cd7vZ/Q0gxZVRm+CVlIO7AX0Dw29cXHI/7+R6CrUN3ZAfnpx+Gemm0xQB/lDL07ksOcQZ+RCWTl6MZkTfBl7jUlQO+wqK99IMQoJUB/igF6Ihra2IM+MEIIIEffhx4N7ENPZIXHH3+8r0TwmDFjAr5OINkse/bswZVXXomtW7fiq1/9KhYvXozMzEz89Kc/xU033QQnS6iS3anZif4GPtTzGfQgIrIfs/K+Zv1/zcbaIhjYUKprIi4OIi7e/NyBqGsVP59RhFRVVaG0tBSFhYV46KGHdI+tWrUKaWlp2LJlC9p8+HeXnGxeTeK2224DABw+fDj4CUcReV5JgEhKNt90dIGIiwPylEqH9WdDMDMCYMigD2klaHUDWnu7+XkRoH3wD8CzAnV8vCG+pn3yUZhnZQ1ZflB3LC7+EsToAoiJk3XjWlV5OKdlawzQRzu17EpKeDPoAWOZe+34kaCuJxvPA3Wn9a9RfElQ1wyGGF2gHzhbyzIcRDS0MYM+YEIJ0MuG8xGaCVFsWbduHSorK9Hc3Ixf/epXAV/H32wWl8uFu+++G+3t7XjllVfwhz/8Af/xH/+BPXv24Nvf/jZ2796NdevWBfvrEYWW8t1GBJtBzwA9EZHtSDVAn5hkGugWjjhD0ERtcRZOUl1T1F7yPjL0oDcrnU8UBjt27AAAzJ07Fw6HPjSTkZGBWbNmob29HWVlA/dxHsgbb7wBAJg2bVrgE41C8rx+M7XIHeZOlBiAyNUH6CWTKEJGzWIXIQzQq9c2ZO9HkFahLwHvuGIGHLPm6MZkxSFIdYOazckup6E1tGPqFe7/nTJVf251FaSUYZubnTFAH+0iXOIeAMS4i3TH8khlUP/A1Ox5pKQaNgGEkxg5Wt+3RErI2lMRmw8RUSRJKRmgD4IxQM8S90RWmDNnDiZNmjToDZiBBJLNsnPnTnz++ee47rrr8I1vfKNv3OFw4Oc//zkA4Nlnn+WXT7I1qfag9zODXu1BzxL3REQ2pJb3NStv7+0x9ftfOBmqvAQWoEeS/nmGwD9RmFRUVAAAiouLTR+fNGkSAKCy0vcS188//zxWrlyJRx99FF/72tdw1113Yfz48XjyyScHfJ7T6URzc7PuJ6qpGfRK8N2MyFEC9Oo1yDpqq5WB1qFgqcF/m5S4lw31hr+njsu+DMclXwI8N+z09EB+fhDRRJ6o1lcGcDj64obioon6k1tbgPrg22THAgboo5yxxH34A/SOCcoHipZm4NyZgK8nKw7pjsWkEghH5P6qisQkYJi+X426G4iIaMhwdur7CYEl7v1iKHHPDHoiuwgkm+Xdd98FAHz96183XG/ChAkoLi7GsWPHcOSI9wpTMXdjjKKPGqQIMoOeQQ8iIhtSMujFAIER9fudIfs+nKwK0Bsy6KMrM5FiR1NTEwAgKyvL9PHe8cbGRp+v+fzzz2PVqlVYu3YtSktLMX36dPz973/vC/Z7s2bNGmRlZfX9FBQUDHi+3akJEGp2vKlctiEMG3UtCWUlaHWNs0kGvVZVoR9ITQdGjoZITYeYOEU5N7rKwMvqKt2xGF3QX70mJw/I0L/nacr5QxUD9NHOBiXukTccyMzWDWlHAutxI1ubIY9+oRtzRLC8fS8xWulDf5p96IloiDLLngjlrtcYY8yg55c/IrsIJJvFigyYWLsxRlFIzXgPtgc9M+iJiGxHqv13B/oOp27AjmQGvdIrXiQFGqBnOxaKXWVlZZBS4ty5cygtLQUATJ8+HW+//faAz1u2bBmampr6fk6ciO6ENDX7Xb3/YsZQ4p4Z9CEhe3qMbbVSQncv0a4l7qUSoBdFxRDCHaJVY2Dy2NGoqsQnjykB+vET+v9bCEMWvazWxwCHKgboo50aoE8OXe8Ob4QQEBP0O/LkEd/L8HjSPv0Y8HzjSUiEKC4JZnqWEKOUAP0pBuiJaGiS6s2ZhERjPz/yyvAFsa016vpKEcWqQLJZrMiAibUbYxSF1OxE9qAnIoo9hsxF7/cPRap9AvTSkEHv5xp1gVkP+mgKfFDs6P1+0Ps9QtU7np2d7fe18/LycNNNN6G0tBQpKSlYsGABOtSy4h6SkpKQmZmp+4lWUmqA0oPetxL3yj2azg7bBHNjitmfaQh70BuuHclKMBdIlwtSSWp1FE3u+2+1jTRamoCmhnBMLWiyuwvypP4+hhhfpDt2FOqP2YfejQH6KCY1zV1q2IOIRAY9jGXuZXUVpKvH7+vIQ/t1x2LKJRD+3iAKATFayWQ6d8b4JYGIaChg//ngZOcaxxpZ5p5oKIulG2MUpZSAut/fv9SgBzPoiYhsR3b4XuJeza6PyRL3mga4XObnEoXQ5MnugJy3CluHD7sDeN4qdPkiOzsbM2bMwNmzZ/Hpp58GfJ2o0tIMKLEIn0rcZ+foe3+DWfQhYdYDPpRxLDU73wabLuTpGsOaJjwC9BiWb9hYII8fDcfUgiZPntC3QxXCsOFAFCp96Ntao2YDQigxQB/N1Ox5ICIZ9AAMGfTockJW+ZdFLxvqIWuO6cYcl14R7NQsIUaOBoTHPxcpIWtPRW5CRESR0q4P0LP/vH9EQoKh7xLL3BPZQyDZLKHMgCEKFxlkiXthUuJeSi3IWRERkaXUILs/Je7bI1jiPlQBeoB96Cki5syZAwAoLS2Fpuk/L7W0tGD37t1ITU3F1VdfHdTrnDx5EgAQHx8f1HWihSGonpAIpGcM+jzhiAOycvSDDNBbzlCVICnZ/WcfIiLVfiXu5SmlUt6wERAef0eFSVBbnqgOw8yCJ2tP6gfyR0EkJevHsnOBZP2mDMbXGKCPbmYB+ghl0Iu0DIiCQt2Y9ukBv66hfVSmH0hOgSgKfLeglURCIjB8hG7M8KZKRDQEGErcM0DvN0MferUMGxFFRCDZLOHIgCEKOTVAn+Bn8MMs4767O/D5EBGR9Qwl7r0H6NXsetkWyQx6pcpLwAF6k7WKLVkoAoqKijB37lxUV1djw4YNusdWrFiBtrY2LFiwAGlp/f8Oy8vLUV5erjv3+PHjOHPmjOlrPPfcc/jwww9RUFCAqVOnWv9L2JEaVM/JgxDCp6ca+9DzHo3l2pUA+UCbxKxgKHFvgwD9aX3LZDF6rOEcQ3wtWjLoz+gD7WLUGMM5QgiIkfpxQ2B/CBoaW6hilGHnT1wcEJ8QmckAEJdcptvVI8sPQXZ3u7MFByF7uqHt36Mbc0y9AiLOPn9FxeixkHWn+47lqeMRnA0RUYSoAXq1PyENLicXOH6k/5gZ9ES2oGazODxKHXrLZrnhhhuwevVqbNu2DcuWLdNd78iRI6isrMT48eMxYcKE8PwSRIFQAxT+9vc1O7+7K/AsRyIispx6D3HAEveGDPrIBeiNPeitDNCzdSVFxsaNGzFz5kw8/PDD2L59O0pKSrBnzx7s2LEDxcXFWL16te78kpISAND1a963bx++853vYMaMGZg4cSJGjBiB+vp6lJWV4eDBg0hPT8eWLVsQFxe6LGU7UTPofSpv73GurKrov1YDM+gtp65Boew/b3b9jnZIKX3etBEK8pQSoB9lEqBX+9DX1UJ2dkAkRyYp11dqJrwYMdr0PDFiNGT1F/3PO3Pa9LyhJKAM+iNHjgx+EoWemkGfnBrRNxnHxV8C4PH6XU7ILz736bnys08MH/gdV86ycHbBE2PG647liWNeziSigXANiW5qBr1IC/Gu1xgkcpTd2exBT0NUpNaD7u5ulJeXo6qqSjceSDbL7NmzUVJSgl27duH111/vG9c0DT/60Y8AAN/73vci+hmdaFCGDHo/A/Rm5zMrkWIcv9NQ1DGUuPceHPEW2IgIiwL0QjgM65V0MkBPvrPyfb+oqAh79+7FwoULsWfPHqxduxZVVVVYvHgxysrKkJeXN+g1rrjiCixevBhOpxNvvvkmnnrqKfzxj3+EEAI//OEP8dlnn2H27NmWzdnu1PsqIifX9ycrVQ5Z4t56Uu1BH+IAveH6UgOckWtrIru7gbP6ihemGfSjCgBd6X+pSxi1I+lyAWdrdWNeA/Qj9ePMoA8wg37ixImYPXs27r33Xtx6661ITk4e/ElkPTWDPkLl7XuJjEyIwiLdLhjtozI4SqYN+DwpNbj+9z39tS6aCKGUlI80R0EhdJ2BGs9DtjRBKL2EiWhgXEOinNp/MG3wnl6kp35RNPRKIxoiPNeDuXPnBnWtrVu3YuvWrQCA2lr3l8P3338fCxcuBAAMGzYMTz31FAB3P8aSkhKMHz8e1dXVuuv4m80SFxeHTZs24YYbbsCtt96KW2+9FePGjcP27duxd+9ezJo1C0uWLAnqdyMKNWkoH+xvgN6kYhoD9BTj+J2GoonUNKBDn+QzYAa9WWCjywmo/WTDQQ2iJwVRnSUxSb8pjRn05Aer3/cLCgqwadMmn8412yAzbty4vu83BKCxQX+c7XuAXuQqbQjVa1HwDHGsEAfozda4jnZDD/RwkWdOudfSXibl3gFAxMcDw/IBzyrOZ04D42xcka++DnC5dENqIL5/XPmdG89HRYWAUAoog37fvn2YNm0ali5dipEjR+KBBx7ABx98YPXcaBBSyaC3w19kx9TLdceyqmLQXT7ys4OA0qfC8WV7Zc8DcPegV76MMIueyH9cQ6KbMYOeJe79pu7Obmxw3zQjGmI814PeHu0fffRRQNc6cOAAXnjhBbzwwgt4++23AbizXHrHXnnlFZ+uE0g2y1e+8hV8+OGHmDdvHkpLS7Fu3To0NTXhsccewzvvvIOkYG4kE4VDkBn0plmJ6jWJYgy/01BU6WwHoAT4/AnQA8bgSrgoQXS/N5F5Uj+TMUBPfuD7vr3JJn1QXfgToM9Szm1phnT1WDEtukC2h7fEPRIS3e2gPecQqXUMgDx1Qj8wLB/CS0UYMWKUfsDmZeDV8vbIzPL+/+/wfKVCAMvcBxSgv+yyy/DMM8/g1KlT+N3vfofTp0/jmmuuwaWXXopf/OIXOHv2rNXzJDMdaon7yAfoxdQrDB/yXe/v9Hq+1FxwvbdNPzh8BMSUS0MxvaAIhwNi7DjdmDxRHZnJEEUxriFRTu1BzwC939Td2dBcQEtTZCZDFEGe68Evf/lLAMDXvva1gNaDlStXQkrp9cczU76wsNAw5qk3m+X06dPo6urCsWPH8PTTTyMnJ8fr61988cV4+eWXce7cOTidTlRWVmLVqlVIiXCFKyKfBNuDHjAG9Rn0oBjH7zQUVdpNghIpAwToE5MAh3LLOEKBDct60APG9Y3VXsgPfN+3L9nTDbS26MZElvfvbgbZ6rkSaGoMel7koTO8GfRCCONrqK1ewkieHrz/fN9jSoBeKomtdqPOz6wyQN9jcfHuJFjP5w/xMvcBBeh7xcfH41vf+hZefvll/Md//Ae++OILPProoygoKMCdd96J06eH9u6HkDO8sUX+BqBISDT0jpeffOQ1i17bvQM4V6cbi7v+6xDqFwGbEGMLdceypjoi8yCKBVxDoo+UmuED7YClEclcarox0/B8fYQmQxR58fHx+MY3vgEAWLVqFdcDonALtgc9YAx6MIOehgh+p6FoINWgRGKSu4yuF2aBjYhlHho2kQUeoBeJSlVMbiajAPB934bMgumGoLt3IjnFWDW3iWXuLaVuFAvHvUR1I1okM+iVLPEBA/T5SoC+rtZ9P9amDAF6L/3n+x5X+9DX1Xo5c2gIKgq6d+9ePPjggxg1ahR+8Ytf4NFHH0VVVRXeeecdnDp1CvPmzbNqnmRCqv2jkkNcGsRHjitnAp4f9DUNrtf/bCjfK2tPQnuvVP/kkWMgSqaGYZaBEQWFumN5qsa9S4+I/MY1JAp1tANq7zP2oPebEAJQs+gbGKCnoWvv3r1YunQpAGDDhg1cD4jCSEppCH4EVD7YkEHPAD0NDfxOQ1FBDdD7krmonhOpwIazU39sZQa92t+eyAd837cf2XheP5CcAqEE3AelZtyzD72l1E1eIS9xD0Ck2mOjmZSaIUFV5I/0er4hwN3ltPXfR3nW998NAMQwfQY96uvMTxwivG+XHMAvfvELbNq0CRUVFbj55pvx4osv4uabb4bjQtbzRRddhM2bN6OwsNDKuZKq034l7gFApGXAcfVsaP/Y3jcmTx6Htm0rHP80H0I4IM+eQc9//cZd1rfviQJxt3zbHbiwKTF2PCBEf4BKc0HWHIcoLIrsxIiiCNeQKKaWtweANGbQB0Lk5Ol20EoG6GkI8lwP5s6dCwA4dOgQsrOzAXA9IAoLlwtQMzICyKAXiYn67sbMoKcYx+80FFU6/K+CJlJSde/rdsmgF2ofeX+wBz0Fge/7NqZmu/tT3v4CkZ2jqwDMDHqLdQSwUSxYdilx39Ro+G4klDLvOhmZ7rl7rLvyzGmInDzvz4kQ2eUEmht1Y4YAvEIMG66/Rv3Qbg8SUID+V7/6Fe655x4sXLgQo0aNMj0nPz8fv/3tb4OaHA0izL07/OG47iZon38CePwD0z7cDVlzDMgbDlnxqeGNyTHrBjjGjg/3VP0ikpIhRo7R9Q2R1V8ADNAT+YxrSPSSaoA+OcXdP4j8JrLz9De8GKCnIchzPUhLS0NWVlbfDa5eXA+IQswskB5IBr3yHMkMeopx/E5D0cRQ4j41OjLopatHn9gDBJdBn8AAPQWO7/v2JZXsYuFHefu+52Tl6O/RMEBvLXUNCUuJe3Ud6zA/L8Tk2TP6gaRkID3T6/lCCIgRoyCrq/qvUXcamHJpqKYYOLN2nXnDBnyKyMvXD7S2QDo7/a96ESMCuqv+zjvvYNy4cYYbaFJKnDhxAuPGjUNiYiLuuusuSyZJ5mSnvsyTsEkGPQCIhATEfeM2uDb/SpeRIU/XAB7B7b7zCwrhuH5uOKcYMDG+SB+gP1Y1wNlEpOIaEsXa1Bs7zJ4PGEvcE+nWg+bm5r5xrgdEYWQWnAikB736HGbQU4zjdxqKKmpQIlpK3JuVoA+mB31Skj4AxwA9+YHv+/alBtNFVq7/F2GJ+5CR3V1AT49uLCwl7g2VYCKTQS/V8vbDRwxaQVrkqwF6e/Zpl2p5+qwciMG+S+bk6StUw/1nJMaMC8EM7S+gHvRFRUU4d+6cYfz8+fO46KKL/L5eTU0N7rnnHowePRpJSUkoLCzEI488goYG398I//M//xM333wzCgsLkZ6ejszMTEydOhVLly5FTY0xIBwT1A/HKfYJ0AOAY9wExH3rXwEx8F8zMWYc4v71vqjJwlTL2csTx9iHnsgPVq8hFD6yrUV3LNLSIzST6KeWpmIGPQ1FXA+IbMAs092CDHr2oKdYxzWMoorSIlMkDx4YUc+JSIl7swB6IGtU33OZQU+B4/u+janZ7oFk0CvPYQa9hczWj7CUuFeSiiLVg17NoB+Wb36i7hx9mXi7loGX5/TzEoNkzwOAiI8HspVNNDb9/cIhoIiolNJ0vLW1FcnJ/pUiqKqqwsyZM1FXV4d58+ZhypQp+OCDD/DMM89g27Zt2L17N/LyBu+v8NxzzyE9PR2zZ8/GiBEj0N3djf3792PdunX47W9/i/feew+XX365X3OzPUMPevuUuO/luPRyIDEJrtdeAtrV3sUC4rIrEff1eVFVwkKMnwBAAL17sFw9kCePQ4xnmXsiX1i5hlCYqSXu0zIiM48YYOgd1dEO2dlhq2o4RKHG9YAo8qSa6R4XB+GI8/9CaqYEA/QU47iGUTSRaotMX75z2CGDPuQBeq5V5Du+79uXocR9AD3oDRn0TY2QmgbhCCi/lTy1K+uHEEAY/s0ItZ1LhAL0OKcP0A/Wox0wCXTXn4WUctDM+3CT59UAvQ+bDwCIYfm6RCW7bkAIB78C9EuXLgXg7oPw2GOPIdXjL7nL5cKePXtw2WWX+TWBBx98EHV1dVi/fj0WLVqke61169Zh+fLlePbZZwe9zqFDh0wXw9/85jf493//dyxfvhxvvfWWX3OzMyk1QC1xb7MM+l6O4oshHvkJ5KF90KqrACkhsnLgmHoFRP7ISE/PbyI5BRg1RleqXx79AmCAnmhAoVhDKMyUAD0z6IOQnQPdZi/AXeZ+1NhIzYgobMzWg64LN0h/9KMfYf/+/VwPiMJFDU4EWDpYJChlg7uZlUixid9pKCoZStz7EqBXzolA716prlEJiRCDVOkckBrcNyuhT6Tg+769Sc0FNDfpBy3IoIfmAlqbgczswCdHAEwqsCSnBPde7itlo5lsD3+JeymlIYNeDPclQD9cP9Dd5f77mJFl5fSCp5TvhzpvL0TucEh83ndsKJU/hPgVoN+/fz8A91+sgwcPItHjg01iYiK+9KUv4dFHH/X5elVVVSgtLUVhYSEeeugh3WOrVq3Cr3/9a2zZsgVr165FWtrAfW697VS77bbb8O///u84fPiwz/OKCp2d0N3UB3zbARshIiEB4vKvwHH5VyI9FUs4xhdB8wzQH6kErv9aBGdEZH9WryEUfoYPs+xBHzARFw9kZetKscmG8xAM0NMQYLYeuFwuAEBlZSXXA6JwUjPoA+k/DxiDHuxBTzGK32koKgVS4l4NbESkB70+MSmY/vMADNU72YOefMH3fZtraQakphsKKIM+LR2Iiwdc/b3SZWMDBAP0wVN7v4ejvD1gjxL3ba3GNdiHAD0ys9zfyzy+U8n6sxA2CtBLKQ2Z74aNBd4M05/HDHof7dixAwBw991345lnnkFmZmZQL957vblz58KhlAvJyMjArFmzUFpairKyMtx4440BvcYbb7wBAJg2bdqA5zmdTjg9dk42NzcH9Hpho5a3B8L35kYQRcVA2c6+Y1lznKWJiQZh9RpCEWAocc8M+mCInFxdXzPZYOxnRxSLzNaD5uZmZGVl4a9//SvXB6JwMmTQBxigZ4l7GiL4nYaikSG47lMGvQ1KA6trSVJwAXrDGscAPfmA7/v2JtXs+bj4gJJJhHC4kyjOe9yXaWoAcFFQ8yMY1g8RpmQfQ4n7zs6wty2QaoZ5fLyxnYIJIRxA7jDgzKn+wfqzQOFEi2cYhLZWw0Y6MczHEvdqKfz6c5BSC09lBZsJqAf9pk2bLHnxiooKAEBxcbHp45MmTUJpaSkqKyt9DtA///zzqKmpQWtrKw4ePIi///3vGD9+PJ588skBn7dmzRqsWrXKv18gktQPxsIReLYD+U2Mn6DfVSc1yKOHIUoG3ghCRNatIRR+sq1Fd8wS90HKyQOqq/qPG85Hbi5EEcD1gMgGlFL0ghn0RD7hGkZRRU3y8SGD3ixAH/b+t2oAPZj+84BJD3oG6Ml3fN+3qRYlQJ+ZFfD7lMjKhvQI0BuC/xQQqfagD1sGvfo6EuhsB1LDeC9T6dGO3OE+bxAQecMhPQL0dssyN5Sl760U6gPTEv4tQ7OlhM8B+m9961vYvHkzMjMz8a1vfWvAc1999VWfrtnU5H6Ty8oyL83QO97Y2OjrNPH8889jz549fcdXXnkl/vCHP2DixIF3lyxbtqyvpwzgzqAvKCjw+XXDTaofrlNSwvsheYgTCYkQ4ye4S9tfoH1RAQcD9ESmQrGGUAQYMugzIjOPGCFy8vT9eplBT0OAt/Wgu7sbAPBv//ZvSEhIAMD1gCgcDP19Awx+GAL7zKCnGMTvNBSNpNSM5XV9yKBXS9zD1QP0dIc1OUgtQS8Szdub+kwN0LMHPQ2C7/v2pwbRgyoBrgYHGaC3hqGKS4RK3ANAR0dYA/TyfL3uWOQO8/m5Im+4/p6hzQL0umoTAJA7zPcM+IxMID7B/bniAtlwfki2lPA5QJ+V1b/7yFtA3Q7KysoAAPX19di3bx+WL1+O6dOn489//jO+9jXvPcKTkpKQFGyppHDqUHe/srR6uImiyboAvayqCP9uYqIoES1rCHknXS7jjZ009qAPhsjJ0x1LZtDTEOBtPegN0GdlZfUF6IkoDELUg14yg55iEL/TUFRyOgEp9WO+3EM0C6B0tIe3eqfFGfRCve/b3TVkS+qSb/i+HwValDbFGYG3IBAZWfqAqJqdTwGRSg96wwawEBHx8cY+7u1tvvdJt4CaiCNy87ycaaTO024BevUepl+/mxBATi5w9kz/YEM9MH6CVdOLGj4H6D3LuFhV0qV3YevNpFf1jmdnZ/t97by8PNx000248sorMWXKFCxYsADHjh1Dii99lqJBp9K7g/3nw84xcTK0d97oH2hqAM7WAvmjIjcpIpsKxRrSq6amBo899hi2bduG+vp6jBo1CvPnz8eKFSuQkzN4Xx8A+M///E/s2LEDn332Gc6dOweHw4Hx48fjpptuwtKlSzF27FhL5xyV2tuMYyxxHxwlQI/GBkjNBeGIi8x8iMLA23rQ3NyM//qv/8LGjRvZ15EonKzqQW/o68sAPcWeUH6nIQoZtQIn4Fv2YnIyAAF4hqs62sNbflbNcA+6B73J87u6gKQgM/MpZvF93/7UILq1GfSNgV+L+hky6MOY7JOSqt+QrM4lxKSaZZ7jewY91I0EDfW2umcoG5XqAOo9zkGInDxIjwC9bKgf4OzYFdAWwY6ODrR79I44duwYnn76aZSWlvp1ncmTJwMAKisrTR8/fPgwAO896n2RnZ2NGTNm4OzZs/j0008Dvo7dSGbQR97wkYaFWyuPnb9jRKFi1RoCAFVVVZg+fTo2bdqEq666CkuWLMGECRPwzDPPYMaMGaiv921xf+6553Dq1CnMnj0bDz74IO69917k5eVh3bp1uOSSS7B//36/5xZz1PL2EOH9UB2DDB9epQY0NUZkLkSRoK4HALBx48aA1gMiCpBVGfTq85hBTzHOyu80RCGlBuiFMA9UQz3NAShJTjLMgQ3DZq+EEAXoiXzA932bMulBHyihbBRnD3qLGAL0YYxjpSob0sK4jkkpAUOJ+8Az6KFpQGODFVOzhloF1N8AfXau7lg2Ds2qogEF6OfNm4cXX3wRgLs//FVXXYW1a9di3rx5+NWvfuXzdebMmQMAKC0thaZpusdaWlqwe/dupKam4uqrrw5kmn1OnjwJAIiP97lggP11RvCNjQC4S3E4Jl+iG5MVhyI0G6LoYdUaAgAPPvgg6urqsH79emzduhVPPvkk3n33XSxZsgQVFRVYvny5T9c5dOgQDhw4gBdeeAE///nPsW7dOrz33nv49a9/jebmZp+vE8tkW4t+IDUNwsFSgEFJSTVkawzVHaM0NKnrAQD88pe/DGg9IKIAKYEJQy95X6lBDwY8KMZZ+Z2GKJTMEnx8bs2oZtqHO/Owq1N3bChR7y/TAD370JNv+L5vT8Ye9EGUuFcz6FubITVXwNcjN3Vzl0gNX7KPWnVamlUHDZX2VsMa41cP+pRUQ1Kune4ZqnPxN4PeENC30e8WTgHdWd+3bx+uvfZaAMArr7yCkSNH4tixY3jxxRexfv16n69TVFSEuXPnorq6Ghs2bNA9tmLFCrS1tWHBggVI8+hxW15ejvLyct25x48fx5kzZ2Dmueeew4cffoiCggJMnTrV57nZXqfyITWZJe4jQUy5VHcsT52AbLLRTiYiG7JqDamqqkJpaSkKCwvx0EMP6R5btWoV0tLSsGXLFrS1Df7hKznZvKTdbbfdBqC/osuQpn6IZf/5oLl7LvEDKQ1dnuvBa6+9BsC9Ycrf9YCIAmfoFR9giXtDYP9CX1+iWGXVdxqikFMTfPyowGlop9ke4Qx6HzL/ByLi4wG1NDAD9OQjvu/bj5TSpAd9MCXuledKCbSq1STJb+raEc5WzWrlz3Bm0Kvl7R1xfreJUYPedgnQyy6nodKqyMn1crY59Xy1p/1QEVBKeXt7OzIyMgC4s9+/9a1vweFw4Oqrr8axY8f8utbGjRsxc+ZMPPzww9i+fTtKSkqwZ88e7NixA8XFxVi9erXu/JKSEgAX3oAv2LdvH77zne9gxowZmDhxIkaMGIH6+nqUlZXh4MGDSE9Px5YtWxAXZ4/+DFaQQXzAJuuI8UXuP3uPkmFaxaeIu+qaCM6KyN6sWkN27NgBAJg7dy4cSiZ3RkYGZs2ahdLSUpSVleHGG28MaK5vvPEGAGDatGkBPT+WSPWDF/vPW0Lk5EHWnuw7luft8WGbKBw814N3330XAAL+TkFEAbKqxL1ZYL+7O+hgCpFdWXlfjCiklAx6Q9B9IGrmnnovMtTU4HmAm8gM1/C4hyedTvhYT4CGOL7v25Cz0/BZVgRR4h6paUBcHODqz5qXzY3BXXOIk1IaguJ+rUNBEimpkJ4D4awEo97fy8n1vxJpTh5wuqb/2C5BbLN5ZPsboFcSllqbIbu7IRISgphY9Akog37ixInYunUrTpw4gbfffhtz584FANTV1SEz078yIkVFRdi7dy8WLlyIPXv2YO3ataiqqsLixYtRVlaGvLzBSyNcccUVWLx4MZxOJ95880089dRT+OMf/wghBH74wx/is88+w+zZswP5Ve0rkr07qI+Ii4Movlg3Jj/7JEKzIYoOVq0hFRUVAIDi4mLTxydNmgQAqKys9Pmazz//PFauXIlHH30UX/va13DXXXdh/PjxePLJJwd8ntPpRHNzs+4n5qg96Bmgt4Rhx2gjA/Q0dHiuB70BeiCw7xREFCCrgh9mgX32oacYZuV9MaJQCirBR73XqJbLDzXDGmXBpi+lxRgz6MlXfN+3IbX/PACkB1HiXjiMGfjsQx+cLiegtgkIawa9UuK+I3wl7tUMen/K2/c9x9Cn3R73DA2Z/BmZEPF+BtbNAvpDsA99QBn0jz32GP71X/8VS5YswY033ogZM2YAcO8eu/zyy/2+XkFBATZt2uTTuZ6Z873GjRuHp556yu/XjWrB7IAlSzmmTIXrk4/6juWxI5BNDRBZORGcFZF9WbWGNDW5PyRnZZnvZO0d7+1r7Ivnn38ee/bs6Tu+8sor8Yc//AETJ04c8Hlr1qzBqlWrfH6daKT2oBepDNBbIkf/AX2olnSioclzPZg9e3ZfZZRAv1MQUQDU8sEJAQY/zAL7XV0AO+JQjLL6vhhRyKhBdT8SfESyknnYGd4AvVTWKGFFgF5drxigJx/xfd9+pFrePiU16OxbkZkF6REklM2NQV1vyDPLWA9jD3rDa4WzxH2DEqDP8T9Ar7bFtMs9w6D7z+PCmp6WrksIkw31EMNHBD2/aBJQBv2tt96K48ePY+/evdi2bVvf+I033oh169ZZNjnyTqofitmDPmLEpCnKDlwJ7dMDkZoOke3ZeQ0pKyuDlBLnzp1DaWkpAGD69Ol4++23B3zesmXL0NTU1Pdz4sSJcEw3vAw96Bmgt4KhR9P5c6abEYliked68Oqrr/aN22E9IBoq1B70IuAMepObocygpxhm5+80RDrK/UPhz/1DQ4n7MGfQOzv1x0nBB+gNQX4G6MlHfN+3ITW7PZj+873UcvZmWfrkOzUg7nCEtQWWmtQq2yNY4j43gCC2es/QJj3oDfMIIEAPGAP7khn0vhs5ciRGjhypG7vqqquCnhD5yFDingH6SBHxCRAl0yAPfNA3ph3ch7iZcyI4KyJ7s2IN6c2Q782kV/WOZ2dn+z2/vLw83HTTTbjyyisxZcoULFiwAMeOHUOKl2yDpKQkJFlws8DWWOI+JAwlrpyd7ptoXNdpiOhdDzxbg/A7BdmRbG+F9u42aBWfQuSPQNw3/xUiiBKatmHIoA8sQC+EA4hPAHq6+8ZkVxf7+lJM430xigaWlrgPew96ZY2yJINefw3pZICefMf3fXuRSvBcZAT/2VxkZOsqh0iWuA+KNIlhCRHGbwhqBr2afBRCarA5oCxz9TmdHZAd7RGvpm343fzsP98nOxeoOdZ/rG5qGAICCtC3tbXhySefxPbt21FXVwdN03SPHzlyxJLJkTmpaUCnfhepYA/6iHJMuwIujwA9ak9BnjkNMWJU5CZFZFNWrSGTJ08G4L3H/OHDhwF471Hvi+zsbMyYMQNbt27Fp59+ii9/+csBXyvaSSVALxigt0ZmNiAcgOz/dyAb6iP+YZsoHDzXg9raWgDAtGnT4HC4i3zxOwXZhXbiKFx/2tR3Q0e2NsP19muI//aCCM/MAmqWe6AZ9IA76OERoGcGPcUy3hejqBFUiftY7EGvZtBzrSLf8H3fhtQS96HIoGeAPjhqQDzc97rU1wtTiXvZ5TQkOhmy4X2RlQ0IAXhW2mw8H/GkHitK3APuwL5+Q0xDELOKTgEF6O+77z7s3LkTCxYswKhRo8K764UulHhSyt/yRn5EifFFQEam7oOBtq8Mcf/0zQjOisierFpD5sxxV6koLS2Fpml9AR0AaGlpwe7du5Gamoqrr746qPmePHkSABAfH3DRmdjADPqQEHFx7g/cnrtPz58DRhdEbE5E4eK5HuTk5GDZsmX4/ve/j+Tk5MGfTBRGrrdeNdxckuWHILuc1vTDjSSLMugBuIP7nve8GPSgGMb7YhQ1gipxr5QGDmOJeyk1wzpiTQ96NUDfaX4ekYLv+/ZjyKBXg+sBUK/BHvTBUTPoRTj7z5u9XncXZHcXRDDfeXzRZBJozsrx+zIiLt6d2ONxPdlwHmLU2CAmFxwpJdDUqB8MMINeZCt/Jup1h4CAog1/+9vf8Oabb2LWrFlWz4d8YbbTx58SVWQ54XDAcdlV0P7n731j2icfwfHVf4Yw68dINIRZtYYUFRVh7ty5KC0txYYNG7Bo0aK+x1asWIG2tjY88MADSEvr/zBWXl4OAJgyZUrf2PHjx5GUlIQRI0YYXuO5557Dhx9+iIKCAkydOjWo+UYz2d1tyF4QqQzQW0Xk5unKQ8mGoddziYYmz/Wgubm5L0CfmRkDZcMpZsj2VqD2lPGBnh7IqkqIkij/fGBVD3rAGNxnBj3FMN4Xo2hhCKr7U4FTPTdMmYcAgO5uGJKTLOpBr7sqN5ORj/i+b0OGHvQWfI/MzNYftzRBSskNGYFSM+jDHKA3fb32NiArtAF6w329tPSAN5mJnFxIXYA+wmXgO9qN3yGzsgO7lvLvTZptbIhxAQXoc3JykJsbYF8BCpqhd0dcXHCZDmQJx+X6AD06OyA/+xjiS0O3JDaRGSvXkI0bN2LmzJl4+OGHsX37dpSUlGDPnj3YsWMHiouLsXr1at35JSUlAC7s9rtg3759+M53voMZM2Zg4sSJGDFiBOrr61FWVoaDBw8iPT0dW7ZsQVxcnCVzjkrtrcYxZtBbRmTnQeJw33HEP2wThQm/U1A0kDXHvT6mVRyCI4oD9NLVAyjlWYMpHywSE5WgB/v6UuziGkZRQy1L70eCj6HEfWdn+AJVZmtIMJvIvFxDcq0iH/F9336kUuJeWFDi3pCF73K5A7q8BxYYQ4n7MAfok5MNbSXdAXr/s9n9YVmPdgDIzgNQ1X8c6XuGahBdiIDbSwj1/4e2Vsieboj4oZPw6hj8FKOf/exneOyxx9DeHsadk9RP3f2anMpdXDYgcvIgivS9rrUP/qELBBKRtWtIUVER9u7di4ULF2LPnj1Yu3YtqqqqsHjxYpSVlSEvb/AeOFdccQUWL14Mp9OJN998E0899RT++Mc/QgiBH/7wh/jss88we/bsoOcazdT+83A4WLnFSmqvpkh/2CYKE36noGggjx/1/ljlZ5CaK4yzsZhZ1mAwG78T1KAHsxIpdnENo2ggpQQ6lfLC/nyPU9tpSi18m6/M1hBLStwrrZQYoCcf8X3fXqSmAa0tujErStwjPcMdcPTEMvcBk0qAPuwl7oUDSFXataibBkJBCdAHWgIeMPauV4P/4SbVMvQZme72nYEwy7xXK2PEuIAy6HsDICNGjEBhYSESlBLe+/bts2Ry5IWaQe9PeSoKKcf0GXBVVfYdy1MnIE8chRg3IYKzIrIXq9eQgoICbNq0yadzzTbMjBs3Dk899ZRfrznkmPSf58Yw64hcfYCeGfQ0VHiuB+PGjQMAXHvttX0VS/idguxA1lR7f7CjHbLmOMS4i8I2H0uZlaAPJjtRfS5L3FMM430xigrdXcZKKWrQfSBmwfzODiAp2ThuNafSG97hAOICuo2tp65VTgboyTd837eZthZ9VjQQcBavJ+GIcwfpPbLzZXNTRHt+R7VIl7jvfU3P+5phaNciG/VZ5oZe635Qs+8NAfIwU8vQG7Lg/SCSkt2fKTzWfNnUAJE7LOBrRpuAPtnMnz/f4mmQP6RSnkr48+GaQkpMvsS9I8pjJ5P2/i44GKAn6sM1JAqpAXr2n7eUUDPomxshXT0QVtyAIrIxz/XA6XTis88+wy233IIkC/qLEllBulyQJ72XuAcAWVcLRGuAPsQZ9OzrS7GM32koKpgFIfzJoE9KAiCg6wXf0RHy0sCASRWWxCRLNokL9XMmM+jJR3zftxepZtk6HECaNcFfkZmtK58vW4ZWRq+VIp1B3/uanula4cigN2S5Zw9e4dUrNcu8qSF87WbMqBsEgv1MkJUD1J32uP7Q6kMf0J3fFStWWD0P8of6AZtlhm1DOOLg+Mq10N5+rW9Mlh+CPFcHMSw/gjMjsg+uIdFHLXEv2HvLWmqAXkqgsQHIGx6Z+RCFied60NzcjDVr1uDHP/4xMjMzIzgron6y9iTQ06MbExdNgjx6uH+g/myYZ2UhNcPdERd4eULAGKBnBj3FMH6noaigtsiEcPfj9ZEQDvf5HteRne0IS0hADZxbUd7e5DrsQU++4vu+zSj955Ge6X7PskJmFnDS43iIldy2lF0y6D2Fo8S9UhkzqAx6NQDe3eWOD0bizxKAbFYz6LODup7Iyob0CNDLpqH17y3gd63GxkY8//zzWLZsGc6fd+8I2bdvH06ePDnIMylonWqJe2bQ24nj8quUcl8Srv/5e8TmQ2RHXEOijEmJe7KOSE4xrOUsc09DRe96sHLlyr4xrgdkF4bs+WH5EGPH6885H70BemN2YhDZ8wBEInvQ09DC7zRkd2oFTiQn+x/AUu85GoL+IRKmAD2rvZA/+L5vH2pWuyX953uvpZTKl+xBHzgbBOhFSngD9LKzw7BWGipn+iMjC1Cz5SOZZa6U7w82g15kZuuO1RL6sS6gDPpPPvkEX/3qV5GVlYXq6mrcf//9yM3Nxauvvorjx4/jxRdftHqe5EEqGfQimQF6OxFJyXB8eQa03Tv6xuTBfZCz5w6p/hlE3nANiT6yXcmgZ4l7y4mcPN36LhvOD3A2UWxQ14NeXA/INtTMh5GjIZTqJjKWMuiDKW9v9nxm0FMM43caigpqgk8AFThFcoquNDDUoH+oKL3hDaXpA6UG6NVe90Re8H3fZtSs9gwLq7CpwX5m0AdEdncBPd26sUiUuFc3BYS8xL0awAaMZer9IOLi3EF6j40isqkBYtTYgK8ZDKmUuA+mBz0AY4C/eWgF6APKoF+6dCkWLlyIw4cPI9mjNNLNN9+MXbt2WTY58kLdrZrCEvd245hxvf4GlZRw7SyN2HyI7IRrSBRSM+jTGaC3XE6u/rjhXGTmQRRGXA/I7tRqJiI7z9h+pKEe0uUK46wsZMhODDJArz6fAXqKYVzDKCoY7h8GkOCjBPVlmDLoDaXng12jLjD2oOdaRb7h+769yFZ9iXs16z0Yhoxe9qAPjFkg3AYB+pBn0Kv95zMyIeITgrqmWkZemm0CCAPZ0wOo//YsKHGvew21x32MCyhA/+GHH+KBBx4wjI8ZMwa1tbVBT4oGofagZ4l72xFp6XBcOVM3Jj/5CNqpExGaEZF9cA2JPuxBH3oiR19hhRn0NBRwPSC7U2+uiJxcQwY9NA1Qb8JECzUoEWwGPcsG0xDCNYyigVriXgSQQW9IClLvSYZKuErcay53wIFoEHzftxlDBr11AXpDBn1TI6SU5ueSd2og3OFQ2gKHh5q1H+oMerVEe9AZ5gCg9rCPVBDbbLOK1Rn0Q+zfW0AB+qSkJDQ3NxvGKysrMXz4cJNnkJUMH7AZoLclx8w5hkVHe/u1IfUGQ2SGa0gUamvRH6dlRGYeMUwoGfTsQU9DgdXrQU1NDe655x6MHj0aSUlJKCwsxCOPPIKGBt92l7/33nsQQgz6c+KEfsPlQOdeffXVfv8eZA9SSkDdLJWd6/7upXz/itYy91LJcFd7yPtLqAF+NbhCFEP4nYaighUVONW2mrHWg97stYhM8H3fXgw96C0scW/Ixu/uYjuMABgC4alpEGov9XAIcwa9oT+8GlwPgMjUXyNSfdoNr5uYFPSmC0MGfndX+D5r2EBAPei/8Y1v4Kc//Sn+/Oc/A3DflDp+/Dh+9KMf4dvf/ralEyQTFvSQotATaelwXHsjtL+/2Tcmjx+F/PwgxMXTIjgzosjiGhJdpJTGEvfMoLdeTp7+uKEeUsrIfHkhChN1PQCAEydOBLQeVFVVYebMmairq8O8efMwZcoUfPDBB3jmmWewbds27N69G3l5eQNeo7CwECtWrDB97ODBg3j11Vdx6aWXoqCgwPD4+PHjsXDhQsP42LGR6QtHFuhoN9ywFxfeq0XecMiaY33j0Rqgtz6DXv98dQMAUSzhdxqKCmq2e1LwPejDVeJeXaOEZQF6k7WuyxmZsssUVfi+bzMtymYJNes9GGbXam5iDMZfJgH6iDAJ0Ifyflt4Mugj1KddzdzPygn+zzEjC4AAPD9tNDUMmarhAQXo165di1tvvRXDhw9HR0cHZs+ejdraWsyYMQOrV6+2eo6k6rCghxSFheMr10Lb+76u7KXr7/8NUXwxRHxA//yIoh7XkCjj7ASU3roscW89oQbou5zuLzP8s6YYpq4HAHD55ZcHtB48+OCDqKurw/r167Fo0aK+8aVLl2LdunVYvnw5nn322QGvUVhYiJUrV5o+9i//8i8AgPvvv9/v51J0MvQOFA6gd3d/3nDAI0CPaA3QqwH0YPv7GjLoGaCn2MXvNBQN1GC6CCSDXn1OxHrQhzhATzQIvu/bhzTJsLW0B318gjuo6xFgli1NEPkjLXuNoUDNoFdLzYeL4XVdPe7vQVatKyq1P7wFAXo1yG+XDPpg+88DgIiLAzIydeXzZVMDxMgxQV87GgQUIczKysI777yD3bt34+OPP0ZrayuuuOIKfPWrX7V6fqSQPT2GGykBfcCmsBDxCYj76j/D9cqL/YMN9dD27ELcrBsiNzGiCOIaEmXU7HmAQeNQyMx29+PStL4h2VDPzRAU0zzXg7KyMjz66KN4+eWXMW/ePL+uU1VVhdLSUhQWFuKhhx7SPbZq1Sr8+te/xpYtW7B27Vqkpfl/U+DcuXP461//ipSUFNx5551+P5+ilNpqJCsbwhEH4EIGvcdD8nyUBuhDnEFv2ABAFEP4nYaighpMV8vV+0LNGI1YD/og16gLhHC41zuPNUo6nWDdMhoM3/dtRO0/D7gDfFbKzNJngEeq53c0s2sGPeCeW4gC9FL5u2JFBr3hGm2tkN3dEAkJQV/bH6H43dzXyda1rVBfJ5b5HaDXNA2bN2/Gq6++iurqagghcNFFF2HkyJEsxRoOanl7gBn0NicungZRUAh5orpvTNv5DhyXXAaRnev9iUQxiGtI9JFq//nEJGOPWQqacDiA7Fzg/Ln+wYZ6YOz4yE2KKITU9UBKd7iztrbW7/Vgx44dAIC5c+fC4XDoHsvIyMCsWbNQWlqKsrIy3HjjjX7P9YUXXoDT6cSdd96J7Oxs03MaGxvxu9/9DrW1tcjKysL06dPZfz7KSaX/vOfndpE7fMBzo4a68TvY9Z0Z9DRE8DsNRQ01mB5Ago9QAvRhK3HvVAL0Qfa41V8rSb8GMoOeBsH3fXuRann7xCQIK98j4M7Il7WnPF7TZFMADUzNoE+JUIA+MQlwxAFaf3VQ2d4WkriM7OkGlPuowoIe9DDLVG9udFd2Cyc1c9+CDPq+63hWqBtCAXrH4Kf0k1LiG9/4Bu677z6cPHkSU6dOxSWXXIJjx45h4cKF+OY3vxmqeVIvtbw9ENgOWAobIQQcX1Mywbq74HrzL303o4mGAq4hUYr958NGLXMv1exNohhhth5MmTIFAPD973/f7/WgoqICAFBcXGz6+KRJkwAAlZWVAc33N7/5DQDggQce8HrOxx9/jHvvvRfLly/HD37wA8yYMQOXXXYZDh48OOj1nU4nmpubdT9kA2qJ+xyPGzhqX8qW5qj8XG/oER9kdqIwZNB3R+WfC9FA+J2GoomhxH0g/ZPVpCCz+5KhoATNDWtMMNSsSQboaQB837chNVhuZf/5Cwwl882y9mlAaon7SGXQCyFM+9CHhFlg2YoM+qRkQ0WbSJS5D1kGfaZSwr85MiX8I8GvDPrNmzdj165d2L59O+bMmaN77N1338X8+fPx4osvsvRjCEl192tikrtPA9maY8w4yOkzoH30ft+Y/KIc8tMDEJdeHsGZEYUP15DoJJUAPUuuh47IyVNKJp/zei5RNDNbD5qbm/Hqq6/itddew//P3nuHyVGd+f7fU92T84yyNNIoBwQIRBASSWALcADZ5GTLsr32wgUE+LlrLr+LzL3LYu81JqzFetldZBmwjUGYYIMQFgogkEBgiTgKoxxHGk3OXXV+f7Rm1Oc9NaG7K3XP+3meeaBPV1edHk13VZ3v+/2+N998c1zng/r66GJJUZH9wkzXeF1dXdxzXbt2LbZu3Yrp06dj9uzZttvcc889uPrqqzFp0iRkZ2ejsrISv/jFL/Diiy/ikksuwebNmzFyZM/90x5++GE8+OCDcc+NcRdZpxZJieKTRVSCLgKaEaC1GchNsXOk0xH32uslEOlMfr8MEyCcvqepqanBn//8Z/z1r3/Fp59+igMHDiAzMxOnnnoqvve97+F73/uelg7DMP2GiumJJHBSUT/Ve9Db7YsTX5he4LWs4CGJWC6cjrcHNNGfHfQJEBCBvvvYTTGF8HbtPB1AE82zc5xLdygqUc/BtNe9y0gp3XXQx8IOenv+8Ic/4H/9r/+lnYwA4JJLLsFPf/pTPPfcc45NjrFB6x/F/edTBeMrXwfy1QsGc8XLetEFw6QpfA5JUdhB7x2lg9THNSna05hh+qC388FFF10UqPPBU089BQD4h3/4hx63eeSRRzB79mwMGjQI+fn5OOuss/DCCy/g6quvxrFjx/DLX/6y12Pcd999qK+v7/7Zt2+fo++BSQwt4j7WQZ9fCNButamYfOCwg9729Sx6MGmG0/c0L7zwAn74wx9i48aNOPfcc7Fo0SJcffXV+Oyzz/CDH/wA1113HSdRMAkhpdTbZCawhiioqG9GIDs7k5hZP6HnDwcFekH2JdvbHNs3k37wWlYAoRH31O3uANRBzwJ9/FAHvfBRoKfH1tz9TkFFc4cc5oAele+5g76tVW+R5mAP+lgGUg/6uAT6Tz75BJdffnmPz19xxRXYsmVL0pNiekHrH8Xx9qmCyM5B6AoSe9TcBHPlq/5MiGE8hs8hKUoT6UGfV+DPPAYAgvSOYgc9k644fT7ocsh3OekpXeM99Y/viePHj2P58uXIycnBrbfeGtdrAeDHP/4xAGDdunW9bpeVlYXCwkLlh/EXW3dAbA/6UEgrWEvJRTunxQ87pzwtAmCYFMfpc9ikSZPw6quvYv/+/Xjuuefw8MMP4+mnn0ZlZSXKy8uxfPlyvPTSS05MnRloRCKAaSpDmtjeH7JtnH9U+HcDKpo76aDPYgc90394LSt40OtuLY7eCWhiVioW4/pNkBz01GzkkYOeCs/JIArVfXku0GvHE44Vx2hCf2M9pGXab5xmxCXQHz9+HEOHDu3x+aFDh6K2duD0B/AD6rYWOeygTyXE1FMhJp+ijMnNH8Kq2urTjBjGO/gckprIFo649woq0KOlmVNWmLTE6fPB5MmTAfTcY3779u0Aeu5R3xPLli1De3s7rrvuurjFfQAYPDj6mW5udqk6n3GP1hZd1KCLdFof+tQT6GkPeuF4xD1Y9GDSDqfPYZdccgm++c1vajH2w4YN6y70WrNmTUJzZQY4diJ6Iimcdq/xog89PX9QUT0ZaOIL96BneoHXsgKIHz3oW5ogIxHHj5OuSCk1gT5YDnqvBHrnHPQgDnqvY+AlTQcoKHSu9TYtZJBST8pIU+IS6E3TRDjcc9v6UCiECH9RuQs76FMaIUTURU8qf83XXuBILSbt4XNIisIR995RXAqQxVnJMfdMGuL0+aArbnLlypWwLEt5rrGxEevXr0dubi5mzZoV1zz/8z//E0Dv8fa9sWHDBgDAuHHjEno94yNNNosB+WqCDO11SXthpgRaf9/kBHphGEA4QxnTeggzTIrj5T1NRkb089Tb8RimR+xEdDs3fB8II6StYUmXHfTSNAFT/RyJZNuwxKL1oOdzFdMzvJYVPPzoQQ/A/h6BsaejHaAOaF8d9CQN1CUHvZ7C5mDEfZG/EfdupgMgJw8g37MDJeY+rqt8KSUWLFiArB6qFtvb+YLGdbgHfcojikpgfPUbsP66/ORgfS2sVa8j9LVv+zcxhnEZPoekJrKZHfReIUIhoKRM7T1fcxQYNca/STGMC9idDzpP9DK9+eabNZG9L8aPH4958+Zh5cqVWLJkCe64447u5xYvXozm5mb86Ec/Ql7eyQWByspKAMCUKVNs9/nOO+/gyy+/xPTp0zF79uwej/3JJ59g6tSp3SJK7Pj9998PALjlllviej+M/0harZ+TCxFSb51FQRFkb69JBag7MVkHPRAV+SMxvYk54p5JM7y6p4lEIvjd734HAL1GK7e3tyvHbOAIXuYEmoiemRUV2xMhJ1cVsdtcNpjYCeaZ8RcX9ITIzFLP4bwWwfQCr2UFC2nnrHUj4j47JyoYxhRfyIZ6iJi2V0wv2PV491WgJ8d2qQc9dZk76qCn+6qvg5QWhIjLg504VDB38L0JIaL7i10Pra8FMNaxYwSVuAT67373u31u853vfCfhyTB9o0fcs4M+FTFmzoL8fDPk7qruMevD9RCnzIAxhl1WTHrC55AURXPQcw96NxFlgxXXPDvomXTE7nzQJdAXFRUhIyMj7vPBk08+idmzZ+POO+/EqlWrMHXqVGzcuBGrV6/GpEmT8NBDDynbT506FcCJBR4bnnrqKQB9u+d/9atf4bXXXsMFF1yA8vJyZGVlobKyEitWrIBpmvjhD3+IG2+8Ma73wgSApkb1sZ0rhy4EpmDEvSaeO+FOzMgEELPgxRH3TJrh1T3NT3/6U3z22Wf42te+hssuu6zH7R5++GE8+OCDSR+PSUOogz6Z9cPsHNUV6HYbLluB3kUHfScLrEzP8FpWwGhp1pzZWisqBxDiRH/t2pqTg6l4ve8Tkgrg4bAzxcAJQs1G1IzkBNKyAJqq5qSITd34lhm9b3WjQMUG2eCig/7E/pT1UHbQ6yxdutSteTD9RXPQs0CfighhIPTN6xD5918qDhPz1echfnxv8v0fGSaA8Dkk9ZCmqS2+sIPeXUTpYNXNcZwFeib9sDsfNDQ04LnnnsOTTz6JwsL4IwrHjx+PTZs24YEHHsCKFSvw+uuvY/jw4bjrrruwePFilJT0/8a4trYWL774InJycnDrrbf2uu38+fPR0NCATz75BG+//Tba2tpQVlaGK664Aj/84Q9x5ZVXxv1eGP+hbniRr/9NisJ0iLh3uAc9oAso7KBn0gwv7mmeeOIJPPLII5gyZQqeeeaZXre97777cM8993Q/bmhoQHl5udtTZFIBBxM4RXaOeo9C9+00tgK9kz3oyb7YAc30Aq9lBQxNJBeuGUlEYRFkjECfktf7fkEF+ty8aNGDX9C1TDci7psa9eIRByPukZcPhEKAefIYsq4WwiOB3k0HPQCgsJgcz9sIf7/gRlapBvegTxtE6SAYl1wBa+WrJwePH4O1+k2E5n3Tv4kxDMN00WJzwcoCvbuUDVYesoOeYfpPeXl5vxfQenLOA0BJSQla7fq22jB//nzMnz+/X9syKURCDvrUipWWpqn3hXTAnSgyMhURhx30DBMfv/71r3HXXXdh2rRpWLVqFUpLe4/SzcrK6jF2mRnY6AmcSbTIpK912UEv6bkjnAFhOBjhSz8zfK5imJRBayuVnx9tF+gG6ZCY5Rc2Ar2fiFyyltnRDhnphAhn2L8gAWT9cXUgFHJ0DVUIIyqKHz92crC+FiivcOwYvaH3oHdWoBdFJWoxYEOdo/sPKh41KGCcwtELbMZ3jHMvgCC9ha0Na2Ed2OvTjBiGYWKgFaVCcGGYywgi0KPmWK9CIsMwDOM8sok66HVXjhal2dIEGdOjMvDYOdtdcNBLdtAzTL957LHHcMcdd2D69OlYvXo1hg0b5veUmFTGyQRO6r5320HfTnrcO1yEIoiDXna09bAlwzCBg7jY3XQP031LFuj7DY24Fz4L9LZCudMuehuHudP94WmsPBXN3UKaEaBRLWJ3XKAnDvqBkljBAn2qQS+CWShJaYRhIHTl9dGKqi6khPnK86m1wMcwTFqi9WTKzXPWucBoaAJ9Z0fKuTIZhmFSnibqzOmHg97udUHGzi3oRHwwFfnZlcgw/eIXv/gF7r77bsyYMQOrV6/GkCFD/J4Sk+rQNKCkIu7VtUfXI+5p5HxWtrP7p+c7PlcxPrB//34sXLgQI0aMQFZWFioqKrBo0SLU1vZPcGtubsZzzz2Hm266CVOmTEFeXh4KCgpw1lln4ZFHHkFHmv5dayK5XdKVU9CC3IYUutb3m4A56JGdA9D1TIcFelnnrsMcgB4r71Wf9oZ6AMQ85HAPev3zVufs/gMKr7KnEFJKvRdwEhfYTDAQg4fCuGieOnj0MKx3/ubPhBiGYbqgF6su9fViYigo1MQNjrlnGIbxFq0Hvd3CX3YOEFY7xqVUlb9HDnruQc8wffN//+//xU9/+lPMnDkTq1atwqBBg/yeEpMGyDYXI+49d9A7LNBTRz73oGc8pqqqCjNnzsTSpUtxzjnn4O6778a4cePw+OOP47zzzkNNTU2f+3jnnXdwyy234M0338T06dNxxx134KabbsKBAwfwk5/8BHPnzkVbW/qlQ+jX6eygDyKagz7H54h7IQASc0/nmDTUze6CQE9Ff88c9LQQIDMrqcI/O6iDHi3NkJFOR48RRLgHfSrR2QFYljrGDvq0wJg9F9YXnwCHD3SPWe+ugjH1VIhhI32cGcMwAxlJevAK7j/vOkIIoGwQcPhg95isOQqMneDjrBiGYQYYtAe9jYNeCBF10dfGLKCm0qJdBxEjhKGmeiUKO+gZJi6WLVuGBx54AKFQCBdccAGeeOIJbZuKigosWLDA+8kxqY2bEffUne8wkgj0NJI+aTQHPQv0jLfcdtttqK6uxhNPPIE77rije/yee+7Bo48+ivvvvx+/+c1vet3HsGHD8Oyzz+Laa69FZkyB5C9/+UtcfPHFeO+997BkyRLce++9rr0PX6DX29R16ySF5B6goR5Syuh9ANM7QXPQA0Benpp45rSDXuvRXuzo/qP79Eeg14sPip3/HNj9vhrqgdL0LlxlgT6VIO55ACzQpwkiFEL4qusR+c/HThZhWBYirzyP8A/ugnBisYxhGCZeNAc9C/ReIMoGQ8YI9GAHPcMwjGfIjnZtod7WQX9iXMYI9FprmACj9YbPzHRkkUVkZinhh5JFD4bplV27dgEATNPEY489ZrvNRRddxAI9Ez90DTGJ9UOa3knd+Y5Dzx0u96BHZwektBzvFcwwdlRVVWHlypWoqKjA7bffrjz34IMP4qmnnsIzzzyDRx55BHl5PYuaM2bMwIwZM7TxgoIC3Hvvvbj55puxZs2atBPoaWJVT9fpTqC5881I9Ls1CGJz0AmgQC/y8tX7FLcF+mI3Iu6L1cceRdxTB70b8f0iKztaQBdzDSAb6iHSXKDnK49UQqtQFY5fpDL+IYaNhHH+perg4QOw3lvtz4QYhhnwyBb1YpUd9N4gStU+9PI4C/QMwzCe0WjTWzK/hxYv9LxInfdBhjrbnYi3t9sPR9wzTK/87Gc/g5Sy1581a9b4PU0mBaF94pOLuCfivssOetcj7mk7FoATXxjPWL06us47b948GKQndkFBAebMmYOWlhZs2LAh4WNkZGQAAMLh3r2Z7e3taGhoUH4CD71WdzHi3ra/fSolZvmIFnEfAIGeRtw76aCXUgJ11GVe6tj+u9CE8bZWLXXGFWjxAY2jdwq63wHQh54F+hRCatWvOVzdmWYYF3wFGDxUGbPWroQ8esSnGTEMM6BhB70viDIi0LODnmEYxjNkE1n0y8zqMVpX5BHhPoUc9JpwbidWJAL3oGcYhgkGdA0xmV6x9LWu96AnSTZOR9zbCf6c+MJ4xNatWwEAkyZNsn1+4sSJAIBt27YlfIynn34aAHD55Zf3ut3DDz+MoqKi7p/y8vKEj+kFMhIBqJHExYh7EQpr62DUwc/0QEAd9LFQU1JStLfpKWwuRNxrAjbgiYteUqHcBQc9oH+eteOmIazuphI0QiqZi2smkIhwGKErrwdi4yVNE+arz0N2Rd8zDMN4RTN10PfgIGSchQj0qK2BNE1/5sIwDDPQoK6cntzzgL5g18wOeu5BzzAMExCoyz2ZiHvqvu/scPX+RGuPwg56Jo2or48KvEVF9sJy13hdXV1C+//1r3+NFStWYMaMGVi4cGGv2953332or6/v/tm3b19Cx/QMWkgLuOugt9s/O+j7REoLaKUO+gAYfqjpyMniauqeh7DvqZ4kIiNDvwf1oA+9JO/PleIDwMZBn/6fNxboUwlS/Sq4/3xaYowaA2PWRcqY3L8H1sZ3fJoRwzADFa0fEzvoPYE66GFZQN1xfybDMAwzwJAkpr7XvpYp7KCnPeiFQw56bT9p4qCXLc2w9u7SRSOGYZgAIjs7o72SY6B95OPC7rVu9qF3OeJehMJAKNT7MRkmBXnppZewaNEiDBs2DMuXL++Ouu+JrKwsFBYWKj9BRnOvh8OuGxh1R2/6C4ZJ09YGSKmOBcFB72bEfT1ZsysoiJ5rXIDG3NP+8E4jpdQi7tlB7xzu/JUwriC16ld20KcrxtzLYG39DDh+rHvMevsNGJNPgSgd5OPMGIYZKEgp9V66LNB7gsjJjTpcYgrz5PFjunDPMAzDOA9dqOnFQa/FJKaQQO+Vg16mgSPR2r8H5m+fjIpd2Tkwzr0AxvmXQvTR15VhGMY37MTzZEw+2TavbW3VC9WcQhPoHY64B4DMLPV+q6MDopfNGcYpuhzyXU56Std4cXFxXPt9+eWXccMNN2DIkCFYvXo1xo0bl9Q8A4lN/3kh3P3kioIixErNks6B0aHx9gCQGwCjqYv3brrD3B0BG0DUmX8wJu3CbQd9W6tWdO2Wg572th8IBTHsoE8ltB70AfhiY1xBZGQidOV16mCkE+ZfXoiKZgzDMG7T0a67Llig9wzuQ88wDOMPNKa+1zhGN2MS3YY6wbkHfY9Yb75y8pqorRXW2pUwX33e30kxDMP0BjX4AEm5TEU4DIRVJ650sw897UHvlkAfCyekMB4xefJkAD33mN++fTuAnnvU2/HCCy/g2muvxdChQ7F27druY6QbksTLC7fj7QGOuE8ATfjOzIII957m4Ak2926O6Sw04r7YPYFeFBIHvdsuc60AQACFLn32qPA/ABz0LNCnEuTiV9hVsDJpgzFmPIyz5yhjctcOyM0f+jQjhmEGFHYiAwv03kHd8seq/ZkHwzDMQIM6Pno59wnqru9o16LjAwt1tlOhIlHSrAe9PHIIcv8effyzzZC0gJ5hGCYgaN9PWdkQRpJLwDTF00WBXroccQ9AP+9xxD3jEXPnzgUArFy5EpZlKc81NjZi/fr1yM3NxaxZs/q1v+eeew433ngjRowYgbVr12LixImOzzkwUDetB5H8ghxjIDh6k4beTwUg3h6wuXeLdDpWnEX7wIuiUkf2awsVsV120Gs97t2M76fCf3MTZCRiv3GawAJ9CqFdYLODPu0xLv0aQKI9zJWvar0xGYZhnIY6CJGRCeHU4j3TJ7qDngV6hmEYT6AFavE46O1eH1TIYpRj5/g0c9BbH71v/4S0IKu2ejsZhmGY/kIj7p3o0UxNQm4WKbXTlBfn70M1Vz476BmPGD9+PObNm4fdu3djyZIlynOLFy9Gc3Mzbr31VuTlnRQ1KysrUVlZqe1r2bJl+M53voPRo0dj3bp16RlrH4NsYgd9SkAEehEQgd62dZlTGksd6UFf7J5A73kPerJ/GkPvKHb7TvPPHDdNSyXcuMBmAo3Iykbo61fD/MN/nxxsa4W54mWEr7nVv4kxDJP+UIGB3fOeIgYPVR7Lo0d8mgnDMMzAQtIFpbxeFpSysoFQCDDNk69vboJwcUHGKaQWce+M+CEyqODRASml6/1B3UB2dsD65KMen7e2fwlj+hkezohhGKaf0Ih76n5PAJGdrfZhdjPinp6j3HDQk31qrn2GcZEnn3wSs2fPxp133olVq1Zh6tSp2LhxI1avXo1JkybhoYceUrafOnUqAChx3KtXr8bChQthWRbmzp2LpUuXascpLi7GokWLXH0vntKg96B3G83R29IMGYlEW38wtmgR9wER6EVGZvS7P+b7XjY1aAaZRJBEoBcuRtzbxcBLy0o+KacnPIzvR1Z29L405jpANtRBlJS5d0yf4W+SFEK2qAK9yGUH/UDAmDQN1vQZkJ9t7h6Tn2+GdeqZMCaf4t/EGIZJa2STekHN/ee9RQwepg40N0G2NPXeC5lhGIZJnjgc9EKIaAFbbNRlijro4VR/X62XvYzGR9Lo+xRA7t3Va+Sx3FHp7mIYwzBMglDx3JEWmTTF067PvQNIy9TSV4QHAj3aWKBnvGP8+PHYtGkTHnjgAaxYsQKvv/46hg8fjrvuuguLFy9GSUnfAtiePXu6I/Kffvpp223GjBmTVgK93oPe/Yh72yKAxnogjQXDpKGJnEFaT8wvUK/vHXDQy452LVXGTYGeOuhhWdH34VJfeNlA4/tdfG/iRH/72Dafad5WIhB3kvv378fChQsxYsQIZGVloaKiAosWLUJtbf/6JzQ3N+O5557DTTfdhClTpiAvLw8FBQU466yz8Mgjj6AjxfvedUP7d+QEo/qIcZ/Q5fO1myHz9eVc4cswjHuwg95fSkqjrswY5FGOuWcYhnETaUY0QbZXBz0AkUeiElOlFZVb8cGaQI+U7UMvDx1QB+i1UEsz5MF93k2IYRimv7jRIpOmeNKUT6eg5yfAuSKy3vZpd1yGcZHy8nIsXboUhw4dQkdHB/bs2YPHHnvMVpyXUirueQBYsGBB93hPP7t37/bo3biPlBJoJA56lwRJhewcIJyhziXNI7eThbbM1O6XfIT2oXekjTB1mAOAmz3o8/IA0gNe6xPvJPT9uSjQA3pqhdsR/n7ju0BfVVWFmTNnYunSpTjnnHNw9913Y9y4cXj88cdx3nnnoaamps99vPPOO7jlllvw5ptvYvr06bjjjjtw00034cCBA/jJT36CuXPnoi0dKiHpBXZA4kEY9xF5BQjN+6Y62FAPa9Xr/kyIYZj0J8gVrwMAYYSAsiHKGMfcMwzDuAwtiAZ670EPaOdHLdIxqNAe9E6JH3ZO+RTtQy8PqwK9MeVUgLag2bXdyykxDMP0D7p+6ECLTOrCdy3i3q4XvAsOepGl/k5kRxqsGzNMOtPepqdreBFx3+XojSXNHb1JQ++H7Hq/+wWdixMOetp/Pq8AIiPDfmMHEMLQY+5dFOip+O+mgx6A3oe+oc7d4/mM7wL9bbfdhurqajzxxBN4+eWX8fOf/xxvv/027r77bmzduhX3339/n/sYNmwYnn32WRw6dAgvvvgifv7zn+M//uM/sG3bNpx55pl47733sGTJEg/ejXvISKd+EmKBfkAhTj8bYuxEZcz68D1Y+3b5NCOGYdIZKjAEqeJ1oED70IMFeoZhGHdpJgK9EH27DmkBGy1wCyhaElemQ+KHnUCfqg56ItCL4SNhjBmvblN92MspMQzD9Ast4t6BHvRaH3u3BHq7pEi7dJZkoYVp6WDsYph0xk4U9yLiHnohgKROfkYhyC0zRZ76NyObkv+39LT/fNcxiEDvlstcRiJaEYPb708QgT7dEyt8FeirqqqwcuVKVFRU4Pbbb1eee/DBB5GXl4dnnnkGzXShhDBjxgzcfPPNyCQXbAUFBbj33nsBAGvWrHF07p7TYhMd5UREFZMyCCEQ+sY1JFZHwnztheiXJcMwjJPQKtIgVbwOEKhAL4+xCMAwDOMmNI4ROXl99henBWyp46AnorlD4ocwDCBMIhdT0EEvO9qBmmPq4LCRwJDh6nZH+dzMMEwAoeK5Ez3oqQvfrR70WgFZVtQt6DTUlR+AFpLSsmDt2wVr13b3EgoYJkXRRLqcXIiwey5lhUJSCMAO+t4JciKnCw56LQK+2MV4+y6oi90tB72de93jiHtwxL17rF69GgAwb948GGTho6CgAHPmzEFLSws2bNiQ8DEyTsRJhMkiAaW9vR0NDQ3KT6DQ4haFIxFVTGohSgfBmHuZOnj0CKx1b/kzIYZh0hZaRSryvalMZk6iCfTsoGcYhnEXes/VR//56DbUQZ8qAj2JEHayvy910aegg14ePgggpterMCCGDtfTbY4dhbRMT+fGMAzTJ1oPeici7kkkvFc96N3oPw9AZAdLoJfSgvnSszCf/jXM3/0GkX/934i8/Ac+xzBMF1Sg96L//Al0Bz0L9D0hLVMzmtK+737iRg96zyPgYeMydykGXuttn5WtXQ84jvbe0vvz5qtAv3XrVgDApEmTbJ+fODEa571t27aEj/H0008DAC6//PJet3v44YdRVFTU/VNeXp7wMd1AtpLFopycPt0cTHpizLoQGD5KGbPeXQVr/x6fZsQwTFrCDnrfEYOICNDYwE4KhmEYF9Hau/TVfx42izwpEHEvpdR70DsVcQ8AmURMSUUHPYm3x+AhEOEMiCHk3GxGgFrSd5JhGMZn9Ih7Bxz0VOR3yUGvC/TO95+326/m3PcY+fkWyM+3xAxIyC2bYH2w3r9JMUyAkMRM6UX/+W7osVig75mWZihFrgAQpJaZrjjoyb2ABw56WgSgCelOQdMBSLS+G9DiAzQ3Qprpmx7tq8JbXx/9Misqsv9C7Rqvq6tLaP+//vWvsWLFCsyYMQMLFy7sddv77rsP9fX13T/79u1L6JiuQSPuuf/8gEUYIYS/eS0QW6AhJcw//z4axcgwA4z9+/dj4cKFGDFiBLKyslBRUYFFixahtrZ/FyfNzc147rnncNNNN2HKlCnIy8tDQUEBzjrrLDzyyCPoSEHXV7LIjnZ94d6j3l5MDGWD1O96cK9bhmEYVxkoDvrODkCShTNXHfSpd4+i9Z8fNjL639x87d+cz80MwwQO6qB3wu1GY/I96kEvaNGXUwQo4l6aJszVK2yfsz54F9KyPJ4RwwQQKop7uEZFI7fT3dGbFE30XkgESsfS3PzNTUl/x0oiYnvRg14Tyt3qQe9DOoBtOkYaf+bS1oL90ksvYdGiRRg2bBiWL1/eHXXfE1lZWSgsLFR+ggR10DtS/cqkLGL4KBgXzVMHjx+DtfI1fybEMD5RVVWFmTNnYunSpTjnnHNw9913Y9y4cXj88cdx3nnnoaamps99vPPOO7jlllvw5ptvYvr06bjjjjtw00034cCBA/jJT36CuXPnoq3N/350nmJXQcoOes8RoTBQNkQZk9WHfJoNwzDMACARBz1dcGppgZQBX0i3E8wdFEAE7Wefgg56ENG9S6AH7FrQsEDPMExwkFLq7nYH1hAFddC3t7kiHGvGE48c9Jpz30Pklg+B48fsn6ytgdxR6e2EGCaA0Fh5fx30DdHvWkZDSxPLzQtWCjRt3yktm9bS/Ud2tAMt5B7SBwc9WltcMW76ItBn52gF3+lcFOPrp6PLId/lpKd0jRcXF8e135dffhk33HADhgwZgjVr1mDcuHFJzTMQ0C+KAFUeMf5gnH8JxKgxypj10fuwtn7u04wYxntuu+02VFdX44knnsDLL7+Mn//853j77bdx9913Y+vWrbj//vv73MewYcPw7LPP4tChQ3jxxRfx85//HP/xH/+Bbdu24cwzz8R7772HJUuWePBugoNsVKPDkJnlnnOB6RUxdLg6cIQFeoZhGLeQidxz0W2kBQS9sM8uHcjJ8zxdUEnBNCJJhBIx6GTBnBg8TN326BFP5sQwDNMvOjsA0rfckX6xdvtww3VO9+mSQC/ofjs7fOv3bn3yce/Pf/CORzNhmABD16k8FOipgx5mBKDtiJkoWrvMvguePSUvD4BQx5KJubeLlvfDQQ+446Kn788DgV4IobvoG+pcP65f+CrQT548GUDPPea3b98OoOce9Xa88MILuPbaazF06FCsXbu2+xgpD0fcMwRhhBD61k3aApj5599rC0oMk45UVVVh5cqVqKiowO2336489+CDDyIvLw/PPPMMmpt7v2ieMWMGbr75ZmQSt1dBQQHuvfdeAMCaNWscnXvg4f7zgUEMUQV6dtAzDMO4CHE/aPH1dthtE/SYeyp+CAMIh53bP3XQp5hAL9tatXhoUTro5ANNoGcHPcMwAcIuet6JFE47gZ5G6TuBJtB7FHEP+OKil50dkPt3K2Ni0jR1m6rtkG78rhkmhaAOWk00d5P8QmiibkOD7aYDHeqgF0HqP4+onkLbmMmmxP8tabw9cvMhaLsvFxAZmZo+6EYfeklEf0/i+6H3oZcs0LvD3LlzAQArV66ERWKRGhsbsX79euTm5mLWrFn92t9zzz2HG2+8ESNGjMDatWsxceJEx+fsFxxxz9ghSgfBmHelOtjehsjzS7kfPZP2rF69GgAwb948GCQuqaCgAHPmzEFLSws2bNiQ8DG62qOE+1i0bm9vR0NDg/KTytCLU0EjoBjPoA56eeQQR6kxDMO4hNQi7vsuihbhDM19LqnQHzD0+OCsqFPBKVI94r6WtkgSiluERtzjWDX3B2YYJjjQeHsIZ1zoGZmAEVKGpBt96IlI7l4Pepv9+tCHXu7dBZgxzn1hIHTldUAodg1CQu7f4/ncGCYoSMsEqPDrZQ/6UEgryqWR+8wJaKFy0Bz0gG5CSsJB70v/+S6om91hB72Ulo2DvtjRY/SI5qBP38+brwL9+PHjMW/ePOzevVuLD168eDGam5tx6623Ii+mqqWyshKVlXrvnWXLluE73/kORo8ejXXr1qVHrH0stFIyhx30TBRj5iyIU05XB6sPw3ztTyziMGnN1q1bAfScstJVpNVTSkt/ePrppwEAl19+ea/bPfzwwygqKur+KS8vT/iYgYAd9IFBi7hvb0vraCeGYRhfoRH3/XV8UCG/j/Qe36EOQafFD+oaSTUHPRXoi4ohYoo1Y+PuAUSFlSScNwzDME4i28j6YXa2I/1/hRAA7UPvgkAvO7yJuI+e+0hxmh8C/a4dymMxshwirwBi5Gh1u727vJwWwwSLpiaArnF72YMeCLRgKI8dQeTVPyHy4jMw31vta79uveA5eOuJ1ISktfmMh7rj6mMP+s93IYhY7riDvrlJLSADIIq8eX+6gz44nzencTDHLjGefPJJzJ49G3feeSdWrVqFqVOnYuPGjVi9ejUmTZqEhx56SNl+6tSpAKAIj6tXr8bChQthWRbmzp2LpUuXascpLi7GokWLXH0vrkIWi/rj5mAGBkIIhK68HpGjR4Dqk/GK8rPNsIYMR+iCr/g4O4Zxj/r66Mm5qMj+orxrvK6uLqH9//rXv8aKFSswY8YMLFy4sNdt77vvPtxzzz3djxsaGlJapGcHfYAoLI4uSsUsFskjhyA86PvEMAwzkJCmqcea5/Xvnkvk5kHGLs5QoT9o2DjonURkZiN2CVUTWwIOFehFCVmIysuPtgSIRE6+pu64tpDEMAzjC9Tg40T/+dh9xYovmlvfAWgRmUsR90KI6L5j77Pa2qhk7zpyNxHoKyZE/zt6LOTenSe3Y4GeGcBobnWbmHK3EQWFkDEdB4PgoJdSwnpvNazVK7qFVPn5ZlhrViL07ZthTJnu/aSC3oMe0Is7kvi3lPWqQO+lg14Ulqj3XA6bebT4fsPwzsBF76vS2Kjku0A/fvx4bNq0CQ888ABWrFiB119/HcOHD8ddd92FxYsXo6Sk7z/qPXv2dEfkd7kdKWPGjElpgV7SRZ5cjrhnTiIysxC+/nuIPPWocnNhvf0GRH4BjDPO9XF2DJN6vPTSS1i0aBGGDRuG5cuXd0fd90RWVhay3OqN5we0epQd9L4hhIAYOkJdnDlyCCB9CRmGYZgkabUR1XP7uaBEIy8DHnFPBXrH44PpNZEPPX2T4jhx0JeUKQ+FEFF3zLHqk4N1tYBqdmQYhvEHKpo72CJTZOcoYgCoW98JtB70Ljnou/YdezyPHfSyrRXy4D5lTIyLJgGK0WPVbQ/shYxElEQXhhkwUAG1oBBCeBsMLQqKiBjqv0Bvfbge1t/+qj/R2QHzxWeAW/8Bxpjxns4p6D3oAUAU0n/LusR3RkVsDx30Wtw8nUuyUEd+YbEjiTz9QZDECu5B7zLl5eVYunQpDh06hI6ODuzZswePPfaYrTgvpdRiuxcsWNA93tPP7t27PXo3LsER90wfiNJBCH37ZtCILvO1F2Bt2eTPpBjGRboc8l1OekrXeHFxcVz7ffnll3HDDTdgyJAhWLNmTfq1TOkHson29greBfVAQu9Df9CnmTAMw6QxdrH0/S2KTrGIe+l2xD0VU3yIDE4GWUcd9GXaNoIsvsna49o2DMMwfkD7wgsnHfRE7JcuOOi1+bsp0Gf7e76SB/epsd2hMMSoCgCAGDUGyvqeGYE8pIr5DDNQoGK4l/3nu6ER9z476OXxY7De+kvPG5gRmH9apn2nuo7Wgz5464la6lUSxRZaD3oP0y6pW9/piHu6P2/TAYrVgaYmSDNiu22qEwiBnukdaZlaXyfBDnrGBmPSNBiXXakOSgnz5T/C/OBdfybFMC4xefJkAD33mN++fTuAnnvU2/HCCy/g2muvxdChQ7F27druYww4aB9Vjrj3FU2gP3zAp5kwDMOkL5rrPScXwgj167UiN7Ud9I7HB9P90eMFHHm8HwI9WXyTtP8kwzCMX2gGH4cj7mNxw0HfRkRyJwsMCFT8l14L9IfVwmsxbATEifQ+kZMLDBmmbs8x98xAhaY8et1/HlEHfSy+9nmXEuZrLwCRzt43bGmG9d4aT+YEANKygCbSgz4vgBH3mjs7sX9L2dkJ0MQALx309Fj1dVEd0SmoI9/LVps0HQBS/x5IE1igTwXoxTWguzQY5gShWRfCOP9SMiphvfFnmCteSdtqI2bgMXfuXADAypUru9ucdNHY2Ij169cjNzcXs2bN6tf+nnvuOdx4440YMWIE1q5di4kTJzo+51RAWqbm/OMe9D4zfJT6uOao54tHDMMwaQ91e8Rzv0W3DXoPepcd9H4LHskgTROor1MHbQR60L709SzQMwwTEDQHvbMR9+qxXPh+p25PFwV6vxNfZPUhdWCIWphtlFeo2x/mJDVmYEL7vVOx3BMC5KCX+3dD7t6hjBkzz0P4f/8rxHjVaGRtWKfFzrtGSzMg1fVZP4op+oLGp6M5QXe23fW/ly5zeixpJZUGQKGx8l6mAyA7Bwir7WbTNeaeBfpUoMVGoHewhxSTfhiXXAFj9lxt3Nq4DubTv4Y8fsyHWTGMs4wfPx7z5s3D7t27sWTJEuW5xYsXo7m5Gbfeeivy8k4umldWVqKyslLb17Jly/Cd73wHo0ePxrp16wZkrH03zU2A2lkwkJFUAwkxZDhA+jyxi55hGMZZJBHV43F7iDxVoKf7Chyu96CngkcKOejra7WFRVE6SNtMi7h3uucjwzBMgkg3HfQ04t5hB720LP0cRWPonYQmvnh8vqKty2hyGoaOULc/etjtKTFMMKFieKH3JhJN1G1tgezs8HweAGBteEcdKCyCMe+bEEYIocuvAkRMe4zODljvrfVmYvTfSQggkA76YjKQmDtbu/7PzXP+vqo3cvKAjMze55QEenx/sWP77gshhF4U42NqhZuE/Z4A0zeylSzwZGZBhPifjukZIQSMr3wdyMyEteZN5Tl5cB8i//ErhK74FsTpZ0W/8BgmRXnyyScxe/Zs3HnnnVi1ahWmTp2KjRs3YvXq1Zg0aRIeeughZfupU6cCiMZBdbF69WosXLgQlmVh7ty5WLp0qXac4uJiLFq0yNX3EhhI/3kIg1NbfEaEw9F4wxjHhDx0ABgz3sdZMQzDpBmagz6OxSS6Ld1XwJBeR9ynkoO+Vo23R1a2vXtTi5SshbQsCIM9EAzD+IzmQHfQ4EPFcqd70NudL1x10NNEAO96NUvTBI4eUcbEMFWQFyTiHseqIU0TItS/FjwMky7oPej9cNAX62MN9UDZYE+nIetrIb/8VBkzzr2wWxgWg4ZCnDYTcsum7uetLR/CuOQK1787JF1PzCsI5rVxlzs7pkWAbKiPO56etrjyNN4eJ0Ts4lIgtnir7jgAh9YKaU97Lx30iPahjzWZpquDnlXeVIBEDbNQwvQHIQRCF82DKCqB+ZcXADOmB0lHO8xX/gjx6UcIff0aW1cIw6QC48ePx6ZNm/DAAw9gxYoVeP311zF8+HDcddddWLx4MUpK+r542LNnT3dE/tNPP227zZgxYwaMQC9p1WhefjAvqAcYYtgoJdJQHtrv42wYhmHSEOqgj+eeizpDWpogpQxuISwV6J2OuKf7a28P9u8jFrrwU1xqO28tUtKyoq4hjxeuGIZhNIiDXjjooNfi8p0WtO0EeprK4iAiK0vJjtMK2Nykplpdp8OJ5DTlMRHoTRM4fgwYPNTt2TFMYJBS6u2HPHTydiG6ijZjvvdkfS2ExwK99dEGNe0pIxPGmecq24TOvwSRGIEezU2QOyohJp/i7uS0VgTBbJfZ7c6OTRhORPw9Tgp7PRbogeg9SWy6Ci0aSBTZ3qa3zPH6/dHPeX16Ouh5xT0VaFEdGPHELTKMMeNshL9/p21Fn9y5HZEn/x/MdX/j3vRMylJeXo6lS5fi0KFD6OjowJ49e/DYY4/ZivNSSsU9DwALFizoHu/pZ/fu3R69mwBAK14DekE90BAj1D70LNAzjM7+/fuxcOFCjBgxAllZWaioqMCiRYtQW9v/mLeLL74YQogef9p66LX6xRdf4LrrrsOQIUOQnZ2NyZMnY/HixWh12lnGuIakrvd4Iu6pmB+JAD5FXvYLl3vQa2KKtBSHSpDRHFo0WrGL3Hy9LyLH3DMMEwCkmw56IvZrcfrJQucuhPPnqFh87EEvj5D+84XFEKSFgMjJBfLV+3FZzTH3zACjrVW7rhZ2bnYv0ATDOk8PL6WE9dnflTFjxtkQJGlEDBoKMWqMMmZt/tD9+TWmznoi/RvSzEr9QNaqLYT9MEBqbbeo6z1R7Pbj8eeOJmXIxjpPj+8V7KBPASR10LNAz8SJGD4K4X+4G+Ybf4akJ2QzAmv1G7A++xihb1wDY/QA7r3NMAxkk3pRKrj/fCAQw1WBHseqITvave1vxTABpqqqCrNnz0Z1dTWuuuoqTJkyBR988AEef/xxrFixAuvXr0dZWVm/97d48WLb8XBYv33auHEjLrnkEnR2duKaa65BeXk53n77bfyf//N/sGrVKqxatQpZTkeIM87TkrhAb5tw1tLsrqiQDLS/r+MR9zZux/Y2rUdiINEE+mLbzbojJY/FxBPXHQfG8L0UwzA+Q4sDnexB77KDXtJCyKxsd9NXfBXo++g/3zU+ZJhyjx51Sp7u5tQYJljY9Z32I+IeJyK3Y4prHBND+8vhAwBpxyRmnG27qTHjbJj793Q/lts+h2xpgoinjVe8UAd9fnAFer2/eV3cu4iNXwcAUdr/9QbHoKleTjnoafFJXj5ERobttq5B78O4Bz3jG1o/RI64Z+JHZGYhfNUNsCZPh/nGS/qX2tEjMJcugXXGuQh99Rta5S7DMAME6qBngT4QiKEjAGGcjDKTEvLQAQgWAhgGAHDbbbehuroaTzzxBO64447u8XvuuQePPvoo7r//fvzmN7/p9/5+9rOf9Ws70zTxve99Dy0tLXjllVdw5ZVXAgAsy8J1112H5cuX49FHH8VPf/rTuN4P4z20KDquiPusbMAIAdbJqFrZ3OR9DGA/kVSAyHQ4PthO8G9vB1KgzlyShUVt8S4GUVwCGSPQOxUpyTAMkyhSSpuIe+fWdrS4/LZWSGlBCIcCWjX3v4v953Eislo5vn8OejF0hO12YsgwyJ3bTr6OHfTMAEPrO51XAGFTNO0FoqhEbYvhcU9s6/Mt6kBxqW7mOIE4ZQaw4uVoshcAWBbkti8gZpzj2vyo4SfQDvqCIvJvGZ/4K6WlR9wHwUHvUKIX3Y/woY2XIIkV6dqDniPuUwBJI+7drHRi0h5jynSEb/ufMM69IBoXRpB/34jIkl/A2vqZD7NjGMZvdAd9cC+oBxIiIwMYovYalDHV0AwzkKmqqsLKlStRUVGB22+/XXnuwQcfRF5eHp555hk001QqB1i7di2+/PJLXHjhhd3iPAAYhoF//dd/BQD85je/0dqrMAEkCQe9EALII4J+i/N/b47RQeL3nXbQh8LRgoVYPHQlJgNd+KHRispzZKEq3oU9hmEYx+loV3sTA86K3FTsl1Jvm5IMHgv01EGvFbC5iKw5qjzW+s13jQ9Wx2X1IdvtGCZdoU7eHtsPeQF19HoYcS+lhPWFKtAb007rMWVEZOdATJyqjFlbv3BtfgAAEhMf1B70AJJ30Dc2ai28/Ii41/re19dBxhSNJwwtPPZDoKf/Ro2NkKYD7y1gsECfCmiLReygZ5JDZGUjdPl8hH5wF2BXadfcBPOPS2H+7S+QlqU/zzBM+kL7LrGDPjAYoyqUxyzQM0yU1atXAwDmzZsHw1BvbwoKCjBnzhy0tLRgw4YN/d7n888/j5///Of41a9+hTfeeAPtPSw+v/322wCAyy+/XHtu3LhxmDRpEvbs2YOdO3f2eKz29nY0NDQoP4y3SMsCWojjMN6iaOq4D7RA724PeiGEJvpLJwUcN6Eie2+LwFrsYp3Ts2EYhokPu8h5J9MR7fbl4PmOCuQi2+GEFwrdv0cOehmJ6OJH2WD7jalwf/wYJBGFGCatoddXtA+8h/jq6D16WI+3P2VGry8xJp2iPJZVW139/tAc9AE2/Gg96ON10JP+8whn+PJ+BY24l5YjUfCyjvytlfiQDKfdh0mA/o2lASzQpwBa3GIeiyWMMxgjyhH+wZ0wLrvKtiektX41zD/9FpIu4jEMk7ZIEnHPDvrgIEaNUR7L/bvZlcswALZu3QoAmDRpku3zEydOBABs27bN9nk7brjhBtx3332499578bWvfQ2jR4/Giy++6MqxH374YRQVFXX/lJeX93uejEO0tgAg36dxFkVTQV/SNmUBQUqp96B3WKAHoPf17Qi+g152durR0D30oI8+py4asYOeYRjfof3noRdMJUVGJhBSE1Ik+d5MCq8d9HT/ba3e3F/V1kTTB2LoyXkpBqspapBSj1VmmDRGSzfq5drMdWhxQH2dZ2sy1o6t6kBhcY/x9l1EHfQxDvvODshdO5yfHE5EvtP1xAA76HV3dkN8znPSfx6lZT2mGbhKTp6m6TjRdkvWkn2UlCW9z7jJyQNIOwuaqJEOsECfCnAPesZFhBFCaNaFCN/+PyEmn6I9L7d+DvOZ/4C0q8RmGCatkNKmGrGAi8KCgiivUAeaGoF6Z/pLMUwqU18fFcWKiuydrl3jdXV1fe7rqquuwmuvvYb9+/ejtbUVlZWVuO+++1BXV4frr78eK1ascPzY9913H+rr67t/9u3b1+c8GYehiWVA/PdcWsR9MAV6dHZoooDjEfd2+0wFBz3tPw/04aCnC3ss0DMM4y+yjYjl2dnO9YfHiYSUHHK+c1SgJ8VctNjLYQQV6C0zep50GRpvj7wCfS4nEFnZWqqdpMIQw6Qz8aQbuYzWh7uzw9nvwF6QVZXqXCZM6VMQFnn5EOXE6FHpUkvblmaApvAGWKDXouGlFVfLAkkKpXyJt8eJ8zJ9L1RcTwSa1uCDQC+EsGkrkX5roCzQBxwppR4XFUc/RIbpL6KoBKHrvwfja9/WekbK/XtYpGeYgUB7GxCJKEPsoA8QpYO0WEm5b7c/c2GYNOXuu+/GN77xDYwcORLZ2dmYPHky/uVf/gWPPPIILMvCfffd5/gxs7KyUFhYqPww3kITy5CVDREK22/cA7qDPqAR93bxvS4IIMLHvr6JojngM7O09xGL5rxpbYH0QNhhGIbpESoUORlv30Uu2aeTEfdkzakn0dox7H4/HsTcy+Ok/3xP8fZdzxPhh76eYdKZQDnoC4qgONIBT1ocyY52yD1qyzRj/OR+vZaa8ayqre64/mm7TCGCrWHl5Gr3QLK2/+kktFBKlPgj0EePrQr08bwPO2Rri5Zo44dAD+hFMZIFesZz2tuiFZwxCHbQMy4hhEDo7DkI3fojLepLHtwH8/ml0V5ZDMOkJ3a9fFigDwxCCJuYe+5DzzBdLvUuNzula7y4uDjhY/zgBz9AOBzG5s2b0dh4MrrPi2MzHkDd7oksJtF7tNaACvTtNgW3bvT4pcJ2Cgj02gJrXw6tApvnOeaeYRg/IRH3wgWBXhAHvaMR9/Rc4bKD3nb/NIXABWQNjUbuQ9ihz3PEPTNAkFLqrmY/e9CHQlrKpBeCodyzEzBj9CFhQIyb2K/XGhOmqAP1tZo72gkkFejzCiCIATBI2DrP44iG15JMfHLQA3pxgKxNMmWF/h6E8O9zR1Mr6ligZ7zGrndhkKuPmLTAqBiP8ML/ocdo7a6C+cofo31lGIZJO2j/eWRlQ2Rk+DMZxhYxqkJ5bO3dab8hwwwgJk+Ougd66vO+fft2AD33ie8P2dnZKDixGNMc44z24tiM+9B+8QkVRBMHve19XACQ1BmYkenO4hnta58CEffUQa855AkiK1t33nDMPcMwPqJH3LvgQKeiv4MOeq970AvD0L/HvUiOrInXQa8+zw56ZsDQ1gpEOpUhXx30sHP01rl+TFml9p8Xo0b3P2FkyDBNS5K7tjs1tZNQgT7I8fYn0J3n/RPopZRaD3pR6o/DHABAj51kEZfmwC8sjjtdzilEMTvoGZ+R1M2RkQmRkenPZJgBhRg8DOEFt+si/Wd/h7XqdZ9mxTCMq9AL6nzuPx80xJix6sDhQ5BOLooxTAoyd+5cAMDKlSthkb53jY2NWL9+PXJzczFr1qyEj7F161bU1taioKAAgwadrFC/5JJLAEDrTQ8AO3fuxLZt2zBmzBiMGzcu4WMzHkDF9AQKogXpQR/Y72bqTnTDPQ+kpoOeiuv9WQCmIj476BmG8RPioEeOBwK9iw561yPuAb0IgP4OXYD2oI8/4p4d9MwAQRO/hX2CkZdQJ7EHgqG1e4fyWIyf0sOWOkIYEGNVt72103mBnhapihRYTxTFqrAt6/r53dpYD3Soxcd9fY+7CY2fTzriPgD957uPzRH3jO84sFjEMIkiygYjfNMPAFIUYq1fDevjjT7NimEYt6AOepECFa8DDTFyDBCOTTWQkHuqfJsPwwSB8ePHY968edi9ezeWLFmiPLd48WI0Nzfj1ltvRV6MgFpZWYnKykpl2127duH4cb1q/ujRo/je974HALjhhhsQDp+sHr/oooswdepUrFu3Dq+++mr3uGVZ+Kd/+icAwI9//ONohB4TXKiYTt3w/SFFHPSaOzHLHfFDZKkOetmRgg76fiwAU5c97ZPKMAzjKUQsF9kuRNyTHvRORtxr7nW3isiUY5DzoMsOetnRrrWW61OgLyPRyfV1kMRVzDDpiHZdlV8QjZn3EU0wdDlyW7Y0A0cOqXMYOyGufRgkDl/u2u54Oi4VTunvKZAQBz3666A/ekQdyMzqX2GvS9AiLrS2JJcGQ38P9PfkJcV6xL2U0p+5uIQ/2QRM/2lWF4u4/zzjNWL4KISu+y7M3/83EHPyNl9/CWL4SIjho3ycHcMwjkJ70KdAxetAQ4TDEKMrIGMqnuWuHcDU03ycFcP4z5NPPonZs2fjzjvvxKpVqzB16lRs3LgRq1evxqRJk/DQQw8p20+dOhUAlJu7tWvX4sc//jHOP/98jBs3DqWlpdi7dy9ef/111NfX46yzzsK//uu/KvsJhUJYunQpLrnkElxzzTW45pprMHr0aKxatQqbNm3CnDlzcPfdd7v/C2CSgqaWCQcc9GhvgzQjvsUB9ojmTvTKQR98gT7uHvQAUFBM9sEOeoZh/EMTy91YQyQ96NGauhH3ACBychC71O96xH0NjacXejwxRXMvymiE8ZBhTs6MYQIHFej7aj/kCcR1HU/f8kSQtK1hOANiZHlc+xDjSLu11hbg8EHAyTV9mnbgV8/yONCd5/0U6I9Vq/sZNMTfgvzikmif+Fjh+vgxYER8fyddBNlBj86O6N9vGmmk7KAPOFrEPTvoGR8wJkxB6JvXqINmBJE/LXO0WpphGH/RHPT57KAPIqKCxJORuDOGGYiMHz8emzZtwoIFC7Bx40Y88sgjqKqqwl133YUNGzagrKzvm8qZM2fihhtuwJEjR7B8+XI88sgjWLFiBU499VQ88cQTWL9+PYqLi7XXnXvuufjwww9x1VVXYeXKlXj00UdRX1+PBx54AG+99RayiJOYCSDN1EGfSA96m9e0BO86WRMeqJDuFFoP+uBH3GvRnP1wwmgOeu5BzzCMn9BEGBpH7wDUQe/UuU5KCbSRIjK3zlGx0JQBl9e4tHj6omIIJSFNR2Rl6+0nSf9jhklLAij6aj2x3XbQ71YTE0V5RdwFwKKoBCAua2vPzh62TgytmCIFHPSimDjDW5r6l/pFHfSDhjg3qQQQobDm4E8m5j5IAj0Ki6PFB7GkWcx9wMr5GQ26WMQCPeMTxhnnQh45BGvjOycH647DfPkPCN3wPQjB9T4Mk/JwD/qUQIszO3oEsqmBCyqYAU95eTmWLl3ar23tYtFOPfVU/Pa3v03o2NOmTcMLL7yQ0GsZ/3HCQR91FAog1ofX0gQErV1MG+1B71bEfWr1oJeWCSTQ6kdzcrGDnmEYH5GtHqRw5rgUcR/pBCxTHfOkBz05X9HzpMPQHsf9FT5E6SCloF4ep058hkk/tOJJmlzkAz2JuoIWpzqERQX6ivEJ7UeMHqcU9si9u4BZFyY1t+59SakXU/gY+d5v6L8lEI13Hzq815fpDvqhTs4qIURpmdJmQCsG6yfSMnUB3E8HfSgEFBQpSWeyrjatEp1ZUQs42mJRGsU3MKmH8dVvQIwao4zJbV/Aem+NPxNiGMZR9JufAMSHMRpixCjNmSirtvk0G4ZhmDTAAQe9MAwgRxUSZBD70NOIe7fciWS/ge9B39SoxkIC/VtYpG4V7kHPMIyfUAe9JxH3Dgn0dsK4Bz3oBXHQyzaX029ohLKdQGQH7TGcoPjCMCmF5qAPwBoV7YkNAC656GVri95/fkxiAr0xZqy67707nevl3doSjR6PQQQg7aAvREYGQIwutIjKDnlMddCLwf466AEAJeo5QtYmmLJSVwtYljIk/OxBD5vUijRz0LNAH3Took4uO+gZ/xChMELXfke7ybPefgPWvt3+TIphGEdI2YrXAYgwQpqL3tr2uU+zYRiGSW2ktDRBIyEHPaCnnVGhJABI6mR3rQd9akXcS+p8D4X6JWxpDvqmJkjTtN+YYRjGRaSUngj0WsR9e5sz33t2vd+zvHDQk2O43INed9D3T/gQpVR8YYGeSX/0HvTFvsxDmUNGJpBHWk641Ide7tsNJZ0rHIYYOTqhfYnR49SB5qZon3InoAWqQkRdzykA/Q7uy3kuW1s0vS4QDnrqck/wHCFrSDpLTi6E33okbZfgclsJr2GBPuBQ14XIYwc94y+isBihq29BNMLzBJYFc/mz3I+eYVKZ9ja94pUuOjOBwZh0ivJY7tgKaUZ8mg3DMEwK09oKSNUlkKigQdPOZAAFek14cEv80AT6gDvo6cJiQREE7Xdoh7b4KIGmBttNGYZhXKWzAyBCuTsR9zb7dGAtSCsgy8iMRtu6TY7HAj1x0Pc74p5sxwI9k+5IKfXrswAI9IBdH3o3BfqY444cDRFOsGN1SZnuFt/rTB96zdGcX+jN97cT0HQSEl9PkbT/vBECSn3s0X4CQeYgaxIrvqACvSgbnPCcnEIUsYOe8RPSB49+kTKMHxjjJsG48CvqYH0tzFf/5Fw8DsMw3tJo0zM1RSpeByJi0lR1oKMdkvQmYxiGYfpBi00MfaIOeuouSIGIe7cc9Fp0fkd7NK0goFAHfb8dWjm5AFko5Zh7hmF8wa4ozIMe9ACAVgcK0qgw7kG8PQAI4qCXre4J9NKydOdffyPuqZBfXxvtFcww6UprMxBRTQiBiU2nn1u3Iu7371Yei1EVCe9LCAFBYu6tvbsS3l8skqRxBubfqR9Q97s8erj3F5B4e5QNgjD8L0YQZSRmv7FeL3zrD9RBHwSBniPuGb+QlqUtGAkW6JmAYFz0VYgxajyOrPwU1ofrfZoRwzDJoEW75uRG+zExgUTkF2rRZnIrx9wzDMPEi6T95zOzIMKJnf80p2IAHfSyzaMe9JlZ+liQXfT0OqifKUJCCN3NRffFMAzjAVpqi2HYfxcniQiFtP06kqZI529XCOAGXkbcN9YDRFTvd8Q93c6y+HzDpDe0BaMQgTEu6oKh8w56aZqQB/apxy2vSGqfNOZe7nHGQa/9W9FI8gAjhgxTHsujR3o1H8ojh9TXD/Y/3h7AiSQAkv5FxfZ+oDnoS/0X6PWIe3cSK/yCBfog09IM0C+EfO5BzwQDYYQQ+vYt2k2TtfJVyMMHfJoVwzAJoy1MF/syDab/iEnTlMfWl59Gi/sYhmGY/kMd9Im6521eK+3c+X7jlUORCh5AoPvQy8Y65bGII0WItgTSih4ZhmG8wKb/fL9adSSCVpDmQMQ9EfmFXZS+G3gYca/FYIcztF7WPZKTpxdGcMw9k8Zo11P5BcGJTS+m/b5dEOiPHNTbUJaPSWqfxmjVQY/aGsjG5FszyQbV0dzvJKoAoAnsba16onUM8tB+9fXDRroxrbgRGRkALRxxQqAPoIMerS2QHQEu/I4TFuiDDP0yEEKPTWQYHxGFRQjNv1EdNE1EXvhdYjEqDMP4hh7tyvH2QceYeqo60NQAuWu7P5NhGIZJUaiDPql+vSngoNcj7t3sQU+EIZf7+iZFA1mcjOc6iIr5LNAzDOMHNgK9Wwjqbnci4p668D1y0ItscpyOdvei46mgXlLa7yIKIYQec88CPZPG0JZBQRJ9vehBT/vPo2wwRLK60JDhAEnPcqQPveagL05+n15RXAJkZCpDPcXcS8uCPHxQGRPDR7k2tXgRg9SYe3msOq7Xy84OgH7uAiDQ2yYypFHMPQv0AUY2kUWC3HwIg//JmGBhTJoG47yL1MHjx2C+/hL3o2eYVIJehHH/+cAjBg8DyM2A9clHPs2GYRgmRXHQQU/FfS0+32eklJpAL7LcEeiFMDR3vpt9fZNFXwROwkFP3PgMwzBe4KkDPVcVtaUDDnq/BHrbQjWXCsokcdmK/vaf79qeCPR0fwyTVtCCxwCJvtpnt7XFcaMaFeiTjbcHAGEY2n6ciLmnPcFFKkXcC0Nz0cvqHvrQHz+qpxoExEEP6H3oZU18Aj2OH9PHSsv0MY8RGZmaaVnWsUDPeAF10Of3M/aIYTzGuPRrei/kTz6C/PsHPs2IYZh4kY0ccZ+KGKfNVB7LLz9Nq6gnhmEY16EiejKOQyruBy3ivqNdb6HmVsQ9YNPX1wEBxwWklNG+wLHEcx3EPegZhgkCHjroQcV/Bxz0kuxDc+m7BY24BwCXCsqoy5YK7n1B+9BzxD2TzmjFkwXFvszDluJSaElRduJmElCB3nBAoAf0PvTW3l1J7U+aEYDE5IsAFVP0CyrQHz1iu5k8RFr6FhRCBEmvS9ZBTyPxC4sgSGsVv9BSK9hBz3iBJAJ9oD7wDBODCIURuvoWLSbHfH05LBrJwzBMINEj7gt9mgkTD8b0MwARcznX2QHrk4/9mxDDMEyKQfvEJxMdKTSBvhnSshLen+PYOXuyXBToqbgS1Ij7lmbAVOOMk3LQs0DPMIwftDjYsqUP6LnSkcQYKornehRxH84AQmFlTLp1vqIx2HE66DninhlQBDg2XYTD2nykgwK9rK/VUy6dEujHkD70Rw4l951XV6sXAMdZfOQ3Wh/6niLuaf/5AMXbA4AYROLoa45Cyv7fiwax/3w3NJWBHfSMJ7CDnkkhREkZQt+8Th00TZjP/zatqpoYJm0hF//soE8NRH4BxITJypi1YW1cF+EMwzADGi3i3kEHvZR6ZK+ftHkr0ItUibin10BCxHfvTdsCNdbzeZhhGM+hDnRXI+LpudKJxBhaYOCVgx7QXfSuRdyrgjp1xPeFHnHPAj2Tvmix6QFboxJlg5THjgr01OyWnaO5oxNFjBhNipKkfrw40N53Ti6EXeuQACMGD1Mey+rDtm17NYE+QPH2gN6DHpGIXujSC5IUJtDIfD+hbRPSSWtigT7AyGYSD8ICPRNwjFNOhzHrQnWwuRGR538LSXq0MAwTHGSkUxMQ4nGOMf6ife/WHIXc9oU/k2EYhkkxZLNzDnrbOOHm4MTcy3YiOGRmQRguLglkp4aDXnO85xdAGKF+v15bMLasQP27MwwzQPAy4p6eKx34zpNaD3oX50/x4HwlI516DHTcEfdk+9YW99z+DOMj0jL1AsriYPU1FyVuCvR71GOVV0AIZ67ZRTist6lNIuaevm9ROqiHLYOLGDpcHWhvA0j/dmlZWsR90Bz0yCvQiq/jibmXR0hywJDh9hv6Af38p5FAH+57E8Y3NAc9xw0zwcf46jcgjx6GrNp2cvDQfpjLn0Xo2u9ChPq/2MUwjEfYRbFSNxgTWMTYicDQEcCRg91j1tq3ICZNc+wmDoi23pH790RjrxrqIRvrootXoTAQCgEZGRCFJUBxKURJKcTQERAFfO3CMEzAobG81AUfByIUjjpcYhbLZXMT7VDpH9RB72a8PWDTgz6YIoIk/edFvNdAefmAYUSF+a59NtRD8P07009efPFFrF27Fps3b8aWLVvQ2NiIm2++Gc8++6zfU2NSCOllxH0ejbh3oChJE+i9c9CL7GzEeiW1YgEnsIvjjTfivqgE0b7XMbOtOw4EzMXJMEnT2KBcVwHxJ064DhWinRTo9+9WHotRFY7tGwDE6LGQe3eePF7M/8cNTfIoTa14ewDRBNGCIiDmnkDu3QUxKCb6/vABrV2YGFHu0QT7hxACYtAQyAN7u8dk9WFgwpQ+XytNEyBivhgyrIetvUdz0KdRxD0L9AGGe9AzqYgwQghdfSsi//W4cnEit34O85U/IvStGx0VjBiGSR7NOZaR6f6iPeMYQgiEZl8M88+/7x6Th/ZDbv4Q4oxzk9q3rDkK64tPYH2xJXpD0tf2dKCgEGL4KIgR5RAjR0crv1Pob0u2tkBWH4oWsXR2AJlZ0fc0bGRKvQ+GYeyRUjrvOMwvUIXo5saet/UaKpC7HD8psnNUwSOgAr1WqBhnhKowjGgxfazTq6EeCNiiHRNc/vmf/xlbtmxBfn4+Ro0ahcrKSr+nxKQiLURUdtNBr0XcJ9eDXlqWdo4SHvWgB6D/rlwQ6LU4+pzcuO8nRDgMFBYp5xtZWxO4mGWGSRZZe1wdyMj0NlWjH2gR9zXOCPSyo113ajvUf757f6PVPvTywF7ISCdEOCPufWkO+pIUdNALES1a+Hxz95i1dxeMM2edfLxru/qi0kHBTB4dMgxQBPpD/XtdzVHAMpWhQAn01EHf2ABpRqIF8ilO6r+DdIY66PNYoGdSA5GTi/CNCxH5ryeU6jL56cewMrNgfP1qCBEYLxHDMDQaqLiEP6MphjhlBvDO35SKV3PV6xCTp8ftnpGWBVn5Kaz310Lu39P3C3qjsQGy8YuTkfvCgBgxCqJiPETFBIgx4yAyMpM7hsPIhjpYH74Ha9sXQE83M0JEiw5OPRPGaTO97ZHJMIxztLfpCxFJOOi7Xh8bJeiIq9AhJHV9ZLtcaORRT99kkSRCNZHFNlFYpOyH7pNheuPRRx/FqFGjMGHCBKxduxZz5871e0pMiuFKwVkvCLo+2dEO2dkJkRG/uAMAaLMRxL28vqa/qyQLDuyQdargGG+8fezrJBHoGSbtIJ8XFJcGbo1Ki3JvboRsb0u6kF8e3AfImPQAYUCMdLboMyr4x6RxmCbkgX0QY8bFva90iLgHoAn0NPZfEoHeGDvRi2nFjRg6Qi2QPnywx21j0YT8gqJgrXMV0RYXMloQneC5NEiwQB9QZCSiV4+yg55JIcSgoQjd+H2Yzz4FRDq7x62P3gdCIRiXX8VOeoYJCJII9DQ6iAk+IhRC6LKrYD73nycHm5ui7UVu/mG/egzL9jZYmz+EtWGdfkPsFNKKVmcf2AusXw2EwhBjJ0BMnApj0jSIeGMenZza0SMw31sN+cnHmmCnbyy734f19hswzp4D4/xLIFx2ozIM4zC0IBpIviiaCvwBEui9j7gnizpuRAY7QSN10CfghiksBhBT1GbXPohheoAFeSZpOjsAM6IMuRlxbyv+tzTZLKD3k1abAi4vI+5z8lRBwwWBHtQRnGhcd0kpsKeq5/0yTBqgFbQErP88gBPCIGk5UVuTdMsJuXe3OjBsBERmVlL7pIjsHGDYcCBGvJV7dwJxCvTSsvS1o1SMuAdgjB4LpalCbQ1kYwNEQSFkJAK5RxXsxbiACvTDRqgDR4/0y2kuq9X+82JogPrPA9Hkt8wsoKO9e0jW1SZc7BYkWKAPKnZRiCzQMymGMWYccP0CmH94WhE7rA/ehWxpQmj+jWkRRcIwqY6sr1Mes0CfmhgTpsCafArk1s+7x+TObTBf+xNC37gWIhSyfZ2sOw7rg3dhfbxR66mlkZkFMXwUUFIa7dGbmxf9fo+YQFtrtNij7njUPRpz4dwjZgRyRyXkjkpYb/wZGDwMxrTTYJwyA2Lw0L5f7wDWvt2w1r+t/N7ioqMd1vq3YW35EKHLroIx/QxnJ8gwjGtIes+VmZW4++8EIq9AXeQPkkBPv+NddtBTh35QI+5pq5+4e9DjhIM+dp9U9GcYhnETO0HZTYE7OwcwDKVHtGxuSvg+UhPEMzITilpOGE8c9KrTPdHCZFFSpp5v2EHPpCGaicTHQv6eEOEMoKhYSaSUNceSbjkh96lCsOFwvH33fkePg6UI9Lt62boHGuoAk6SRpaiDHkOG6wLwvl0Q006PJkvGmA8BAVExwfs59gMxlAj01one8nScQB30YnBw4u2BaBsCFJeqKZe1NcDYYP47xAMrYwGF9p9HKOR6j0CGcQNjwhTg6pthvvgMIE/eRsjPNsNsaUHouu9yH1+G8Zt6UvFaVOzLNJjkCX39GkQO7FVcoXLzhzBrjsK49OvRHvCGAdnSDLlrB6zPPo4K01LrHn+SvAIYU0+FmHZaNJLesBf6Y5HSAmqOQh7cf+JnL+SBfX07048ehrX2MKy1K4Ghw2GcMiMq1jt8kyeljBYFvPt2tFK8N0IhoGQQRFZWVFyqPW7/PpoaYS5/FlbVVoSu+JbjVe4Mw7hAExHPnSiI1hz0AepBTxzsIsvl+0sqDgVUoE+2Bz0AgIr67KBnPKK9vR3t7ScXkxsaGnycDeMXtmuILq6zCCGA3HygKebvLZmCNJqw4nGsrpY24IZAT53uxQlG3BOhkgX61GX//v144IEHsGLFCtTU1GD48OGYP38+Fi9ejJKS/hW7vPXWW1ixYgU2b96MzZs34/jx45gzZw7effddl2fvMjYR90FElJYpxQTy+NGk9ielpbUZdLr/fPd+R48DPjj5dyL37Ya0rH6lL3a/hsTbIzMrem5IQYRhQJRXQFZt7R6zKj+FMe10yMpP1Y2HjXA3pSYJRHZONM0m9u/yyCFduCcE3kEPQJSUKoUE6XL+Y4E+qDSSm6q8gsD1WmGY/mJMOx34lgnz5T+oFdY7tyHy9L8hfP33UrfCjmHSAHbQpw+ioBCha78Lc9m/KyKy3Lcb5m+XAOGM6IJdX055AGL4KBjnXQQx7fQe3fc9vlYYwKChEIOGAqfNjM6hsyN607e7CnL3Dsj9e9XeapQjh2AdOQTr7Tcgho+CmHY6jGmnJXW+kJEI5BdbYK5f3XN/eQAIh2GcfjbEaTMhRo5W3r/s7ITcUwVr8weQX3yiFTfIzR8isn8vwtfeCjEkeDc1DMOchDrok+0/DyDQEfeSCiBuLyzRAnO7CGOfke1tWuJLoj3olf1yD3rGIx5++GE8+OCDfk+D8RtaDObFGmJe+gj09HzoSsS91oM+0Yh7IuzX1cYtqjH+U1VVhdmzZ6O6uhpXXXUVpkyZgg8++ACPP/44VqxYgfXr16OsrO8ijiVLluCVV15BdnY2JkyYgOPH06PlAS1oCaKDHgBEySDIXTu6H8ua5AR6HD2itzwePTa5ffaAGEP2294GHDkIDB/V/51QgbS0LKX1KzFhiiLQyy8+hby0FtbmD5XtjAlTvJ5aXIihw9XCkcMHu9fl7JDtbdq/pRgSLAc9cOLzFvOYBXrGVWgkXiKLBAwTJIxTzwRy82A+/9tof7Quqg8j8tSjCH37ZhiTpvk2P4YZqEgpgTo1Pizh3oFMIDBGjwWuvRXm8meBiNqLEpFOEs1FERCTp0WF+dHjHL25EhmZEOMmAeMmAYhGHcuqrbC2fQG5o7JXp4o8tB/y0H5Yq/4KDBsBY+rpMCafAgwZGi0G6AN5rBrWxxthbfmwd0dMdk60n/w550P04KQVGRkQE6bAmDAF8lg1zJWvQm7/Ut3o2BFE/vPx6Llt6ql9zo9hGJ+gjkMHHPRU5A9UxH0r+f5zWQARVKCPdEJGIhDhAC1D2AnpCUTca677hnpIKVN6kZJJDe677z7cc8893Y8bGhpQXl7u44wYXyCJMD1dxzqJyKN92xM/39ECMpHrr0DvtINetrbooluCfXO111km0FjP9/Apxm233Ybq6mo88cQTuOOOO7rH77nnHjz66KO4//778Zvf/KbP/fzTP/0THnroIUyZMgX79u3D2LHuiLleIi1TSyIKZA96AKBt+Y4eSWp3Fu0/X1QCkUiyUz8Q+YVA6SAgxgVv7d2FUBwCvTymFiSIktQ23xmnnQnrb385GdtvRhB59ilicBEwzjzXl/n1FzF0BOS2L7ofyyMHe9kakAf3qQNGSP/bDgK0sI0FesZVtJg9FuiZ1McYPxn47j/C/P1/qTc87W0w//A05MXzYFz4lX6JLQzDOERrsybYBvbmh+k3xpRTge/eBvOF39mLD5TMLBhnnBMVpj1KNBHZORAnIuylZUEe2AP5+RZYn29R3TiUwwdhHT4Ia/UbQE5uNLZ/xGiI0rLo4pphAB0dUffi4YOw9lQBfVWyFxTBOO8iGGeeG1fbFTFoCEI3fh/y049h/nW56sKMdML80zLIr34dxnkXs0jDMAGEiuciz4mIe7IPWgTgI7KFCiAuO+hzbCL021qdaSXgELT/PHJyITLi73usFdRHOqPv1WsXKDPgyMrKQlYWt9UZ6GjFYE4kwvQFjTFOpiCNCuJ+R9x3tDtbUEbjuiESbyuXlw9kZCrGF1lbwyl4KURVVRVWrlyJiooK3H777cpzDz74IJ566ik888wzeOSRR5CX1/u12nnnnefmVP2hoV5P2guqg56ImPLoEUhpJbyuTfvPuxVv373/0WOVmHq5dydw7gX9fr3etzyAom4ciNx8iKmnQn62+eTgsWp1m4lTEi6w8goaZy8P7e+1cFju36u+ftgIiHD890NuQ9cq2UHPuIrmoE+kip9hAogxcjTE9+9E5PnfknhhCWvNm5AH9yH0rZt0xw3DMO5A3fPCAAoK/ZkL4yjGqDEQ/+OnsDa9B2vTe0plNAAgFI72lJ96GoxTz4hLmHaaaL+vsUD5WBjzroTcuwvy882wvvgE6M2N09oCue0LpTo4LgYNQWj2XIjTzoQIJXZZLITojsKPvPgMcPhAzLMS1lt/AWqOwfjat+NuFcAwjMtokcDJCxpaTH5nB2RHO0RmAAQ0ryOE7a7n21oCJdA70n8esL92aqhngZ5hGG9w4XzWFyIvnzjok3CdUwd9jse9fe0K1lqbE0tUsUHrP19UnNS9B0pKgdh+wbU1QMWEJGbIeMnq1asBAPPmzYNBWhMUFBRgzpw5WLlyJTZs2IBLL73Ujyn6iqQFLZlZgb2eEoNJDHhnB1Bfl3BBgdy3W92/ywK9MXoczJj4drlnV1wJUFrf8jRo8WecOQtmrEBPnz97jneTSRAxgqQgtLZETSuDhthuLw/sUV8/crRbU0sKrTCitQWyrTXlNSQW6IMKdbuxg55JI0TpIIS/fwfMV/8E+flm5Tm57QtEnnoU4esWQAwbYb8DhmEcg/afR2ERhMEiYrogMjIQOu8ihM67CLKpAbLmGAAZdYmUDQ7kv7UwDIiK8UDFeBhXzIfctQPyi09gVX7Wu1gfzzHGjIcx60KIydMcS20RZYMR/v6dMP+6HHLzB8pz1scbIOtqELr2uyl/88AwaYULEfe2okhLc3Rx0W88FuhFKKy7/NraEKQ8EeqgT7S1nAiFo+kJMSKZbKiDGJr6C5UMwwQfSQR6RxJh+sJBBz2NuPdcjMvOAYQAZEzJQYuDAn0d6e2bpBtYlJQpwphWAMAEmq1boz2uJ02aZPv8xIkTsXLlSmzbts11gb69vR3t7SdT4Boaekmy8wrqii0uCW4aXUEhkJWtRKDLo0cS+ozLpgbtvRsu9Z/vQowZpw40N0bn0I9URdnSrCUfiqHB61seL6JiPER5hVYsAQBi1BiICZO9n1S8FJcC+YXKv4/ctxvCRqCXUkIeIA76UWNcn2JCFJfo5+rjx4ARqd3aiXOkA4q2UMAOeibNEJlZCF19C4yvfjP65RpLbQ0i//0ErC2b/JkcwwwgZL3qoBeJRu0xgUfkF8IYMw7GmPEQg4cFUpynCCMEY/xkhL55LcL3PoDQd/8xWrGcSIRjXj6M2Rcj/D9+ivCC22BMme54SxURDiN05XUwLv269pzcuR2R//63tInhYph0QDa5IGhkZQPEFReEPvQy0qkI5YAHEfeA7qKnIozfkML4ZO67NXGfuvMZhmHcgvSg9yKpREuMSeZc57NALwxDO2ZSiQAUKqDTPrpxIopVFyHfX6QW9fXR64OiIvtrjq7xuro61+fy8MMPo6ioqPunvNx/oUseJwUtHrXgSwQhhG3MfSJI2n8+Mwtw25FeUqadL+Tuqn69lMbbIxTul7AfdIQwELp+gZZeIEaNQej676VEW14hBMToCmXMIu0Tummo04rWA+ugD4W1tLN0OP8FwkG/f/9+PPDAA1ixYgVqamowfPhwzJ8/H4sXL0ZJSf8WYN966y2sWLECmzdvxubNm3H8+HHMmTMH7777rsuzdx4ppXNRewwTYIQQCM2+GGL4SJgvPqP2HYt0wnz5D5D7dsO4fL5zvb8YhlEhAn1CwifDeIAwQhAVE4CKCQh97duQ9bXRKPx9uyFrjkZ7zre2Rqtpw2GIgkKgpBRi2KhoFfSIUZ7cTAkhEDr/EojSMph//j0QiZx88tgRRP7rcYSu/57r1fAMw/SOlFKPBM53IOJeiKiLPlb4DUIf+hYbYdwLASQnB4ht39bW6v4x44C2lkvqvruwCDi0v+d9M0wPvPzyy3j55ZcBAIcPR12x77//PhYsWAAAGDRoEH75y1/6NDsmFaCFYJp47gakN3YyxWjUQS/8iLPOzVPXpBwU6GlkNxXY44YK/GkgUDD+cN999+Gee+7pftzQ0OC7SC9r1dZ8Qe/3jcFDgf0nI8Ll0cO9bNwzWv/5UWOixUMuIoSAGDMO8vMt3WPWru0wzjy3z9fSeHsMHpISJpD+IPIKEPrOP8J6dxXkzm0QFRNgXPjVlNImRPlYyC8+6X5slwgA6P3nkZMb6EILUVqmGM1YoHeAqqoqzJ49G9XV1bjqqqswZcoUfPDBB3j88cexYsUKrF+/HmVlfX8RL1myBK+88gqys7MxYcIEHD+ewvE+7W26u4Ej7pk0xhg7EeIf7ob5wu+0WBXro/chD+1H6LrvQrBwyDCOozvo+XPGpAaiqATi1BLg1DP9nootxrTTgcJimH98WnUUtTTD/N2/A1deD+O0mf5NkGEGOh3tagENokkjTiDyQPCNpwABAABJREFU8qNFQ10EwEGvO9eFfY94hxHZOWqP4qAJ9FrEfeJ/A6KgSH2vtG0dw/TA5s2bsWzZMmVs586d2LlzJwBgzJgxLNAzveNDD3rtGMkI2rSQzYv5E0Runvod7qRATwQEkayDvoQ66FN4DXwA0uWQ73LSU7rGi4uLXZ9LVlYWsrIC0IYpBuqgD7JYCET70Md+dyBRB73H/ee7MMZOghkj0Mud2yGl1be54YjqoE+H/vOxiHAYoYsvAy6+zO+pJIT293OsGrKlWUtQ0wpDRo4ObksJACgZBOza0f1Q+75IQXzPZLjttttQXV2NJ554Ai+//DJ+/vOf4+2338bdd9+NrVu34v777+/Xfv7pn/4Jn332GZqamvDaa6+5PGuXsYvCK3BmsYhhgoooKkFowe0wzpqtPScP7kPkP34Fq2qrDzNjmPRG1rGDnmHcwhg1BuEf3AUMIb3YTBPmn38P8+03IKXlz+QYZqBj52p3ShAg+6FR+n4gW4nQkJ3tuisnehwacR8sgZ5G3CfnoCev5Yh7pp/87Gc/i/YA7eFn9+7dfk+RCTDSNLUiLOFFxD3tQd/ZAdnRbr9xL0QTbbyP6NegbV8cEuiltADioIcDPegVWpogY3pgM8Fm8uRoD+tt27bZPr99+3YAPfeoT2eklNGe0jEE3UFvF3Evpexha3tkZyfkoQPqfj0S6MW4iepASxNwpO8UABpxL+iaB+MrYthIIJyhjFExHgCs7V+qr/Po7y5RtAK3NHDQ+yrQV1VVYeXKlaioqMDtt9+uPPfggw8iLy8PzzzzDJqb+74oOu+883DKKacgFEr9KA0tCi83D4J8oBgmHRHhMEJfvxqhb92knUTQ2gLz2f+EufYtFjMYhf3792PhwoUYMWIEsrKyUFFRgUWLFqG2trbvF5/grbfewr333otLL70UZWVlEELg/PPPd3HWAcLhan6GYVREcSnCC++AmDBFe856528wlz8L2dnpw8wYZmAjqdswIxMi0yEHEXXiNzU4s99koBH3XvSfB/QY/QA56GWkUxe1kkiuo6+l7nyGYRhXsEtpyfNA4LYT0RMpSGtrBSxTGfIkop+S445Aj8ZGwCTvL1nB0U7gp0UATGCZO3cuAGDlypWwLHV9s7GxEevXr0dubi5mzZrlx/T8pbU5miwcQ5B70AO6QI+Odr2VZB/IA3vV70EhIEaNcWB2fSNKyqK96GOwdtoXj3QhpdQi7tPNQZ/qiFAIYpTaS15uU8V4WXNUK4gxbNatgoQoUb8P5PGjPs3EOXwV6FevXg0AmDdvHgxSvV9QUIA5c+agpaUFGzZs8GN6/qFV8XO8PTOwME6bGXUcahdhEtaaFTD/8LTWo4wZmFRVVWHmzJlYunQpzjnnHNx9990YN24cHn/8cZx33nmoqelfJd2SJUvwq1/9Cu+99x5GjBjh8qyDg2xt0RbKg16dzDCpiMjKRujGhTDOuUB7Tn6+BeayJwPhsGWYAUWTe249QdLPZBAEeuKg96q/r8hSHfSBuoa3Ta5L4t6b3rdzD3qGYbyAFpwJAeS6/x0vsrIBUtimGY76g22ijfcOei321ykHfR1ZkwiHk77mEBkZWtJqOvThHSiMHz8e8+bNw+7du7FkyRLlucWLF6O5uRm33nor8vJO/k1WVlaisrLS66l6jhZXbRhAUbEvc+k3hcVaYpQ8uD+uXcjdO9SBoSOi37EeYYxVXfSyD4Eex6qjhQgxiKEs0AcNMWGq8tja+hlkTFEQdc8jvwAYPtKLqSWMKBusDjTUJ5TeEyR8Fei3bo3GVfcU2TJxYvTLoafIFydpb29HQ0OD8uMXkhxbJBOzxzApihg6HOEfLoKYMl17Tm7/EpGnHoU8FN8FD5N+cJuU5NBu4oXBEfcM4xLCCCF0xXwYX/t29LMWgzywF5H/fgLyaN9RcgzDOAN10Dvq1qPtyRr9F+glddB7JNDrkcE2Tk+f0BzumVlAEouh2n17W2vKLxgxDBN8JHXQ5+b33TvYKajQnMD5Tku0yc6BCIeTmFSCuBRxD9ofvrjUkf6+3Ic+tXnyyScxZMgQ3HnnnZg/fz7uu+8+XHLJJXj00UcxadIkPPTQQ8r2U6dOxdSpU7X9vPvuu1iwYAEWLFiAn/zkJwCiEfldYwsWLPDi7TgHcfOiuBTCCHZashACYsQoZSze9Woq0BsVE5KeVzyIcao2J/dU9XoNK/eSqPTCouSKXBlXMKaeqg40N0Hu3939UNJ4+wlTvbt+SJQym0SNFO9D7+tvvL4+ekNcVGT/Ae4ar6urc30uDz/8MIqKirp/ysvLXT9mjxAHveAvOGaAIrJzELpuAYxLvx6tAo+l7jgiT/8brL9/4M/kGN/hNikOQG9+ioohBtrvgGE8JnT2HIRu+r4uAtUdR+S//w3Wru3+TIxhBhrUseekg55E3MsACPQ0yt2ziHta+OCU4OEENsl1SYkmtDAD4D70DMO4j3Y+8y4enq5XJnS+o/P3I94eLjrotZZyDiXW0f2wgz6lGD9+PDZt2oQFCxZg48aNeOSRR1BVVYW77roLGzZsQFlZ//5OduzYgWXLlmHZsmVYvnw5AKC6urp7bNmyZW6+DceRtP98wOPtuxDDqUC/r9+vlZ0dkPv2qPsb67VAP1E1EUQivbroLdLLXIwe60jhEeMsonQQQJIN5JefRv/b0gS5p0p5zpioFwEFDZGRGU2tiEHWVPszGYcIeEmEd9x3332or6/v/tm3r/9fpE6jRUJxxD0zgBFCIHT+JQjd+mP9Ri0Sgfnq84i8+DvIALlxGG/gNinJQ6vsOd6eYbzBmDAF4e/fofePbG+D+exTXHzGMF5AHIfCyThdKtQ2NUBK6dz+E0D6FXGfRwQPu17JPkHvu5MtjBeZWXrEKcfcMwzjMnoijIfx8Dbnu3ih5wVP5x+LSw56SXrDC7v+8QlA98MR96lHeXk5li5dikOHDqGjowN79uzBY489hpISPdVQSml7LblgwYLu53r6SSVcK2hxGTFcNXrKg/v7/buX+3aT/vMGxJhxDs6ub0ROrnZMa+vnPW5PHfSifKwr82KSx5iiuuitz/4O2dEOa+O7gBnzd2eEIMbbp5wHDTFIjbmXNandh95Xgb7LId/lpKd0jRcXF7s+l6ysLBQWFio/fkGj9thBzzCAMXYCwv9wD8SoMdpz8vMtiDz5/2BVfubDzBi/4DYpyZOqNz8Mkw6IwcMQ/v6dECNHq09YFsxXn4f53mp/JsYwAwRNOHXUQU/2ZZpAW6tj+08I6qDP8chBnxtkB70LhfF0H+ygZxjGbZpI4ZOD57O+cCQxxscEAAVqCGludEbctIm4dwI94p4FeiYNoCmPqeKgJxH3aG0B6mv79Vq5S423FyNGedp/vvu4k09RHsttXyj9yrvHGxu0xA5jNAv0QcWYdpo60NQIa91bsD54VxkWp57hy99dIohSFugdY/LkyQB6Fk+2b49GfPYkvqQtpLoSRcW+TINhgoYoLEJowW0wzrlAf7K5CebzSxH5/X9xD98BArdJcQB6E88CPcN4isgvQOi7/whBe4MBsN76C8yN7/gwK4YZGFARQTiZWpZvU+ztd8w9FcZzcuy3cxjqoEd7G2Qk4smx+0IrjKc95BOA7kPSGH2GYRiH0Rz0tDDKTaiD3oEe9H456N0qrtOL4p0R6LV797rjkFIX0xgmlaBCW8qYSIpL9RSlfvahl6TFnfC4/3wXxpTp6kBLMySJsgegj2VmAUOGa9sxwUAMGa454631q7XzW2j2XC+nlRyDhqiPWaBPnLlzo//wK1euhEUqchobG7F+/Xrk5uZi1qxZfkzPF2RbK9Depow5FX/EMOmACIURumI+Qtd8B7CJ5pTbv0TkyV8i8vxvYe2ohIyNCeoFKS3IhjpYe6pgbf4A5tq3YL71F5ivv4TIq8/DfOPPMNe8CeuTjyCPHLStImQGLkFqkxIP2mJBaYrc/DBMGiEyMhG69jswzrtYe85a8TLMTe97P6kUZf/+/Vi4cCFGjBiBrKwsVFRUYNGiRait7Z97obm5Gc899xxuuukmTJkyBXl5eSgoKMBZZ52FRx55BB0dHbavE0L0+DOQ7mNSDupsdjC1TITD2nWq31Hnkjjoaa9d17ATioLSmor+mzjxN0D3wQ56hmHcRvsu8y4RVJBjyQQi7mnLGfgVcW+XPJBkcZ3s7NT+fZzqqa0Jl6bpfzEgwySBbGnSEp8EFeICihBCc9HLg30L9LK5CfKAun7odf/57uMWl2r9yq0tH2nbySrVaCvKx0AY3EU7yIS+8g0AosfnxaRpEEOGeTehJBFlxEF/rDrl2nnEEvbz4OPHj8e8efOwcuVKLFmyBHfccUf3c4sXL0ZzczN+9KMfIS+m6r6yshIAMGXKFM/n6wnUPQ/BDnqGscE45XSIMWNhvvYC5LYvyLMSsvJTmJWfAtk5EGPGQQwZDhQWQYRCUddOJAI01EEePxYVKY/XAGbPbh7taz4rG2LiFBinzIieyIyQ02+R6YOgtUnJyspy/ThOIs3oZyCWlKlOZpg0QwgDoXnfBPLzYb31F+U5668vQmRmwjhtpk+zSw2qqqowe/ZsVFdX46qrrsKUKVPwwQcf4PHHH8eKFSuwfv16lJX1/h33zjvv4JZbbkFpaSnmzp2L+fPno7a2Fq+++ip+8pOf4KWXXsKqVauQna1Hv40ZMwYLFizQxkeNGqWNMf4jTVPvQe90W7GCQnWRkUb4eo0Wce9ND3rk5ADCAGJdfc1NgANu9WSh7nYnUhREYZFy3+B3YQbDMOmPngbiYZtMBxz09PwofIq4F6ETxXUx50vZ1JCcaGEXO+/UPXd+ARAOR9e2TiBraxxJg2EYP5DHqtWBUAhwKnHCA8TwcsidJ93wck9Vn6+ROyqhrDhnZEKMGe/C7PqHMW0GrCOHuh/Lz/4OedmV3dHn0jRhffmJ8hpRMdHTOTLxI4aNhDh9JuSWTfqToTBCc6/wflJJQAV6tLdFC8D9KvBLEl8FegB48sknMXv2bNx5551YtWoVpk6dio0bN2L16tWYNGkSHnroIWX7qVOnAoBWFfHuu+/iv/7rvwAATSf6L23fvl1ZKPvtb3/r3htxCEl7ExUWRS8SGYbREPmFCN2wEPKTj2C+9ZpeeQ0Aba2QWz+H3Pq5swdvb4P8bDPMzzYDhcUwzrsIxlnnQYQznD0O0yPcJiVJ6moBWmHIAj3D+Epo9lzAtGC9/boybr76PFBSCqOce7v1xG233Ybq6mo88cQTStHvPffcg0cffRT3338/fvOb3/S6j2HDhuHZZ5/Ftddei8zMzO7xX/7yl7j44ovx3nvvYcmSJbj33nu111ZUVOBnP/uZY++HcZmmBmjll4XOOg5FQSFk9cm2Swn15XUIKaXuSPLIQS+EAeTmKtfpsqW5Fw+HN0jL1EUhhwR65TjsoGcYxkWklHpSh4cCvVbc1t4G2dEOkdn/4nUZFAc9oBfXJeugp/208wvj+t30hhAiev9+9MjJwdoawEdxj2GSggr0pYNTygwlKsYD69/ufiwP7Ovz+9Da/qW6j3ETo0lcPmHMOBvWmhUn1wo7OyA/3wJx5rkAALlzm3ZPYZxyutfTZBIg9LVvw2xphoz9m8vJRei670IMG+HfxBKhqCRawGOeTE2Wx4761iInWXzPnxg/fjw2bdqEBQsWYOPGjXjkkUdQVVWFu+66Cxs2bOjT6dLFjh07sGzZMixbtgzLly8HAFRXV3ePLVu2zM234RiSOOg53p5hekcIAeP0sxC+4z4YF34VyNJdba7TUAfrzVcQ+fUvYFV+5v3xByjcJiU5tMWCnFyIbG/60TIM0zOhCy6FcdE8ddA0YT7/W3Zi9kBVVRVWrlyJiooK3H777cpzDz74IPLy8vDMM8+gubm5hz1EmTFjBm6++WZFnAeAgoKCblF+zZo1js6d8QdNLA+FgRyHBWvah97P2Nn2NoC2Z/LKQQ/oMfd2RbVe09SoFyo6IWpR5yL3oGcYxk3aWoFIpzLkqYPaLhY+jsQYKaW+vd0+PUKQc3eyxXX0ntupePvu/ZECe830xTApBHXQp0q8fRdi9FggNurdMiH37e5xe2mZkFVblTFj4lSXZtc/RGERBJmD+eF6yBNJWNbnm9XtR43hJM4UQWRmIXTj9xG69UcQZ86Ccc4FCP/oHhgV/rRUSAZhGAA9n9ICnxTCd4EeAMrLy7F06VIcOnQIHR0d2LNnDx577DGUlJRo20opbXsKLFiwoPu5nn5SgjrSI7NY/x0wDKMjsrIRmns5wov+PxhXfAtieIKRsuEMYPBQiIlTIU6bCWPmeTDOvQDijHMhJkyJVmn1RH0tzOeXIvLi7yDbWhM7PtNvutqk7N69G0uWLFGe62qTcuutt2ptUrpapQx0ZM1R5bHTiwUMwySOcdE8GOdcoA42N8F86TlIKrIxWL16NQBg3rx5MEj/u4KCAsyZMwctLS3YsGFDwsfIyIgm5IR7cDTU1dXh6aefxr/8y79gyZIlSR2L8QCbfr1COOvp1hb5E+nL6xR2grhXPegBiDz1WLKl92IZL9Cc7aGQI78TzU3a3BRtr8UwDOMGdikdXvagz8oGiDs0LlG7vU1rNSjy/Im4B6D/7pI9d9Oi+FJnhSxRTAV6m0h9hkkRUl6gz8yCGDlaGZO7tvewNSD37o4WWcXuw2eBHgCMM85VBw4fgPzkY8jGesgvSLz9KTO8mxiTNEIIGOMmIfzNaxG6Yj5EbxpHwBGDhyqP5dHDPWwZfDg7PWDIOvViih30DBMfIjsHoXPOB845H7KhHnLXdsjDByFrj0UXJ6WM9ukKhYHcXIiSQRClZUDpIIiSQUB+QZ8LtLKhHtbWzyG3fAh5YK/+/OdbEDm4H+HrF0AMTbGYmBSD26QkAa0uTLGbH4ZJZ4QQMC77JmRNtVJVL3dXwXpnFUIXfdXH2QWPrVujv6OeWppMnDgRK1euxLZt23DppZcmdIynn34aAHD55ZfbPr9lyxZ8//vfV8ZOP/10PPPMMzj11FN73Xd7ezva29u7Hzc0+CjkDhC0fr1uiBlOL/IngVYckJnlWMRuvwiig5462wuKonH8yWLnwm9qAPi+nmEYF9DSlfLyvW+TmV8AHD95HaMVwfWG3fnAZwd97EpBssV1VDAXJQ4XxdP+3CzQMylMqgv0ACAqJiiuebm75z708rO/qwNDR3ibgNIDYtLUqDs5psDIXPEykJkJdHbEbsnx9oxviMHDIHGyYIQFesYxJHHQs0DPMIkjCosgTj8LcPh6QRQWIXT2bODs2bD27YK16g3IPeSiq7YGkad/jdC134ExYYqzE2C66WqT8sADD2DFihV4/fXXMXz4cNx1111YvHixbRKLHV1tUmLpapPSRboJ9JqDviz1bn4YJp0RRgihq29B5DePKEKStW4ljMnTIIaN9G9yAaO+ProQXFRkH0/dNV5XV5fQ/n/9619jxYoVmDFjBhYuXKg9f8899+Dqq6/GpEmTkJ2djcrKSvziF7/Aiy++iEsuuQSbN2/GyJE9/3s9/PDDePDBBxOaG5MgVDxwoV8vFf397EGvxet76K4Eom5IRfAIgEAv6+uUx070nwcAZOcAGeoCpmyo4/t6hmHcgTroaYqHB4iCIiXKXcYTcU+3zcyCyMi039gL6Pmxsf/vxQ494t5hBz1H3DNpgox0AqTtbyqaSMTYCcA7f+t+LA/ug2xtgSCtpaQZgfXFFmXMmBYMsVsYIYQuuwrmH/775GBbq+72n3GWnhzFMB4hhgxTHsvq1BXoAxFxz0SRUuonI76RZ5hAY5SPRei7/4jQt26KLsjF0tEO8w//DevLT/2Z3ACB26Qkhl6dPNinmTAM0xMiJxehq28BYl2dloXIy3+ENE3/JjaAeOmll7Bo0SIMGzYMy5cv7466j+WRRx7B7NmzMWjQIOTn5+Oss87CCy+8gKuvvhrHjh3DL3/5y16Pcd9996G+vr77Z9++fW69HeYEVCx3ZXHJpge9X9cTVAARXrsTaXR8i/8CvVv33UIIveDDLoKaYRjGASRJA3Gs2CgeqKgdz3ceFej9jLeHs+1ppBkB6okJy+Ue9GhuhOxot9+YYYLM8WPRxNMYRFnqrVGJURXRxNYupNRi4QFA7tgKtLYoY8apZ7g8u/4jJk6Ntnntidw8hL76De8mxDAEMVgV6NHUCEk+U6kCC/RBorUFIBdSgsYVMQwTOIQQME6bifCP74UYNUZ90rJgvvg7WJUs0jPBQba3aVG77KBnmGBijB4L4/xL1MEjB2FtXOfPhAJIl0O+y0lP6RovLi6Oa78vv/wybrjhBgwZMgRr1qzBuHHj4nr9j3/8YwDAunW9/1tlZWWhsLBQ+WFcxqYHvdNoIkmkU1uI8wwqMHgt0FPBJQg96IlA76TDnRZ8UAGNYRjGKTwpOOuDZL7zAlFgEEsBOT8mk35TV6sJjnBYoNci7gG9AI1hUgB5lLRgLCyCyMr2ZzJJIDIyohHxMViffqxtZ336kfq68gq94MZHhBAIffPaHgtYQ1d8C4K2sGIYLykdBIRCylCquuhZoA8S9CJKGK7ELTIM4w6iqASh7/4jxPQZ6hOWBfPFZ2Ht3enLvBiGQt3zEML5xQKGYRzDuPCrAInwstasZNHnBJMnTwYAbNu2zfb57du3A+i5R70dL7zwAq699loMHToUa9eu7T5GPAweHHV9NDf7L0YyKnoPehfuuQqKoufXWIiTzit0B73HEfdkAS8QEfeaQN+/tkj9QnPQ+9jegGGY9IZeC/qxhki/P+MRiEm7ERQ5+F2cANr5sbMjWtyeADTeHrl5EDR1MUlERqZWdEf73jNMKiCrDymPU7H/fBfGqTOVx3JPFWTMPYCsrYH8QjVxiVPP9GRu8SAKixH+0T0QsX3mh49C6Mbvw5geHLc/MzARoRBAjGap2oeeBfoAQRcJUFgEYYTsN2YYJpCIcAZC374Zxszz1CfMCMw/PK31/WYYX6B/h8WlEOGw/bYMw/iOCIcRuvJ6ADFiX2cHzLde821OQWLu3LkAgJUrV8KyLOW5xsZGrF+/Hrm5uZg1a1a/9vfcc8/hxhtvxIgRI7B27VpMnDgxoXlt2LABAOJ23jMeQB1xbvSgD4U0Z770SaDXIoQ9d9DTiHt/i1aireXIv0Wxc64lUVisHs+vf3eGYdIeSRJh/HCg0wQSSb9fe0E2kAh48v3pOXaJOvQc2k/o2o9b7ljuQ8+kA5pAP2SETzNJHjFxqtYC1dq86eT/r18NyJh71oxMGKfM8Gh28SGycxC+5jsI33U/wnf/b2T8w90wJk3ze1oMAwAQQ4aqA+ygZ5JF1qjVlUGKNmEYpv8IYcD4+rchzjhXfaKtFZHnlyZcgc0wTqH3n0/d6mSGGSgYI0dDnKmeV+RnmyEPcr/y8ePHY968edi9ezeWLFmiPLd48WI0Nzfj1ltvRV6MSFhZWYnKykptX8uWLcN3vvMdjB49GuvWretTXP/kk0/Q2dlpO37//fcDAG655ZZE3hbjErK9TW8r5lIksCBOQEmdgh5Be+h63YNei8Bsa4U0TU/noNDarP8NOOig18UqdjMyDOMStN+7HxH3NAK5uRHS5trIFs1BX+zElBJGZGQCJFabthHoNzS1zq17brp2zA56JgWRR4hAP3S4TzNJHhEOQ0w9TRmz3lsN2dQAefwYrM0fKM8ZM8+DyCXFrAFDFJf6X0DFMAQxWP2eSFUHPdvlAoSsIYJJ2WCfZsIwTLIIYSD0jathNjdCbvvi5BNHj8B89U8IXXMrBI09ZRiP0M83LNAzTCoQuvQKRL7YArS1do+Zq/6K8K0/9nFWweDJJ5/E7Nmzceedd2LVqlWYOnUqNm7ciNWrV2PSpEl46KGHlO2nTo32BpQxvUFXr16NhQsXwrIszJ07F0uXLtWOU1xcjEWLFnU//tWvfoXXXnsNF1xwAcrLy5GVlYXKykqsWLECpmnihz/8IW688UZ33jSTGHatIVzoQQ8gGtW7b/fJx4Fx0Hsbca856AGgpckXIQmwcXcKw1lRiPYErj0OKSVf+zMM4yiysxNobVHGfOnhblfgVH8cGDRUHyfQwjVa2OYL+QVArKmCpBT0F6+K4kVxKWI73WvR+gwTcGRHu1ZYksoCPQCEzp6NyN83nhzoaEfkt09GC0Rji1RDIRizL/J+ggyTBlAHvTxyKCXvuVigDxI0cpgdjQyT0ggjhNDVtyDy9K+BIwe7x+UXWyC3TIWYcbaPs2MGMvIoXSzggjCGSQVEbj6MOZfAWvXX7jG5czusndtgjOt/f/V0ZPz48di0aRMeeOABrFixAq+//jqGDx+Ou+66C4sXL0ZJSd8Lvnv27OmOyH/66adttxkzZowi0M+fPx8NDQ345JNP8Pbbb6OtrQ1lZWW44oor8MMf/hBXXnmlI++PcQ5NnM3LjzrmXEAUFauL5j4I9NIygWY1Ut7rHvTIyYuK4LFxno0Nvgn0oPG/DreW05Lw2tuiIlrA3VEMw6QYdsKxDw5HkZkV/X6LaV8i62oh+hDoZaQTaFYLyITPDnoAEAWFSjx9og56eeyIut9+FCwkAjV30cIAhgk6ksZSCwMY7M7nxSvE8FEQp58FueVktL2m+wAwzjjXtSQvhkl3xFDSCqO1JVqMH4RivzhggT4gSCn16kp20DNMyiMysxC+fgEi//mYUt1uvvFniIrxehwcw7iMjEQA4qDHkGH+TIZhmLgxzj0f1gfvKD20rVWvQ4ydmHKVwk5TXl5u63q3I9Y538WCBQuwYMGCuI45f/58zJ8/P67XMP4iqUPHzWsxujjgR8R9cxMA8vde4HHEvWFEUwpi0gtkQz3EiHJP59F97DpVoBfU8Z4sRcWAYQDWyYIEWVsT+PhShmHiQ3Z2Qu7fDbS2RMXXwUM9vRaj32XIyoYg8exeIYpLIRWBvh990Gk8P+BLgYEGnUMCxXWyteXE+fckrjno6X7raiE7OyEyMlw5HsM4ToyhCQBQNhginPp/v6FLv47Il59qbZW6GTwUxle+7u2kGCadKC4FsnOUhEl56EAw0njigHvQB4WWZuWPCeCewAyTLoiSMoS+ea062NEO889/gIxZuGMYTzhWrSwYA4AYktrxYQwzkBAZmQhddJkyJg/ug/ziE59mxDApBnXQuyjQ6z3ofYi4p/H2wog62j2Gxi5Lu1YDXkGFI4f/BoQR0oszuCcww6QV1uYPEXnkZzB/9xuYL/wOkX//fzCffcrTeHF5nHyv0PQOL6Ex9/0Q6Gm8PbKyIbJznJtTgtDCvX4VGxA0F7thuPfvo60dS70gn2ECTDr1n49FFBQidNX1gF1KU3YOwtd/z7eiKoZJB4QQEMNGKmPy0H6fZpM4LNAHBNoPGCGbm3qGYVIWY+ppWqS93LsT1vtr/JkQM2CRtDq5uJRvChgmxRBnnA2QpCVz9Rtc9MUw/UDWE/e0Xe9ch9Cq95sao0k2HqJF8+blRx3tXkMdiT4K9JqD3oUiDRpzT5MbGIZJTaSUMFe8DPOVP6p9ygHIndsQeepRyMMHe3i1w9BEmFL/BHpRREXtfhSk0aK1AMTbA84I9CDx9igdBBFyrpVKLCIzS1s/lkeP9LA1wwQPWZ2eAj0AGNNOR/gf7oYYNSY6kJkFceoZCP/oHk5OZhgHEMOJQH/4gE8zSRwW6IPCMdKHpHSQPwsnDMO4Rujy+dqNk7X6TU+r7BkmXauTGWYgIYwQQpdcoQ7WHIX8kl30DNMntP94sYuChp3Y4LUwTR30BR73nz+B7qC3iTb2CBboGYZJFLn5Q1gb3+l5g/Y2RJ5fGo04d3sudbRlS2o76EUQ4u0BgLY9qT1u2xqpN7QWpi4npArSr5v70DOpgpSWVtSUbgmPYuhwhL9/J8L3Lkb4f/4fhL99C7c7ZRiH0B30LNAzCUId9KKM4+0ZJt0QWdkIfesmADF96cwIzDf+HPcNH8MkiqwmNz9DR/g0E4ZhkkFMPQ0gNyPmO3/j8wnD9IEuzrrooM/OAUhKjdcx97JJddCLfG/7z3ejOej9EeilZdkUabiwSGoj8DAMk9rImqMw3/hz3xvWHY867N2eD/1e8THiXned932uo61OgtIzVhPOOjuibUnjQBfoh/awpTPQAgBJHfwME1RqjmlpJGL4KJ8m4y4ivxAiFPZ7GgyTVmjfF431kM2N9hsHFBboA4KsUR30HHPCMOmJMWYcjHPPV8bkjkrIyk99mhEz0NAc9GlWncwwAwUhBEIXfEUdPHIIctsX/kyIYVIA2d4GEFej6w4WKjh43Ydei7j3R6CnzkjfetDX1wKm2mZAlA1y/DCiRN0nO+gZJvUxX38pKtbGEPrGNQj/0z9DjBytjMutn8Oq2uruhGjEPS0M8hDtXNrcCEl+VxoBjbhHYREg1OXyeGPuPXfQkw" id="351" name="Google Shape;351;p1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2" name="Google Shape;35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0375" y="1208725"/>
            <a:ext cx="5248652" cy="3187064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3"/>
          <p:cNvSpPr/>
          <p:nvPr/>
        </p:nvSpPr>
        <p:spPr>
          <a:xfrm>
            <a:off x="5822500" y="1308000"/>
            <a:ext cx="2962500" cy="3187200"/>
          </a:xfrm>
          <a:prstGeom prst="roundRect">
            <a:avLst>
              <a:gd fmla="val 16667" name="adj"/>
            </a:avLst>
          </a:prstGeom>
          <a:solidFill>
            <a:srgbClr val="449DA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id-ID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Melakukan </a:t>
            </a:r>
            <a:r>
              <a:rPr b="1" lang="id-ID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Standarisasi</a:t>
            </a:r>
            <a:r>
              <a:rPr lang="id-ID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dan </a:t>
            </a:r>
            <a:r>
              <a:rPr b="1" lang="id-ID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Normalisasi</a:t>
            </a:r>
            <a:r>
              <a:rPr lang="id-ID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id-ID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Tenure</a:t>
            </a:r>
            <a:r>
              <a:rPr lang="id-ID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dan </a:t>
            </a:r>
            <a:r>
              <a:rPr b="1" lang="id-ID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Warehouse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id-ID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distandarisasi untuk mendapatkan data dengan </a:t>
            </a:r>
            <a:r>
              <a:rPr b="1" lang="id-ID" sz="16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distribusi normal</a:t>
            </a:r>
            <a:endParaRPr b="1" sz="16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id-ID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Sedangkan untuk </a:t>
            </a:r>
            <a:r>
              <a:rPr b="1" lang="id-ID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CouponUsed</a:t>
            </a:r>
            <a:r>
              <a:rPr lang="id-ID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dan </a:t>
            </a:r>
            <a:r>
              <a:rPr b="1" lang="id-ID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OrderCount</a:t>
            </a:r>
            <a:r>
              <a:rPr lang="id-ID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kita </a:t>
            </a:r>
            <a:r>
              <a:rPr b="1" lang="id-ID" sz="16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re-scale</a:t>
            </a:r>
            <a:r>
              <a:rPr b="1" lang="id-ID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id-ID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ke [0,1] (normalisasi)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4"/>
          <p:cNvSpPr txBox="1"/>
          <p:nvPr>
            <p:ph type="title"/>
          </p:nvPr>
        </p:nvSpPr>
        <p:spPr>
          <a:xfrm>
            <a:off x="391725" y="140225"/>
            <a:ext cx="8393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Font typeface="Montserrat"/>
              <a:buNone/>
            </a:pPr>
            <a:r>
              <a:rPr lang="id-ID"/>
              <a:t>Pre-Processing</a:t>
            </a:r>
            <a:endParaRPr/>
          </a:p>
        </p:txBody>
      </p:sp>
      <p:sp>
        <p:nvSpPr>
          <p:cNvPr id="359" name="Google Shape;359;p14"/>
          <p:cNvSpPr/>
          <p:nvPr/>
        </p:nvSpPr>
        <p:spPr>
          <a:xfrm>
            <a:off x="481755" y="913657"/>
            <a:ext cx="1407900" cy="272700"/>
          </a:xfrm>
          <a:prstGeom prst="roundRect">
            <a:avLst>
              <a:gd fmla="val 16667" name="adj"/>
            </a:avLst>
          </a:prstGeom>
          <a:solidFill>
            <a:srgbClr val="449DA9"/>
          </a:solidFill>
          <a:ln>
            <a:noFill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-ID" sz="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FEATURE ENCODING</a:t>
            </a:r>
            <a:endParaRPr b="1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0" name="Google Shape;360;p14"/>
          <p:cNvSpPr txBox="1"/>
          <p:nvPr/>
        </p:nvSpPr>
        <p:spPr>
          <a:xfrm>
            <a:off x="391725" y="1186350"/>
            <a:ext cx="7992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d-ID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Didalam data ini </a:t>
            </a:r>
            <a:r>
              <a:rPr b="1" i="0" lang="id-ID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Gender</a:t>
            </a:r>
            <a:r>
              <a:rPr b="1" i="0" lang="id-ID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id-ID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kami lakukan </a:t>
            </a:r>
            <a:r>
              <a:rPr b="1" i="0" lang="id-ID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label encoding</a:t>
            </a:r>
            <a:r>
              <a:rPr b="0" i="0" lang="id-ID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sedangkan </a:t>
            </a:r>
            <a:r>
              <a:rPr b="1" i="0" lang="id-ID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MaritalStatus</a:t>
            </a:r>
            <a:r>
              <a:rPr b="0" i="0" lang="id-ID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id-ID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PreferredLoginDevice</a:t>
            </a:r>
            <a:r>
              <a:rPr b="0" i="0" lang="id-ID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id-ID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PreferedOrderCat</a:t>
            </a:r>
            <a:r>
              <a:rPr b="1" i="0" lang="id-ID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id-ID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dilakukan </a:t>
            </a:r>
            <a:r>
              <a:rPr b="1" i="0" lang="id-ID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Hot Encoding</a:t>
            </a:r>
            <a:r>
              <a:rPr b="1" i="0" lang="id-ID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481762" y="2378873"/>
            <a:ext cx="1710300" cy="272700"/>
          </a:xfrm>
          <a:prstGeom prst="roundRect">
            <a:avLst>
              <a:gd fmla="val 16667" name="adj"/>
            </a:avLst>
          </a:prstGeom>
          <a:solidFill>
            <a:srgbClr val="449DA9"/>
          </a:solidFill>
          <a:ln>
            <a:noFill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-ID" sz="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HANDLE CLASS IMBALANCE</a:t>
            </a:r>
            <a:endParaRPr b="1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2" name="Google Shape;362;p14"/>
          <p:cNvSpPr txBox="1"/>
          <p:nvPr/>
        </p:nvSpPr>
        <p:spPr>
          <a:xfrm>
            <a:off x="481750" y="2858888"/>
            <a:ext cx="32799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i="0" lang="id-ID" sz="12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Kami menggunakan teknik</a:t>
            </a:r>
            <a:r>
              <a:rPr lang="id-ID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b="1" lang="id-ID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SMOTE</a:t>
            </a:r>
            <a:r>
              <a:rPr i="0" lang="id-ID" sz="12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</a:t>
            </a:r>
            <a:r>
              <a:rPr i="0" lang="id-ID" sz="12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karena kelas churn merupakan minoritas dalam kumpulan data ecommerce.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17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550" y="1296538"/>
            <a:ext cx="5938776" cy="3672175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7"/>
          <p:cNvSpPr txBox="1"/>
          <p:nvPr>
            <p:ph type="title"/>
          </p:nvPr>
        </p:nvSpPr>
        <p:spPr>
          <a:xfrm>
            <a:off x="401250" y="140225"/>
            <a:ext cx="8393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Font typeface="Montserrat"/>
              <a:buNone/>
            </a:pPr>
            <a:r>
              <a:rPr lang="id-ID"/>
              <a:t>MODELLING</a:t>
            </a:r>
            <a:br>
              <a:rPr b="0" lang="id-ID"/>
            </a:br>
            <a:endParaRPr/>
          </a:p>
        </p:txBody>
      </p:sp>
      <p:sp>
        <p:nvSpPr>
          <p:cNvPr id="369" name="Google Shape;369;p17"/>
          <p:cNvSpPr/>
          <p:nvPr/>
        </p:nvSpPr>
        <p:spPr>
          <a:xfrm>
            <a:off x="519113" y="868429"/>
            <a:ext cx="1422188" cy="272627"/>
          </a:xfrm>
          <a:prstGeom prst="roundRect">
            <a:avLst>
              <a:gd fmla="val 16667" name="adj"/>
            </a:avLst>
          </a:prstGeom>
          <a:solidFill>
            <a:srgbClr val="449DA9"/>
          </a:solidFill>
          <a:ln>
            <a:noFill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id-ID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Split Test Data</a:t>
            </a:r>
            <a:endParaRPr b="1" i="0" sz="1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0" name="Google Shape;370;p17"/>
          <p:cNvSpPr txBox="1"/>
          <p:nvPr/>
        </p:nvSpPr>
        <p:spPr>
          <a:xfrm>
            <a:off x="5856425" y="2626075"/>
            <a:ext cx="3095400" cy="10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Split data model</a:t>
            </a:r>
            <a:endParaRPr sz="18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Train : 70%</a:t>
            </a:r>
            <a:endParaRPr sz="18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Test : 30%</a:t>
            </a:r>
            <a:endParaRPr sz="18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8"/>
          <p:cNvSpPr txBox="1"/>
          <p:nvPr>
            <p:ph type="title"/>
          </p:nvPr>
        </p:nvSpPr>
        <p:spPr>
          <a:xfrm>
            <a:off x="401250" y="140225"/>
            <a:ext cx="8393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Font typeface="Montserrat"/>
              <a:buNone/>
            </a:pPr>
            <a:r>
              <a:rPr lang="id-ID"/>
              <a:t>MODELLING</a:t>
            </a:r>
            <a:br>
              <a:rPr b="0" lang="id-ID"/>
            </a:br>
            <a:endParaRPr/>
          </a:p>
        </p:txBody>
      </p:sp>
      <p:graphicFrame>
        <p:nvGraphicFramePr>
          <p:cNvPr id="376" name="Google Shape;376;p18"/>
          <p:cNvGraphicFramePr/>
          <p:nvPr/>
        </p:nvGraphicFramePr>
        <p:xfrm>
          <a:off x="655200" y="860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{ECD88BF5-D4C9-4DB2-9CEC-7AD896469333}</a:tableStyleId>
              </a:tblPr>
              <a:tblGrid>
                <a:gridCol w="1017600"/>
                <a:gridCol w="1364775"/>
                <a:gridCol w="1366600"/>
                <a:gridCol w="1411000"/>
                <a:gridCol w="1436750"/>
                <a:gridCol w="1288450"/>
              </a:tblGrid>
              <a:tr h="246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id-ID" sz="11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Metrics</a:t>
                      </a:r>
                      <a:endParaRPr b="1" sz="11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9D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id-ID" sz="11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K-nearest Neighbor</a:t>
                      </a:r>
                      <a:endParaRPr b="1" sz="11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9D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id-ID" sz="11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AdaBoost</a:t>
                      </a:r>
                      <a:endParaRPr b="1" sz="11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9D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id-ID" sz="11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Decision Tree</a:t>
                      </a:r>
                      <a:endParaRPr b="1" sz="11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9D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id-ID" sz="11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Random Forest</a:t>
                      </a:r>
                      <a:endParaRPr b="1" sz="11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9D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id-ID" sz="16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XGBOOST</a:t>
                      </a:r>
                      <a:endParaRPr b="1" sz="16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9DA9"/>
                    </a:solidFill>
                  </a:tcPr>
                </a:tc>
              </a:tr>
              <a:tr h="54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id-ID" sz="11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Accuracy</a:t>
                      </a:r>
                      <a:endParaRPr b="1"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d-ID" sz="11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0.76</a:t>
                      </a:r>
                      <a:endParaRPr sz="11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d-ID" sz="11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0.88</a:t>
                      </a:r>
                      <a:endParaRPr sz="11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d-ID" sz="11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0.93</a:t>
                      </a:r>
                      <a:endParaRPr sz="11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d-ID" sz="11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0.96</a:t>
                      </a:r>
                      <a:endParaRPr sz="11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id-ID" sz="16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0.96</a:t>
                      </a:r>
                      <a:endParaRPr b="1" sz="16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9DA9"/>
                    </a:solidFill>
                  </a:tcPr>
                </a:tc>
              </a:tr>
              <a:tr h="669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id-ID" sz="11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Precision</a:t>
                      </a:r>
                      <a:endParaRPr b="1"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d-ID" sz="11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0.40</a:t>
                      </a:r>
                      <a:endParaRPr sz="11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d-ID" sz="11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0.61</a:t>
                      </a:r>
                      <a:endParaRPr sz="11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d-ID" sz="11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0.77</a:t>
                      </a:r>
                      <a:endParaRPr sz="11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d-ID" sz="11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0.88</a:t>
                      </a:r>
                      <a:endParaRPr sz="11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id-ID" sz="16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0.90</a:t>
                      </a:r>
                      <a:endParaRPr b="1" sz="16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9DA9"/>
                    </a:solidFill>
                  </a:tcPr>
                </a:tc>
              </a:tr>
              <a:tr h="676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id-ID" sz="11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Recall</a:t>
                      </a:r>
                      <a:endParaRPr b="1"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d-ID" sz="11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0.88</a:t>
                      </a:r>
                      <a:endParaRPr sz="11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d-ID" sz="11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0.82</a:t>
                      </a:r>
                      <a:endParaRPr sz="11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d-ID" sz="11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0.85</a:t>
                      </a:r>
                      <a:endParaRPr sz="11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d-ID" sz="11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0.85</a:t>
                      </a:r>
                      <a:endParaRPr sz="11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id-ID" sz="16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0.87</a:t>
                      </a:r>
                      <a:endParaRPr b="1" sz="16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9DA9"/>
                    </a:solidFill>
                  </a:tcPr>
                </a:tc>
              </a:tr>
              <a:tr h="573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id-ID" sz="11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F1-Score</a:t>
                      </a:r>
                      <a:endParaRPr b="1"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d-ID" sz="1100" u="none" cap="none" strike="noStrike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0.55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d-ID" sz="1100" u="none" cap="none" strike="noStrike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0.70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d-ID" sz="1100" u="none" cap="none" strike="noStrike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0.81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d-ID" sz="1100" u="none" cap="none" strike="noStrike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0.86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id-ID" sz="16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0.89</a:t>
                      </a:r>
                      <a:endParaRPr b="1" sz="16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9DA9"/>
                    </a:solidFill>
                  </a:tcPr>
                </a:tc>
              </a:tr>
              <a:tr h="625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id-ID" sz="11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ROC AUC</a:t>
                      </a:r>
                      <a:endParaRPr b="1"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d-ID" sz="1100" u="none" cap="none" strike="noStrike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0.81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d-ID" sz="1100" u="none" cap="none" strike="noStrike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0.86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d-ID" sz="1100" u="none" cap="none" strike="noStrike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0.90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d-ID" sz="1100" u="none" cap="none" strike="noStrike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0.91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id-ID" sz="16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0.93</a:t>
                      </a:r>
                      <a:endParaRPr b="1" sz="16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9DA9"/>
                    </a:solidFill>
                  </a:tcPr>
                </a:tc>
              </a:tr>
            </a:tbl>
          </a:graphicData>
        </a:graphic>
      </p:graphicFrame>
      <p:sp>
        <p:nvSpPr>
          <p:cNvPr id="377" name="Google Shape;377;p18"/>
          <p:cNvSpPr txBox="1"/>
          <p:nvPr/>
        </p:nvSpPr>
        <p:spPr>
          <a:xfrm>
            <a:off x="7139625" y="4541025"/>
            <a:ext cx="1542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id-ID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Best Model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0"/>
          <p:cNvSpPr txBox="1"/>
          <p:nvPr>
            <p:ph type="title"/>
          </p:nvPr>
        </p:nvSpPr>
        <p:spPr>
          <a:xfrm>
            <a:off x="401250" y="140225"/>
            <a:ext cx="8393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Font typeface="Montserrat"/>
              <a:buNone/>
            </a:pPr>
            <a:r>
              <a:rPr lang="id-ID"/>
              <a:t>MODELLING</a:t>
            </a:r>
            <a:br>
              <a:rPr b="0" lang="id-ID"/>
            </a:br>
            <a:endParaRPr/>
          </a:p>
        </p:txBody>
      </p:sp>
      <p:pic>
        <p:nvPicPr>
          <p:cNvPr id="383" name="Google Shape;38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2750" y="840550"/>
            <a:ext cx="6756349" cy="3884375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0"/>
          <p:cNvSpPr/>
          <p:nvPr/>
        </p:nvSpPr>
        <p:spPr>
          <a:xfrm>
            <a:off x="6005775" y="1346525"/>
            <a:ext cx="1741200" cy="996600"/>
          </a:xfrm>
          <a:prstGeom prst="roundRect">
            <a:avLst>
              <a:gd fmla="val 16667" name="adj"/>
            </a:avLst>
          </a:prstGeom>
          <a:solidFill>
            <a:srgbClr val="449D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-ID" sz="16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Tenure</a:t>
            </a:r>
            <a:r>
              <a:rPr lang="id-ID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adalah fitur paling penting</a:t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6184856d88_0_26"/>
          <p:cNvSpPr txBox="1"/>
          <p:nvPr>
            <p:ph type="title"/>
          </p:nvPr>
        </p:nvSpPr>
        <p:spPr>
          <a:xfrm>
            <a:off x="456375" y="0"/>
            <a:ext cx="8393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Font typeface="Montserrat"/>
              <a:buNone/>
            </a:pPr>
            <a:r>
              <a:rPr lang="id-ID">
                <a:extLst>
                  <a:ext uri="http://customooxmlschemas.google.com/">
                    <go:slidesCustomData xmlns:go="http://customooxmlschemas.google.com/" textRoundtripDataId="9"/>
                  </a:ext>
                </a:extLst>
              </a:rPr>
              <a:t>Conclusion dan Recommendation</a:t>
            </a:r>
            <a:endParaRPr/>
          </a:p>
        </p:txBody>
      </p:sp>
      <p:sp>
        <p:nvSpPr>
          <p:cNvPr id="390" name="Google Shape;390;g26184856d88_0_26"/>
          <p:cNvSpPr/>
          <p:nvPr/>
        </p:nvSpPr>
        <p:spPr>
          <a:xfrm>
            <a:off x="6962663" y="1125575"/>
            <a:ext cx="1605900" cy="2919900"/>
          </a:xfrm>
          <a:prstGeom prst="roundRect">
            <a:avLst>
              <a:gd fmla="val 16667" name="adj"/>
            </a:avLst>
          </a:prstGeom>
          <a:solidFill>
            <a:srgbClr val="449DA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26184856d88_0_26"/>
          <p:cNvSpPr/>
          <p:nvPr/>
        </p:nvSpPr>
        <p:spPr>
          <a:xfrm>
            <a:off x="4887525" y="1125575"/>
            <a:ext cx="1605900" cy="2919900"/>
          </a:xfrm>
          <a:prstGeom prst="roundRect">
            <a:avLst>
              <a:gd fmla="val 16667" name="adj"/>
            </a:avLst>
          </a:prstGeom>
          <a:solidFill>
            <a:srgbClr val="449DA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2" name="Google Shape;392;g26184856d88_0_26"/>
          <p:cNvGrpSpPr/>
          <p:nvPr/>
        </p:nvGrpSpPr>
        <p:grpSpPr>
          <a:xfrm>
            <a:off x="727500" y="1098025"/>
            <a:ext cx="1615688" cy="2919900"/>
            <a:chOff x="727500" y="1098025"/>
            <a:chExt cx="1615688" cy="2919900"/>
          </a:xfrm>
        </p:grpSpPr>
        <p:sp>
          <p:nvSpPr>
            <p:cNvPr id="393" name="Google Shape;393;g26184856d88_0_26"/>
            <p:cNvSpPr/>
            <p:nvPr/>
          </p:nvSpPr>
          <p:spPr>
            <a:xfrm>
              <a:off x="737288" y="1098025"/>
              <a:ext cx="1605900" cy="2919900"/>
            </a:xfrm>
            <a:prstGeom prst="roundRect">
              <a:avLst>
                <a:gd fmla="val 16667" name="adj"/>
              </a:avLst>
            </a:prstGeom>
            <a:solidFill>
              <a:srgbClr val="449D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just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394" name="Google Shape;394;g26184856d88_0_26"/>
            <p:cNvSpPr txBox="1"/>
            <p:nvPr/>
          </p:nvSpPr>
          <p:spPr>
            <a:xfrm>
              <a:off x="811650" y="1205350"/>
              <a:ext cx="1437600" cy="6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id-ID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Program Poin dan Game</a:t>
              </a:r>
              <a:endParaRPr b="1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95" name="Google Shape;395;g26184856d88_0_26"/>
            <p:cNvSpPr/>
            <p:nvPr/>
          </p:nvSpPr>
          <p:spPr>
            <a:xfrm>
              <a:off x="727500" y="1825450"/>
              <a:ext cx="1605900" cy="21924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d-ID" sz="11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Implementasikanfitur "Gaining Poin" atau game interaktif untuk pengumpulan koin yang dapat ditukar dengan voucher diskon atau keuntungan eksklusif. </a:t>
              </a:r>
              <a:endParaRPr sz="13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396" name="Google Shape;396;g26184856d88_0_26"/>
          <p:cNvGrpSpPr/>
          <p:nvPr/>
        </p:nvGrpSpPr>
        <p:grpSpPr>
          <a:xfrm>
            <a:off x="2807513" y="1098025"/>
            <a:ext cx="1615688" cy="2919900"/>
            <a:chOff x="727500" y="1098025"/>
            <a:chExt cx="1615688" cy="2919900"/>
          </a:xfrm>
        </p:grpSpPr>
        <p:sp>
          <p:nvSpPr>
            <p:cNvPr id="397" name="Google Shape;397;g26184856d88_0_26"/>
            <p:cNvSpPr/>
            <p:nvPr/>
          </p:nvSpPr>
          <p:spPr>
            <a:xfrm>
              <a:off x="737288" y="1098025"/>
              <a:ext cx="1605900" cy="2919900"/>
            </a:xfrm>
            <a:prstGeom prst="roundRect">
              <a:avLst>
                <a:gd fmla="val 16667" name="adj"/>
              </a:avLst>
            </a:prstGeom>
            <a:solidFill>
              <a:srgbClr val="449D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just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398" name="Google Shape;398;g26184856d88_0_26"/>
            <p:cNvSpPr txBox="1"/>
            <p:nvPr/>
          </p:nvSpPr>
          <p:spPr>
            <a:xfrm>
              <a:off x="811650" y="1205350"/>
              <a:ext cx="1437600" cy="6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-ID" sz="9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Penanganan Keluhan yang Cepat dan Efektif:</a:t>
              </a:r>
              <a:endParaRPr b="1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99" name="Google Shape;399;g26184856d88_0_26"/>
            <p:cNvSpPr/>
            <p:nvPr/>
          </p:nvSpPr>
          <p:spPr>
            <a:xfrm>
              <a:off x="727500" y="1825450"/>
              <a:ext cx="1605900" cy="21924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d-ID" sz="11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Perbaiki proses penanganan keluhan dan dorong resolusi yang cepat. </a:t>
              </a:r>
              <a:endParaRPr sz="17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0" rtl="0" algn="just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400" name="Google Shape;400;g26184856d88_0_26"/>
          <p:cNvGrpSpPr/>
          <p:nvPr/>
        </p:nvGrpSpPr>
        <p:grpSpPr>
          <a:xfrm>
            <a:off x="4885088" y="1125575"/>
            <a:ext cx="1615688" cy="2919900"/>
            <a:chOff x="727500" y="1098025"/>
            <a:chExt cx="1615688" cy="2919900"/>
          </a:xfrm>
        </p:grpSpPr>
        <p:sp>
          <p:nvSpPr>
            <p:cNvPr id="401" name="Google Shape;401;g26184856d88_0_26"/>
            <p:cNvSpPr/>
            <p:nvPr/>
          </p:nvSpPr>
          <p:spPr>
            <a:xfrm>
              <a:off x="737288" y="1098025"/>
              <a:ext cx="1605900" cy="2919900"/>
            </a:xfrm>
            <a:prstGeom prst="roundRect">
              <a:avLst>
                <a:gd fmla="val 16667" name="adj"/>
              </a:avLst>
            </a:prstGeom>
            <a:solidFill>
              <a:srgbClr val="449D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just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402" name="Google Shape;402;g26184856d88_0_26"/>
            <p:cNvSpPr txBox="1"/>
            <p:nvPr/>
          </p:nvSpPr>
          <p:spPr>
            <a:xfrm>
              <a:off x="811650" y="1205350"/>
              <a:ext cx="1437600" cy="6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-ID" sz="1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Pemberian Kupon Berdasarkan Jumlah Pesanan</a:t>
              </a:r>
              <a:endParaRPr b="1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03" name="Google Shape;403;g26184856d88_0_26"/>
            <p:cNvSpPr/>
            <p:nvPr/>
          </p:nvSpPr>
          <p:spPr>
            <a:xfrm>
              <a:off x="727500" y="1825450"/>
              <a:ext cx="1605900" cy="21924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d-ID" sz="11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Tetapkan tingkatan jumlah pesanan yang akan memenuhi syarat untuk menerima kupon tamban. </a:t>
              </a:r>
              <a:endParaRPr sz="17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0" rtl="0" algn="just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404" name="Google Shape;404;g26184856d88_0_26"/>
          <p:cNvGrpSpPr/>
          <p:nvPr/>
        </p:nvGrpSpPr>
        <p:grpSpPr>
          <a:xfrm>
            <a:off x="6962675" y="1125575"/>
            <a:ext cx="1615688" cy="2919900"/>
            <a:chOff x="727500" y="1098025"/>
            <a:chExt cx="1615688" cy="2919900"/>
          </a:xfrm>
        </p:grpSpPr>
        <p:sp>
          <p:nvSpPr>
            <p:cNvPr id="405" name="Google Shape;405;g26184856d88_0_26"/>
            <p:cNvSpPr/>
            <p:nvPr/>
          </p:nvSpPr>
          <p:spPr>
            <a:xfrm>
              <a:off x="737288" y="1098025"/>
              <a:ext cx="1605900" cy="2919900"/>
            </a:xfrm>
            <a:prstGeom prst="roundRect">
              <a:avLst>
                <a:gd fmla="val 16667" name="adj"/>
              </a:avLst>
            </a:prstGeom>
            <a:solidFill>
              <a:srgbClr val="449D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just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406" name="Google Shape;406;g26184856d88_0_26"/>
            <p:cNvSpPr txBox="1"/>
            <p:nvPr/>
          </p:nvSpPr>
          <p:spPr>
            <a:xfrm>
              <a:off x="811650" y="1205350"/>
              <a:ext cx="1437600" cy="6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-ID" sz="1100">
                  <a:solidFill>
                    <a:schemeClr val="lt1"/>
                  </a:solidFill>
                </a:rPr>
                <a:t>Kampanye "Women's Corner"</a:t>
              </a:r>
              <a:endParaRPr b="1" sz="17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07" name="Google Shape;407;g26184856d88_0_26"/>
            <p:cNvSpPr/>
            <p:nvPr/>
          </p:nvSpPr>
          <p:spPr>
            <a:xfrm>
              <a:off x="727500" y="1825450"/>
              <a:ext cx="1605900" cy="21924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d-ID" sz="95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Meluncurkan kampanye pemasaran khusus, seperti penekanan pada produk fashion, kecantikan, diskon atau promo eksklusif dan produk lain yang menarik bagi wanita. </a:t>
              </a:r>
              <a:endParaRPr sz="95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261971a6cc5_0_23"/>
          <p:cNvSpPr txBox="1"/>
          <p:nvPr>
            <p:ph type="title"/>
          </p:nvPr>
        </p:nvSpPr>
        <p:spPr>
          <a:xfrm>
            <a:off x="439350" y="111650"/>
            <a:ext cx="8393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Font typeface="Montserrat"/>
              <a:buNone/>
            </a:pPr>
            <a:r>
              <a:rPr lang="id-ID">
                <a:extLst>
                  <a:ext uri="http://customooxmlschemas.google.com/">
                    <go:slidesCustomData xmlns:go="http://customooxmlschemas.google.com/" textRoundtripDataId="10"/>
                  </a:ext>
                </a:extLst>
              </a:rPr>
              <a:t>Conclusion dan Recommendation</a:t>
            </a:r>
            <a:endParaRPr/>
          </a:p>
        </p:txBody>
      </p:sp>
      <p:graphicFrame>
        <p:nvGraphicFramePr>
          <p:cNvPr id="413" name="Google Shape;413;g261971a6cc5_0_23"/>
          <p:cNvGraphicFramePr/>
          <p:nvPr/>
        </p:nvGraphicFramePr>
        <p:xfrm>
          <a:off x="495375" y="68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{ECD88BF5-D4C9-4DB2-9CEC-7AD896469333}</a:tableStyleId>
              </a:tblPr>
              <a:tblGrid>
                <a:gridCol w="388400"/>
                <a:gridCol w="2792950"/>
                <a:gridCol w="972850"/>
                <a:gridCol w="1022625"/>
                <a:gridCol w="910675"/>
                <a:gridCol w="1122350"/>
                <a:gridCol w="1071200"/>
              </a:tblGrid>
              <a:tr h="33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chemeClr val="lt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d-ID" sz="900">
                          <a:solidFill>
                            <a:schemeClr val="lt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Items</a:t>
                      </a:r>
                      <a:endParaRPr sz="900" u="none" cap="none" strike="noStrike">
                        <a:solidFill>
                          <a:schemeClr val="lt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d-ID" sz="900">
                          <a:solidFill>
                            <a:schemeClr val="lt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Formula</a:t>
                      </a:r>
                      <a:endParaRPr sz="900" u="none" cap="none" strike="noStrike">
                        <a:solidFill>
                          <a:schemeClr val="lt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d-ID" sz="900">
                          <a:solidFill>
                            <a:schemeClr val="lt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Unit</a:t>
                      </a:r>
                      <a:endParaRPr sz="900" u="none" cap="none" strike="noStrike">
                        <a:solidFill>
                          <a:schemeClr val="lt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900">
                          <a:solidFill>
                            <a:schemeClr val="lt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Jumlah</a:t>
                      </a:r>
                      <a:endParaRPr sz="900">
                        <a:solidFill>
                          <a:schemeClr val="lt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900">
                          <a:solidFill>
                            <a:schemeClr val="lt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Converted Unit</a:t>
                      </a:r>
                      <a:endParaRPr sz="900">
                        <a:solidFill>
                          <a:schemeClr val="lt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900">
                          <a:solidFill>
                            <a:schemeClr val="lt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Jumlah</a:t>
                      </a:r>
                      <a:endParaRPr sz="900">
                        <a:solidFill>
                          <a:schemeClr val="lt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287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9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A</a:t>
                      </a:r>
                      <a:endParaRPr sz="90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d-ID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Perhitungan Cost: Revenue User baru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</a:tr>
              <a:tr h="412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1.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d-ID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Rata-Rata Biaya Akuisisi User Baru di </a:t>
                      </a:r>
                      <a:r>
                        <a:rPr lang="id-ID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E-Commerce</a:t>
                      </a:r>
                      <a:endParaRPr sz="9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id-ID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_</a:t>
                      </a:r>
                      <a:endParaRPr b="1" sz="1000" u="none" cap="none" strike="noStrik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d-ID" sz="10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USD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10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45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10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IDR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10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650,000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2.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d-ID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Pengeluaran Rata-rata User Baru (Revenue)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d-ID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_</a:t>
                      </a:r>
                      <a:endParaRPr b="1"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d-ID" sz="10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USD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152</a:t>
                      </a:r>
                      <a:endParaRPr b="1" sz="1000" u="none" cap="none" strike="noStrik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10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IDR</a:t>
                      </a:r>
                      <a:endParaRPr sz="1000" u="none" cap="none" strike="noStrik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2.128.000</a:t>
                      </a:r>
                      <a:endParaRPr sz="1000" u="none" cap="none" strike="noStrik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4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3.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d-ID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Cost: Revenue (Akusisi User Baru)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A1/A2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id-ID" sz="10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_</a:t>
                      </a:r>
                      <a:endParaRPr b="1" sz="1000" u="none" cap="none" strike="noStrik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d-ID" sz="10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_</a:t>
                      </a:r>
                      <a:endParaRPr b="1" sz="1000" u="none" cap="none" strike="noStrik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d-ID" sz="10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_</a:t>
                      </a:r>
                      <a:endParaRPr b="1" sz="1000" u="none" cap="none" strike="noStrik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10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 : 3.27</a:t>
                      </a:r>
                      <a:endParaRPr sz="1000" u="none" cap="none" strike="noStrik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B</a:t>
                      </a:r>
                      <a:endParaRPr sz="9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449DA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Perhitungan Cost: Revenu User Retensi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49DA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</a:tr>
              <a:tr h="364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10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1.</a:t>
                      </a:r>
                      <a:endParaRPr sz="10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Rata-rata Biaya Retensi User di E-Commerce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A1 x 0.2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id-ID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_</a:t>
                      </a:r>
                      <a:endParaRPr sz="1000" u="none" cap="none" strike="noStrik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-ID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20%CAC</a:t>
                      </a:r>
                      <a:endParaRPr sz="1000" u="none" cap="none" strike="noStrik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10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IDR</a:t>
                      </a:r>
                      <a:endParaRPr sz="1000" u="none" cap="none" strike="noStrik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10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130,000</a:t>
                      </a:r>
                      <a:endParaRPr sz="1000" u="none" cap="none" strike="noStrik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4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10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2.</a:t>
                      </a:r>
                      <a:endParaRPr sz="10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10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Pengeluaran Rata-rata User Bertahan (</a:t>
                      </a:r>
                      <a:r>
                        <a:rPr lang="id-ID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Revenue)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d-ID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_</a:t>
                      </a:r>
                      <a:endParaRPr b="1"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10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USD</a:t>
                      </a:r>
                      <a:endParaRPr sz="1000" u="none" cap="none" strike="noStrik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10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181</a:t>
                      </a:r>
                      <a:endParaRPr sz="1000" u="none" cap="none" strike="noStrik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10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IDR</a:t>
                      </a:r>
                      <a:endParaRPr sz="1000" u="none" cap="none" strike="noStrik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2.534.000</a:t>
                      </a:r>
                      <a:endParaRPr sz="1000" u="none" cap="none" strike="noStrik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64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10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3.</a:t>
                      </a:r>
                      <a:endParaRPr sz="10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10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Perbedaan User Bertahan dan User Baru </a:t>
                      </a:r>
                      <a:r>
                        <a:rPr lang="id-ID" sz="10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(</a:t>
                      </a:r>
                      <a:r>
                        <a:rPr lang="id-ID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Revenue)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B2 - A2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id-ID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_</a:t>
                      </a:r>
                      <a:endParaRPr sz="1000" u="none" cap="none" strike="noStrik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id-ID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_</a:t>
                      </a:r>
                      <a:endParaRPr sz="1000" u="none" cap="none" strike="noStrik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10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IDR</a:t>
                      </a:r>
                      <a:endParaRPr sz="1000" u="none" cap="none" strike="noStrik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10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406,000</a:t>
                      </a:r>
                      <a:endParaRPr sz="1000" u="none" cap="none" strike="noStrik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/>
                </a:tc>
              </a:tr>
              <a:tr h="364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10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4.</a:t>
                      </a:r>
                      <a:endParaRPr sz="10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10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Cost: Revenue (Retain User)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B1/B3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id-ID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_</a:t>
                      </a:r>
                      <a:endParaRPr sz="1000" u="none" cap="none" strike="noStrik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id-ID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_</a:t>
                      </a:r>
                      <a:endParaRPr sz="1000" u="none" cap="none" strike="noStrik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id-ID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_</a:t>
                      </a:r>
                      <a:endParaRPr sz="1000" u="none" cap="none" strike="noStrik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10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 : 3.12</a:t>
                      </a:r>
                      <a:endParaRPr sz="1000" u="none" cap="none" strike="noStrik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414" name="Google Shape;414;g261971a6cc5_0_23">
            <a:hlinkClick r:id="rId3"/>
          </p:cNvPr>
          <p:cNvSpPr txBox="1"/>
          <p:nvPr/>
        </p:nvSpPr>
        <p:spPr>
          <a:xfrm>
            <a:off x="495375" y="4705625"/>
            <a:ext cx="3898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id-ID"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Sumber : </a:t>
            </a:r>
            <a:r>
              <a:rPr lang="id-ID" sz="900" u="sng">
                <a:solidFill>
                  <a:schemeClr val="hlink"/>
                </a:solidFill>
                <a:latin typeface="Montserrat Medium"/>
                <a:ea typeface="Montserrat Medium"/>
                <a:cs typeface="Montserrat Medium"/>
                <a:sym typeface="Montserrat Medium"/>
                <a:hlinkClick r:id="rId4"/>
              </a:rPr>
              <a:t>customer-acquisition-ecommerce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261971a6cc5_1_14"/>
          <p:cNvSpPr txBox="1"/>
          <p:nvPr>
            <p:ph type="title"/>
          </p:nvPr>
        </p:nvSpPr>
        <p:spPr>
          <a:xfrm>
            <a:off x="439350" y="111650"/>
            <a:ext cx="8393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Font typeface="Montserrat"/>
              <a:buNone/>
            </a:pPr>
            <a:r>
              <a:rPr lang="id-ID">
                <a:extLst>
                  <a:ext uri="http://customooxmlschemas.google.com/">
                    <go:slidesCustomData xmlns:go="http://customooxmlschemas.google.com/" textRoundtripDataId="11"/>
                  </a:ext>
                </a:extLst>
              </a:rPr>
              <a:t>Conclusion dan Recommendation</a:t>
            </a:r>
            <a:endParaRPr/>
          </a:p>
        </p:txBody>
      </p:sp>
      <p:sp>
        <p:nvSpPr>
          <p:cNvPr id="420" name="Google Shape;420;g261971a6cc5_1_14"/>
          <p:cNvSpPr/>
          <p:nvPr/>
        </p:nvSpPr>
        <p:spPr>
          <a:xfrm>
            <a:off x="2362850" y="1159775"/>
            <a:ext cx="1363200" cy="994500"/>
          </a:xfrm>
          <a:prstGeom prst="roundRect">
            <a:avLst>
              <a:gd fmla="val 16667" name="adj"/>
            </a:avLst>
          </a:prstGeom>
          <a:solidFill>
            <a:srgbClr val="449D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id-ID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TP : 1294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id-ID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TN : 219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id-ID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FP : 45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id-ID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FN : 47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1" name="Google Shape;421;g261971a6cc5_1_14"/>
          <p:cNvSpPr/>
          <p:nvPr/>
        </p:nvSpPr>
        <p:spPr>
          <a:xfrm>
            <a:off x="5487450" y="970725"/>
            <a:ext cx="3345000" cy="2523600"/>
          </a:xfrm>
          <a:prstGeom prst="roundRect">
            <a:avLst>
              <a:gd fmla="val 16667" name="adj"/>
            </a:avLst>
          </a:prstGeom>
          <a:solidFill>
            <a:srgbClr val="449DA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-ID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TP	: Diprediksi melakukan churn dan melakukan churn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-ID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TN 	: Diprediksi tidak melakukan churn dan tidak melakukan churn.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-ID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FP	: Diprediksi customer Churn dan sebenarnya tidak churn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-ID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FN	: Diprediksi tidak churn dan melakukan churn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22" name="Google Shape;422;g261971a6cc5_1_14"/>
          <p:cNvSpPr txBox="1"/>
          <p:nvPr/>
        </p:nvSpPr>
        <p:spPr>
          <a:xfrm>
            <a:off x="793550" y="1002875"/>
            <a:ext cx="1569300" cy="115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Confusion Matrix</a:t>
            </a:r>
            <a:endParaRPr sz="18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23" name="Google Shape;423;g261971a6cc5_1_14"/>
          <p:cNvSpPr/>
          <p:nvPr/>
        </p:nvSpPr>
        <p:spPr>
          <a:xfrm>
            <a:off x="869700" y="3227325"/>
            <a:ext cx="2408100" cy="1151400"/>
          </a:xfrm>
          <a:prstGeom prst="roundRect">
            <a:avLst>
              <a:gd fmla="val 16667" name="adj"/>
            </a:avLst>
          </a:prstGeom>
          <a:solidFill>
            <a:srgbClr val="449D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d-ID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TP	: True Positive</a:t>
            </a:r>
            <a:endParaRPr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d-ID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TN	: True Negative</a:t>
            </a:r>
            <a:endParaRPr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d-ID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FP	: False Positive</a:t>
            </a:r>
            <a:endParaRPr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d-ID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FN	: False Negative</a:t>
            </a:r>
            <a:endParaRPr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24" name="Google Shape;424;g261971a6cc5_1_14"/>
          <p:cNvSpPr txBox="1"/>
          <p:nvPr/>
        </p:nvSpPr>
        <p:spPr>
          <a:xfrm>
            <a:off x="885050" y="2887125"/>
            <a:ext cx="9423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Notes:</a:t>
            </a:r>
            <a:endParaRPr sz="15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9c06aa4bf2_0_3"/>
          <p:cNvSpPr txBox="1"/>
          <p:nvPr>
            <p:ph type="title"/>
          </p:nvPr>
        </p:nvSpPr>
        <p:spPr>
          <a:xfrm>
            <a:off x="439350" y="111650"/>
            <a:ext cx="8393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Font typeface="Montserrat"/>
              <a:buNone/>
            </a:pPr>
            <a:r>
              <a:rPr lang="id-ID">
                <a:extLst>
                  <a:ext uri="http://customooxmlschemas.google.com/">
                    <go:slidesCustomData xmlns:go="http://customooxmlschemas.google.com/" textRoundtripDataId="12"/>
                  </a:ext>
                </a:extLst>
              </a:rPr>
              <a:t>Conclusion dan Recommendation</a:t>
            </a:r>
            <a:endParaRPr/>
          </a:p>
        </p:txBody>
      </p:sp>
      <p:grpSp>
        <p:nvGrpSpPr>
          <p:cNvPr id="430" name="Google Shape;430;g29c06aa4bf2_0_3"/>
          <p:cNvGrpSpPr/>
          <p:nvPr/>
        </p:nvGrpSpPr>
        <p:grpSpPr>
          <a:xfrm>
            <a:off x="727424" y="1098029"/>
            <a:ext cx="1774348" cy="3402559"/>
            <a:chOff x="727500" y="1098025"/>
            <a:chExt cx="1615688" cy="2919900"/>
          </a:xfrm>
        </p:grpSpPr>
        <p:sp>
          <p:nvSpPr>
            <p:cNvPr id="431" name="Google Shape;431;g29c06aa4bf2_0_3"/>
            <p:cNvSpPr/>
            <p:nvPr/>
          </p:nvSpPr>
          <p:spPr>
            <a:xfrm>
              <a:off x="737288" y="1098025"/>
              <a:ext cx="1605900" cy="2919900"/>
            </a:xfrm>
            <a:prstGeom prst="roundRect">
              <a:avLst>
                <a:gd fmla="val 16667" name="adj"/>
              </a:avLst>
            </a:prstGeom>
            <a:solidFill>
              <a:srgbClr val="449D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just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432" name="Google Shape;432;g29c06aa4bf2_0_3"/>
            <p:cNvSpPr txBox="1"/>
            <p:nvPr/>
          </p:nvSpPr>
          <p:spPr>
            <a:xfrm>
              <a:off x="811650" y="1205350"/>
              <a:ext cx="1437600" cy="6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id-ID" sz="13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</a:t>
              </a:r>
              <a:r>
                <a:rPr b="1" lang="id-ID" sz="13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tudi Kasus</a:t>
              </a:r>
              <a:endParaRPr b="1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33" name="Google Shape;433;g29c06aa4bf2_0_3"/>
            <p:cNvSpPr/>
            <p:nvPr/>
          </p:nvSpPr>
          <p:spPr>
            <a:xfrm>
              <a:off x="727500" y="1825450"/>
              <a:ext cx="1605900" cy="21924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d-ID" sz="13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Dari total User (1605) kita menebak User Churn sebanyak 219 ( dari seharusnya 266)</a:t>
              </a:r>
              <a:endParaRPr sz="13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434" name="Google Shape;434;g29c06aa4bf2_0_3"/>
          <p:cNvGrpSpPr/>
          <p:nvPr/>
        </p:nvGrpSpPr>
        <p:grpSpPr>
          <a:xfrm>
            <a:off x="2797649" y="1098028"/>
            <a:ext cx="1982449" cy="3402559"/>
            <a:chOff x="727500" y="1098025"/>
            <a:chExt cx="1615688" cy="2919900"/>
          </a:xfrm>
        </p:grpSpPr>
        <p:sp>
          <p:nvSpPr>
            <p:cNvPr id="435" name="Google Shape;435;g29c06aa4bf2_0_3"/>
            <p:cNvSpPr/>
            <p:nvPr/>
          </p:nvSpPr>
          <p:spPr>
            <a:xfrm>
              <a:off x="737288" y="1098025"/>
              <a:ext cx="1605900" cy="2919900"/>
            </a:xfrm>
            <a:prstGeom prst="roundRect">
              <a:avLst>
                <a:gd fmla="val 16667" name="adj"/>
              </a:avLst>
            </a:prstGeom>
            <a:solidFill>
              <a:srgbClr val="449D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just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436" name="Google Shape;436;g29c06aa4bf2_0_3"/>
            <p:cNvSpPr txBox="1"/>
            <p:nvPr/>
          </p:nvSpPr>
          <p:spPr>
            <a:xfrm>
              <a:off x="811650" y="1205350"/>
              <a:ext cx="1437600" cy="6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id-ID" sz="13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Retensi User</a:t>
              </a:r>
              <a:endParaRPr b="1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37" name="Google Shape;437;g29c06aa4bf2_0_3"/>
            <p:cNvSpPr/>
            <p:nvPr/>
          </p:nvSpPr>
          <p:spPr>
            <a:xfrm>
              <a:off x="727500" y="1825450"/>
              <a:ext cx="1605900" cy="21924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d-ID" sz="13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Asumsi keberhasilan </a:t>
              </a:r>
              <a:r>
                <a:rPr lang="id-ID" sz="13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50% </a:t>
              </a:r>
              <a:r>
                <a:rPr lang="id-ID" sz="13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dalam mempertahankan pelanggan (109 User)</a:t>
              </a:r>
              <a:endParaRPr sz="13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438" name="Google Shape;438;g29c06aa4bf2_0_3"/>
          <p:cNvGrpSpPr/>
          <p:nvPr/>
        </p:nvGrpSpPr>
        <p:grpSpPr>
          <a:xfrm>
            <a:off x="5143350" y="1098037"/>
            <a:ext cx="3689099" cy="1698798"/>
            <a:chOff x="727500" y="1098025"/>
            <a:chExt cx="1615688" cy="2919900"/>
          </a:xfrm>
        </p:grpSpPr>
        <p:sp>
          <p:nvSpPr>
            <p:cNvPr id="439" name="Google Shape;439;g29c06aa4bf2_0_3"/>
            <p:cNvSpPr/>
            <p:nvPr/>
          </p:nvSpPr>
          <p:spPr>
            <a:xfrm>
              <a:off x="737288" y="1098025"/>
              <a:ext cx="1605900" cy="2919900"/>
            </a:xfrm>
            <a:prstGeom prst="roundRect">
              <a:avLst>
                <a:gd fmla="val 16667" name="adj"/>
              </a:avLst>
            </a:prstGeom>
            <a:solidFill>
              <a:srgbClr val="449D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just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440" name="Google Shape;440;g29c06aa4bf2_0_3"/>
            <p:cNvSpPr txBox="1"/>
            <p:nvPr/>
          </p:nvSpPr>
          <p:spPr>
            <a:xfrm>
              <a:off x="811650" y="1205350"/>
              <a:ext cx="1437600" cy="6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id-ID" sz="13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Diketahui</a:t>
              </a:r>
              <a:endParaRPr b="1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41" name="Google Shape;441;g29c06aa4bf2_0_3"/>
            <p:cNvSpPr/>
            <p:nvPr/>
          </p:nvSpPr>
          <p:spPr>
            <a:xfrm>
              <a:off x="727500" y="1825450"/>
              <a:ext cx="1605900" cy="21924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d-ID" sz="13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Biaya Retensi 			: </a:t>
              </a:r>
              <a:r>
                <a:rPr lang="id-ID" sz="13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130,000</a:t>
              </a:r>
              <a:endParaRPr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d-ID" sz="13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Total Belanja User Retensi 	: </a:t>
              </a:r>
              <a:r>
                <a:rPr lang="id-ID" sz="13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2.534.000</a:t>
              </a:r>
              <a:endParaRPr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d-ID" sz="13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Total Belanja User Baru	: </a:t>
              </a:r>
              <a:r>
                <a:rPr lang="id-ID" sz="13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2.128.000</a:t>
              </a:r>
              <a:endParaRPr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d-ID" sz="13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Pendapatan Dari Retensi	: </a:t>
              </a:r>
              <a:r>
                <a:rPr lang="id-ID" sz="1300">
                  <a:solidFill>
                    <a:schemeClr val="dk1"/>
                  </a:solidFill>
                  <a:highlight>
                    <a:schemeClr val="lt1"/>
                  </a:highlight>
                  <a:latin typeface="Montserrat Medium"/>
                  <a:ea typeface="Montserrat Medium"/>
                  <a:cs typeface="Montserrat Medium"/>
                  <a:sym typeface="Montserrat Medium"/>
                </a:rPr>
                <a:t>406,000</a:t>
              </a:r>
              <a:endParaRPr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442" name="Google Shape;442;g29c06aa4bf2_0_3"/>
          <p:cNvGrpSpPr/>
          <p:nvPr/>
        </p:nvGrpSpPr>
        <p:grpSpPr>
          <a:xfrm>
            <a:off x="5143350" y="3053462"/>
            <a:ext cx="3689099" cy="1832099"/>
            <a:chOff x="727500" y="1098025"/>
            <a:chExt cx="1615687" cy="3149019"/>
          </a:xfrm>
        </p:grpSpPr>
        <p:sp>
          <p:nvSpPr>
            <p:cNvPr id="443" name="Google Shape;443;g29c06aa4bf2_0_3"/>
            <p:cNvSpPr/>
            <p:nvPr/>
          </p:nvSpPr>
          <p:spPr>
            <a:xfrm>
              <a:off x="737288" y="1098025"/>
              <a:ext cx="1605900" cy="2919900"/>
            </a:xfrm>
            <a:prstGeom prst="roundRect">
              <a:avLst>
                <a:gd fmla="val 16667" name="adj"/>
              </a:avLst>
            </a:prstGeom>
            <a:solidFill>
              <a:srgbClr val="449D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just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444" name="Google Shape;444;g29c06aa4bf2_0_3"/>
            <p:cNvSpPr txBox="1"/>
            <p:nvPr/>
          </p:nvSpPr>
          <p:spPr>
            <a:xfrm>
              <a:off x="811650" y="1205350"/>
              <a:ext cx="1437600" cy="6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id-ID" sz="13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Laba dan Churn</a:t>
              </a:r>
              <a:endParaRPr b="1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45" name="Google Shape;445;g29c06aa4bf2_0_3"/>
            <p:cNvSpPr/>
            <p:nvPr/>
          </p:nvSpPr>
          <p:spPr>
            <a:xfrm>
              <a:off x="727500" y="1825444"/>
              <a:ext cx="1605900" cy="2421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d-ID" sz="13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Laba Retensi User :</a:t>
              </a:r>
              <a:endParaRPr sz="13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d-ID" sz="13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126.672.000 - 40.560.000 = 86.112.000</a:t>
              </a:r>
              <a:endParaRPr sz="13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3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d-ID" sz="13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Churn :</a:t>
              </a:r>
              <a:endParaRPr sz="13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d-ID" sz="1300" u="sng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(948-109) </a:t>
              </a:r>
              <a:endParaRPr sz="1300" u="sng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3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sp>
        <p:nvSpPr>
          <p:cNvPr id="446" name="Google Shape;446;g29c06aa4bf2_0_3"/>
          <p:cNvSpPr txBox="1"/>
          <p:nvPr/>
        </p:nvSpPr>
        <p:spPr>
          <a:xfrm>
            <a:off x="5353150" y="4584450"/>
            <a:ext cx="712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-ID" sz="13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5630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447" name="Google Shape;447;g29c06aa4bf2_0_3"/>
          <p:cNvSpPr txBox="1"/>
          <p:nvPr/>
        </p:nvSpPr>
        <p:spPr>
          <a:xfrm>
            <a:off x="6149850" y="4416700"/>
            <a:ext cx="335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300">
                <a:solidFill>
                  <a:schemeClr val="dk1"/>
                </a:solidFill>
              </a:rPr>
              <a:t>=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48" name="Google Shape;448;g29c06aa4bf2_0_3"/>
          <p:cNvSpPr txBox="1"/>
          <p:nvPr/>
        </p:nvSpPr>
        <p:spPr>
          <a:xfrm>
            <a:off x="6374650" y="4339750"/>
            <a:ext cx="894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-ID" sz="2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14%</a:t>
            </a:r>
            <a:endParaRPr b="1" sz="2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29c06aa4bf2_9_15"/>
          <p:cNvSpPr txBox="1"/>
          <p:nvPr>
            <p:ph type="title"/>
          </p:nvPr>
        </p:nvSpPr>
        <p:spPr>
          <a:xfrm>
            <a:off x="598500" y="1999050"/>
            <a:ext cx="8393100" cy="12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</a:pPr>
            <a:r>
              <a:rPr lang="id-ID" sz="5000"/>
              <a:t>Thank You</a:t>
            </a:r>
            <a:endParaRPr sz="5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id-ID" sz="5100">
                <a:latin typeface="Arial"/>
                <a:ea typeface="Arial"/>
                <a:cs typeface="Arial"/>
                <a:sym typeface="Arial"/>
              </a:rPr>
              <a:t>🙏🏻</a:t>
            </a:r>
            <a:endParaRPr sz="5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</cp:coreProperties>
</file>